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23.xml" ContentType="application/vnd.openxmlformats-officedocument.presentationml.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s/slide20.xml" ContentType="application/vnd.openxmlformats-officedocument.presentationml.slide+xml"/>
  <Override PartName="/ppt/slideLayouts/slideLayout3.xml" ContentType="application/vnd.openxmlformats-officedocument.presentationml.slideLayout+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theme/theme3.xml" ContentType="application/vnd.openxmlformats-officedocument.theme+xml"/>
  <Override PartName="/ppt/theme/theme1.xml" ContentType="application/vnd.openxmlformats-officedocument.theme+xml"/>
  <Override PartName="/ppt/slideLayouts/slideLayout9.xml" ContentType="application/vnd.openxmlformats-officedocument.presentationml.slideLayout+xml"/>
  <Override PartName="/ppt/slides/slide3.xml" ContentType="application/vnd.openxmlformats-officedocument.presentationml.slide+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s/slide12.xml" ContentType="application/vnd.openxmlformats-officedocument.presentationml.slide+xml"/>
  <Override PartName="/customXml/itemProps2.xml" ContentType="application/vnd.openxmlformats-officedocument.customXmlProperties+xml"/>
  <Override PartName="/ppt/viewProps.xml" ContentType="application/vnd.openxmlformats-officedocument.presentationml.viewProps+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ppt/notesSlides/notesSlide19.xml" ContentType="application/vnd.openxmlformats-officedocument.presentationml.notesSlide+xml"/>
  <Override PartName="/customXml/itemProps3.xml" ContentType="application/vnd.openxmlformats-officedocument.customXmlProperties+xml"/>
  <Override PartName="/ppt/notesSlides/notesSlide11.xml" ContentType="application/vnd.openxmlformats-officedocument.presentationml.notesSlide+xml"/>
  <Override PartName="/ppt/slides/slide10.xml" ContentType="application/vnd.openxmlformats-officedocument.presentationml.slide+xml"/>
  <Override PartName="/docProps/app.xml" ContentType="application/vnd.openxmlformats-officedocument.extended-properties+xml"/>
  <Override PartName="/ppt/notesSlides/notesSlide4.xml" ContentType="application/vnd.openxmlformats-officedocument.presentationml.notesSlide+xml"/>
  <Override PartName="/ppt/tableStyles.xml" ContentType="application/vnd.openxmlformats-officedocument.presentationml.tableStyles+xml"/>
  <Override PartName="/ppt/slideLayouts/slideLayout8.xml" ContentType="application/vnd.openxmlformats-officedocument.presentationml.slideLayout+xml"/>
  <Override PartName="/docProps/custom.xml" ContentType="application/vnd.openxmlformats-officedocument.custom-properties+xml"/>
  <Override PartName="/ppt/slides/slide17.xml" ContentType="application/vnd.openxmlformats-officedocument.presentationml.slide+xml"/>
  <Override PartName="/customXml/itemProps1.xml" ContentType="application/vnd.openxmlformats-officedocument.customXmlProperties+xml"/>
  <Override PartName="/ppt/notesSlides/notesSlide6.xml" ContentType="application/vnd.openxmlformats-officedocument.presentationml.notesSlide+xml"/>
  <Override PartName="/ppt/slides/slide4.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ppt/slides/slide7.xml" ContentType="application/vnd.openxmlformats-officedocument.presentationml.slide+xml"/>
  <Override PartName="/ppt/slideLayouts/slideLayout6.xml" ContentType="application/vnd.openxmlformats-officedocument.presentationml.slideLayout+xml"/>
  <Override PartName="/ppt/theme/theme2.xml" ContentType="application/vnd.openxmlformats-officedocument.theme+xml"/>
  <Override PartName="/ppt/slides/slide13.xml" ContentType="application/vnd.openxmlformats-officedocument.presentationml.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slides/slide6.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handoutMasters/handoutMaster1.xml" ContentType="application/vnd.openxmlformats-officedocument.presentationml.handoutMaster+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strictFirstAndLastChars="0">
  <p:sldMasterIdLst>
    <p:sldMasterId id="2147483648" r:id="rId4"/>
  </p:sldMasterIdLst>
  <p:notesMasterIdLst>
    <p:notesMasterId r:id="rId31"/>
  </p:notesMasterIdLst>
  <p:handoutMasterIdLst>
    <p:handoutMasterId r:id="rId32"/>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7560000" cy="10692000"/>
  <p:notesSz cx="6858000" cy="9144000"/>
  <p:custDataLst>
    <p:custData r:id="rId1"/>
    <p:custData r:id="rId2"/>
    <p:custData r:id="rId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0FD3A268-A886-4377-BA4E-BC3C4DBF7F95}">
  <a:tblStyle styleId="{0FD3A268-A886-4377-BA4E-BC3C4DBF7F95}" styleName="Table_0">
    <a:wholeTbl>
      <a:tcTxStyle>
        <a:srgbClr val="000000"/>
      </a:tcTxStyle>
      <a:tcStyle>
        <a:tcBdr>
          <a:left>
            <a:ln w="12700">
              <a:noFill/>
            </a:ln>
          </a:left>
          <a:right>
            <a:ln w="12700">
              <a:noFill/>
            </a:ln>
          </a:right>
          <a:top>
            <a:ln w="12700">
              <a:noFill/>
            </a:ln>
          </a:top>
          <a:bottom>
            <a:ln w="12700">
              <a:noFill/>
            </a:ln>
          </a:bottom>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4EF08538-9979-4E1A-95A5-08F3DC32C289}" styleName="Table_1">
    <a:wholeTbl>
      <a:tcTxStyle>
        <a:srgbClr val="000000"/>
      </a:tcTxStyle>
      <a:tcStyle>
        <a:tcBdr>
          <a:left>
            <a:ln w="9525">
              <a:solidFill>
                <a:srgbClr val="9E9E9E"/>
              </a:solidFill>
            </a:ln>
          </a:left>
          <a:right>
            <a:ln w="9525">
              <a:solidFill>
                <a:srgbClr val="9E9E9E"/>
              </a:solidFill>
            </a:ln>
          </a:right>
          <a:top>
            <a:ln w="9525">
              <a:solidFill>
                <a:srgbClr val="9E9E9E"/>
              </a:solidFill>
            </a:ln>
          </a:top>
          <a:bottom>
            <a:ln w="9525">
              <a:solidFill>
                <a:srgbClr val="9E9E9E"/>
              </a:solidFill>
            </a:ln>
          </a:bottom>
          <a:insideH>
            <a:ln w="9525">
              <a:solidFill>
                <a:srgbClr val="9E9E9E"/>
              </a:solidFill>
            </a:ln>
          </a:insideH>
          <a:insideV>
            <a:ln w="9525">
              <a:solidFill>
                <a:srgbClr val="9E9E9E"/>
              </a:solidFill>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theme" Target="theme/them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 /><Relationship Id="rId34" Type="http://schemas.openxmlformats.org/officeDocument/2006/relationships/tableStyles" Target="tableStyles.xml" /><Relationship Id="rId35"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13706916" name="Header Placeholder 1"/>
          <p:cNvSpPr>
            <a:spLocks noGrp="1"/>
          </p:cNvSpPr>
          <p:nvPr>
            <p:ph type="hdr" sz="quarter"/>
          </p:nvPr>
        </p:nvSpPr>
        <p:spPr bwMode="auto">
          <a:xfrm>
            <a:off x="0" y="0"/>
            <a:ext cx="2971800" cy="458786"/>
          </a:xfrm>
          <a:prstGeom prst="rect">
            <a:avLst/>
          </a:prstGeom>
        </p:spPr>
        <p:txBody>
          <a:bodyPr vert="horz" lIns="91440" tIns="45720" rIns="91440" bIns="45720" anchor="t"/>
          <a:lstStyle>
            <a:lvl1pPr algn="l">
              <a:defRPr sz="1200"/>
            </a:lvl1pPr>
          </a:lstStyle>
          <a:p>
            <a:pPr>
              <a:defRPr/>
            </a:pPr>
            <a:endParaRPr/>
          </a:p>
        </p:txBody>
      </p:sp>
      <p:sp>
        <p:nvSpPr>
          <p:cNvPr id="190591193" name="Date Placeholder 2"/>
          <p:cNvSpPr>
            <a:spLocks noGrp="1"/>
          </p:cNvSpPr>
          <p:nvPr>
            <p:ph type="dt" idx="3"/>
          </p:nvPr>
        </p:nvSpPr>
        <p:spPr bwMode="auto">
          <a:xfrm>
            <a:off x="3886200" y="0"/>
            <a:ext cx="2971800" cy="458786"/>
          </a:xfrm>
          <a:prstGeom prst="rect">
            <a:avLst/>
          </a:prstGeom>
        </p:spPr>
        <p:txBody>
          <a:bodyPr vert="horz" lIns="91440" tIns="45720" rIns="91440" bIns="45720" anchor="t"/>
          <a:lstStyle>
            <a:lvl1pPr algn="r">
              <a:defRPr sz="1200"/>
            </a:lvl1pPr>
          </a:lstStyle>
          <a:p>
            <a:pPr>
              <a:defRPr/>
            </a:pPr>
            <a:fld id="{73625EE8-1387-86D0-F5BD-E168D908C6F2}" type="datetimeFigureOut">
              <a:rPr lang="en-US"/>
              <a:t/>
            </a:fld>
            <a:endParaRPr/>
          </a:p>
        </p:txBody>
      </p:sp>
      <p:sp>
        <p:nvSpPr>
          <p:cNvPr id="1829017061" name="Footer Placeholder 3"/>
          <p:cNvSpPr>
            <a:spLocks noGrp="1"/>
          </p:cNvSpPr>
          <p:nvPr>
            <p:ph type="ftr" sz="quarter" idx="2"/>
          </p:nvPr>
        </p:nvSpPr>
        <p:spPr bwMode="auto">
          <a:xfrm>
            <a:off x="0" y="8685213"/>
            <a:ext cx="2971800" cy="458786"/>
          </a:xfrm>
          <a:prstGeom prst="rect">
            <a:avLst/>
          </a:prstGeom>
        </p:spPr>
        <p:txBody>
          <a:bodyPr vert="horz" lIns="91440" tIns="45720" rIns="91440" bIns="45720" anchor="b"/>
          <a:lstStyle>
            <a:lvl1pPr algn="l">
              <a:defRPr sz="1200"/>
            </a:lvl1pPr>
          </a:lstStyle>
          <a:p>
            <a:pPr>
              <a:defRPr/>
            </a:pPr>
            <a:endParaRPr/>
          </a:p>
        </p:txBody>
      </p:sp>
      <p:sp>
        <p:nvSpPr>
          <p:cNvPr id="127746648"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5362650F-0EB7-6DAE-FD5E-6DA50F107144}" type="slidenum">
              <a:rPr/>
              <a:t/>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323457035" name="Google Shape;3;n"/>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8354109"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72661001" name="Google Shape;51;p: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38655828" name="Google Shape;52;p: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25263239" name="Google Shape;63;g15015644fb1_0_37: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71254070" name="Google Shape;64;g15015644fb1_0_3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45027003" name="Google Shape;72;g1020b3eebfb_0_14: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0986520" name="Google Shape;73;g1020b3eebfb_0_1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17251413" name="Google Shape;82;g15015644fb1_0_5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23595555" name="Google Shape;83;g15015644fb1_0_5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15922862" name="Google Shape;93;g15015644fb1_0_61: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11536899" name="Google Shape;94;g15015644fb1_0_6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23141636" name="Google Shape;103;g138ee5e1e43_0_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40027947" name="Google Shape;104;g138ee5e1e43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72047379" name="Google Shape;113;g138ee5e1e43_0_9: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66099032" name="Google Shape;114;g138ee5e1e43_0_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10193084" name="Google Shape;123;g138ee5e1e43_0_2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75473650" name="Google Shape;124;g138ee5e1e43_0_2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98727935" name="Google Shape;131;g15015644fb1_0_7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4896736" name="Google Shape;132;g15015644fb1_0_7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15528663" name="Google Shape;140;g15015644fb1_0_77: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41794299" name="Google Shape;141;g15015644fb1_0_7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79819493" name="Google Shape;148;g15015644fb1_0_85: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26690899" name="Google Shape;149;g15015644fb1_0_8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93398629" name="Google Shape;156;g15015644fb1_0_91: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83234269" name="Google Shape;157;g15015644fb1_0_9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49358601" name="Google Shape;164;g15015644fb1_0_10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37952173" name="Google Shape;165;g15015644fb1_0_10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34280392" name="Google Shape;174;g15015644fb1_0_14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86706802" name="Google Shape;175;g15015644fb1_0_14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59644163" name="Google Shape;182;g15015644fb1_0_114: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01117234" name="Google Shape;183;g15015644fb1_0_11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40247421" name="Google Shape;190;g15015644fb1_0_122: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2081702" name="Google Shape;191;g15015644fb1_0_12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06170799" name="Google Shape;198;g15015644fb1_0_109: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08135466" name="Google Shape;199;g15015644fb1_0_10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56346523" name="Google Shape;206;g15015644fb1_0_148: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22757554" name="Google Shape;207;g15015644fb1_0_14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33376718" name="Google Shape;214;g15015644fb1_0_135: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85620699" name="Google Shape;215;g15015644fb1_0_13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71433544" name="Google Shape;221;g10221f1f6b9_0_118: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94099895" name="Google Shape;222;g10221f1f6b9_0_11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99622628" name="Google Shape;228;g15015644fb1_0_12: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247624" name="Google Shape;229;g15015644fb1_0_1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25624028" name="Google Shape;234;gf921c5c65a_0_3: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44947287" name="Google Shape;235;gf921c5c65a_0_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01457089" name="Google Shape;246;g15015644fb1_0_22: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6443695" name="Google Shape;247;g15015644fb1_0_2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731142971" name="Google Shape;10;p2"/>
          <p:cNvSpPr txBox="1"/>
          <p:nvPr>
            <p:ph type="ctrTitle"/>
          </p:nvPr>
        </p:nvSpPr>
        <p:spPr bwMode="auto">
          <a:xfrm>
            <a:off x="257712" y="1547778"/>
            <a:ext cx="7044600" cy="426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1818725718" name="Google Shape;11;p2"/>
          <p:cNvSpPr txBox="1"/>
          <p:nvPr>
            <p:ph type="subTitle" idx="1"/>
          </p:nvPr>
        </p:nvSpPr>
        <p:spPr bwMode="auto">
          <a:xfrm>
            <a:off x="257705" y="5891409"/>
            <a:ext cx="7044600" cy="1647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067358800" name="Google Shape;12;p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458200779" name="Google Shape;14;p3"/>
          <p:cNvSpPr txBox="1"/>
          <p:nvPr>
            <p:ph type="title"/>
          </p:nvPr>
        </p:nvSpPr>
        <p:spPr bwMode="auto">
          <a:xfrm>
            <a:off x="257705" y="4471058"/>
            <a:ext cx="7044600" cy="1749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1776204184" name="Google Shape;15;p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2003841593" name="Google Shape;17;p4"/>
          <p:cNvSpPr txBox="1"/>
          <p:nvPr>
            <p:ph type="title"/>
          </p:nvPr>
        </p:nvSpPr>
        <p:spPr bwMode="auto">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933090028" name="Google Shape;18;p4"/>
          <p:cNvSpPr txBox="1"/>
          <p:nvPr>
            <p:ph type="body" idx="1"/>
          </p:nvPr>
        </p:nvSpPr>
        <p:spPr bwMode="auto">
          <a:xfrm>
            <a:off x="257705" y="2395696"/>
            <a:ext cx="7044600" cy="7101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260948841" name="Google Shape;19;p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312481943" name="Google Shape;21;p5"/>
          <p:cNvSpPr txBox="1"/>
          <p:nvPr>
            <p:ph type="title"/>
          </p:nvPr>
        </p:nvSpPr>
        <p:spPr bwMode="auto">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216311548" name="Google Shape;22;p5"/>
          <p:cNvSpPr txBox="1"/>
          <p:nvPr>
            <p:ph type="body" idx="1"/>
          </p:nvPr>
        </p:nvSpPr>
        <p:spPr bwMode="auto">
          <a:xfrm>
            <a:off x="257705" y="2395696"/>
            <a:ext cx="3306900" cy="7101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100180389" name="Google Shape;23;p5"/>
          <p:cNvSpPr txBox="1"/>
          <p:nvPr>
            <p:ph type="body" idx="2"/>
          </p:nvPr>
        </p:nvSpPr>
        <p:spPr bwMode="auto">
          <a:xfrm>
            <a:off x="3995291" y="2395696"/>
            <a:ext cx="3306900" cy="7101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926209043" name="Google Shape;24;p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670546136" name="Google Shape;26;p6"/>
          <p:cNvSpPr txBox="1"/>
          <p:nvPr>
            <p:ph type="title"/>
          </p:nvPr>
        </p:nvSpPr>
        <p:spPr bwMode="auto">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379143489" name="Google Shape;27;p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1856637994" name="Google Shape;29;p7"/>
          <p:cNvSpPr txBox="1"/>
          <p:nvPr>
            <p:ph type="title"/>
          </p:nvPr>
        </p:nvSpPr>
        <p:spPr bwMode="auto">
          <a:xfrm>
            <a:off x="257705" y="1154948"/>
            <a:ext cx="2321699" cy="15708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1857700006" name="Google Shape;30;p7"/>
          <p:cNvSpPr txBox="1"/>
          <p:nvPr>
            <p:ph type="body" idx="1"/>
          </p:nvPr>
        </p:nvSpPr>
        <p:spPr bwMode="auto">
          <a:xfrm>
            <a:off x="257705" y="2888617"/>
            <a:ext cx="2321699" cy="66090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549764879" name="Google Shape;31;p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342921953" name="Google Shape;33;p8"/>
          <p:cNvSpPr txBox="1"/>
          <p:nvPr>
            <p:ph type="title"/>
          </p:nvPr>
        </p:nvSpPr>
        <p:spPr bwMode="auto">
          <a:xfrm>
            <a:off x="405325" y="935745"/>
            <a:ext cx="5264700" cy="8503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1434628895" name="Google Shape;34;p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1397983296" name="Google Shape;36;p9"/>
          <p:cNvSpPr/>
          <p:nvPr/>
        </p:nvSpPr>
        <p:spPr bwMode="auto">
          <a:xfrm>
            <a:off x="3780000" y="-260"/>
            <a:ext cx="3780000" cy="10692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92323393" name="Google Shape;37;p9"/>
          <p:cNvSpPr txBox="1"/>
          <p:nvPr>
            <p:ph type="title"/>
          </p:nvPr>
        </p:nvSpPr>
        <p:spPr bwMode="auto">
          <a:xfrm>
            <a:off x="219508" y="2563450"/>
            <a:ext cx="3344400" cy="3081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defRPr/>
            </a:pPr>
            <a:endParaRPr/>
          </a:p>
        </p:txBody>
      </p:sp>
      <p:sp>
        <p:nvSpPr>
          <p:cNvPr id="1217926888" name="Google Shape;38;p9"/>
          <p:cNvSpPr txBox="1"/>
          <p:nvPr>
            <p:ph type="subTitle" idx="1"/>
          </p:nvPr>
        </p:nvSpPr>
        <p:spPr bwMode="auto">
          <a:xfrm>
            <a:off x="219508" y="5826865"/>
            <a:ext cx="3344400" cy="2567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1424837159" name="Google Shape;39;p9"/>
          <p:cNvSpPr txBox="1"/>
          <p:nvPr>
            <p:ph type="body" idx="2"/>
          </p:nvPr>
        </p:nvSpPr>
        <p:spPr bwMode="auto">
          <a:xfrm>
            <a:off x="4083839" y="1505164"/>
            <a:ext cx="3172199" cy="76812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1884429060" name="Google Shape;40;p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502152082" name="Google Shape;42;p10"/>
          <p:cNvSpPr txBox="1"/>
          <p:nvPr>
            <p:ph type="body" idx="1"/>
          </p:nvPr>
        </p:nvSpPr>
        <p:spPr bwMode="auto">
          <a:xfrm>
            <a:off x="257705" y="8794266"/>
            <a:ext cx="4959600" cy="12579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a:defRPr/>
            </a:pPr>
            <a:endParaRPr/>
          </a:p>
        </p:txBody>
      </p:sp>
      <p:sp>
        <p:nvSpPr>
          <p:cNvPr id="605871863" name="Google Shape;43;p1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550347660" name="Google Shape;45;p11"/>
          <p:cNvSpPr txBox="1"/>
          <p:nvPr>
            <p:ph type="title" hasCustomPrompt="1"/>
          </p:nvPr>
        </p:nvSpPr>
        <p:spPr bwMode="auto">
          <a:xfrm>
            <a:off x="257705" y="2299346"/>
            <a:ext cx="7044600" cy="4081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defRPr/>
            </a:pPr>
            <a:r>
              <a:rPr/>
              <a:t>xx%</a:t>
            </a:r>
            <a:endParaRPr/>
          </a:p>
        </p:txBody>
      </p:sp>
      <p:sp>
        <p:nvSpPr>
          <p:cNvPr id="1322163342" name="Google Shape;46;p11"/>
          <p:cNvSpPr txBox="1"/>
          <p:nvPr>
            <p:ph type="body" idx="1"/>
          </p:nvPr>
        </p:nvSpPr>
        <p:spPr bwMode="auto">
          <a:xfrm>
            <a:off x="257705" y="6552657"/>
            <a:ext cx="7044600" cy="2703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a:defRPr/>
            </a:pPr>
            <a:endParaRPr/>
          </a:p>
        </p:txBody>
      </p:sp>
      <p:sp>
        <p:nvSpPr>
          <p:cNvPr id="38604719" name="Google Shape;47;p1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1129360598" name="Google Shape;49;p1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1287767644" name="Google Shape;6;p1"/>
          <p:cNvSpPr txBox="1"/>
          <p:nvPr>
            <p:ph type="title"/>
          </p:nvPr>
        </p:nvSpPr>
        <p:spPr bwMode="auto">
          <a:xfrm>
            <a:off x="257705" y="925091"/>
            <a:ext cx="7044600" cy="119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pPr>
              <a:defRPr/>
            </a:pPr>
            <a:endParaRPr/>
          </a:p>
        </p:txBody>
      </p:sp>
      <p:sp>
        <p:nvSpPr>
          <p:cNvPr id="1467624942" name="Google Shape;7;p1"/>
          <p:cNvSpPr txBox="1"/>
          <p:nvPr>
            <p:ph type="body" idx="1"/>
          </p:nvPr>
        </p:nvSpPr>
        <p:spPr bwMode="auto">
          <a:xfrm>
            <a:off x="257705" y="2395696"/>
            <a:ext cx="7044600" cy="7101900"/>
          </a:xfrm>
          <a:prstGeom prst="rect">
            <a:avLst/>
          </a:prstGeom>
          <a:noFill/>
          <a:ln>
            <a:noFill/>
          </a:ln>
        </p:spPr>
        <p:txBody>
          <a:bodyPr spcFirstLastPara="1" wrap="square" lIns="91425" tIns="91425" rIns="91425" bIns="91425" anchor="t" anchorCtr="0">
            <a:normAutofit/>
          </a:bodyPr>
          <a:lstStyle>
            <a:lvl1pPr marL="457200" lvl="0" indent="-342900">
              <a:lnSpc>
                <a:spcPct val="114999"/>
              </a:lnSpc>
              <a:spcBef>
                <a:spcPts val="0"/>
              </a:spcBef>
              <a:spcAft>
                <a:spcPts val="0"/>
              </a:spcAft>
              <a:buClr>
                <a:schemeClr val="dk2"/>
              </a:buClr>
              <a:buSzPts val="1800"/>
              <a:buChar char="●"/>
              <a:defRPr sz="1800">
                <a:solidFill>
                  <a:schemeClr val="dk2"/>
                </a:solidFill>
              </a:defRPr>
            </a:lvl1pPr>
            <a:lvl2pPr marL="914400" lvl="1" indent="-317500">
              <a:lnSpc>
                <a:spcPct val="114999"/>
              </a:lnSpc>
              <a:spcBef>
                <a:spcPts val="0"/>
              </a:spcBef>
              <a:spcAft>
                <a:spcPts val="0"/>
              </a:spcAft>
              <a:buClr>
                <a:schemeClr val="dk2"/>
              </a:buClr>
              <a:buSzPts val="1400"/>
              <a:buChar char="○"/>
              <a:defRPr>
                <a:solidFill>
                  <a:schemeClr val="dk2"/>
                </a:solidFill>
              </a:defRPr>
            </a:lvl2pPr>
            <a:lvl3pPr marL="1371600" lvl="2" indent="-317500">
              <a:lnSpc>
                <a:spcPct val="114999"/>
              </a:lnSpc>
              <a:spcBef>
                <a:spcPts val="0"/>
              </a:spcBef>
              <a:spcAft>
                <a:spcPts val="0"/>
              </a:spcAft>
              <a:buClr>
                <a:schemeClr val="dk2"/>
              </a:buClr>
              <a:buSzPts val="1400"/>
              <a:buChar char="■"/>
              <a:defRPr>
                <a:solidFill>
                  <a:schemeClr val="dk2"/>
                </a:solidFill>
              </a:defRPr>
            </a:lvl3pPr>
            <a:lvl4pPr marL="1828800" lvl="3" indent="-317500">
              <a:lnSpc>
                <a:spcPct val="114999"/>
              </a:lnSpc>
              <a:spcBef>
                <a:spcPts val="0"/>
              </a:spcBef>
              <a:spcAft>
                <a:spcPts val="0"/>
              </a:spcAft>
              <a:buClr>
                <a:schemeClr val="dk2"/>
              </a:buClr>
              <a:buSzPts val="1400"/>
              <a:buChar char="●"/>
              <a:defRPr>
                <a:solidFill>
                  <a:schemeClr val="dk2"/>
                </a:solidFill>
              </a:defRPr>
            </a:lvl4pPr>
            <a:lvl5pPr marL="2286000" lvl="4" indent="-317500">
              <a:lnSpc>
                <a:spcPct val="114999"/>
              </a:lnSpc>
              <a:spcBef>
                <a:spcPts val="0"/>
              </a:spcBef>
              <a:spcAft>
                <a:spcPts val="0"/>
              </a:spcAft>
              <a:buClr>
                <a:schemeClr val="dk2"/>
              </a:buClr>
              <a:buSzPts val="1400"/>
              <a:buChar char="○"/>
              <a:defRPr>
                <a:solidFill>
                  <a:schemeClr val="dk2"/>
                </a:solidFill>
              </a:defRPr>
            </a:lvl5pPr>
            <a:lvl6pPr marL="2743200" lvl="5" indent="-317500">
              <a:lnSpc>
                <a:spcPct val="114999"/>
              </a:lnSpc>
              <a:spcBef>
                <a:spcPts val="0"/>
              </a:spcBef>
              <a:spcAft>
                <a:spcPts val="0"/>
              </a:spcAft>
              <a:buClr>
                <a:schemeClr val="dk2"/>
              </a:buClr>
              <a:buSzPts val="1400"/>
              <a:buChar char="■"/>
              <a:defRPr>
                <a:solidFill>
                  <a:schemeClr val="dk2"/>
                </a:solidFill>
              </a:defRPr>
            </a:lvl6pPr>
            <a:lvl7pPr marL="3200400" lvl="6" indent="-317500">
              <a:lnSpc>
                <a:spcPct val="114999"/>
              </a:lnSpc>
              <a:spcBef>
                <a:spcPts val="0"/>
              </a:spcBef>
              <a:spcAft>
                <a:spcPts val="0"/>
              </a:spcAft>
              <a:buClr>
                <a:schemeClr val="dk2"/>
              </a:buClr>
              <a:buSzPts val="1400"/>
              <a:buChar char="●"/>
              <a:defRPr>
                <a:solidFill>
                  <a:schemeClr val="dk2"/>
                </a:solidFill>
              </a:defRPr>
            </a:lvl7pPr>
            <a:lvl8pPr marL="3657600" lvl="7" indent="-317500">
              <a:lnSpc>
                <a:spcPct val="114999"/>
              </a:lnSpc>
              <a:spcBef>
                <a:spcPts val="0"/>
              </a:spcBef>
              <a:spcAft>
                <a:spcPts val="0"/>
              </a:spcAft>
              <a:buClr>
                <a:schemeClr val="dk2"/>
              </a:buClr>
              <a:buSzPts val="1400"/>
              <a:buChar char="○"/>
              <a:defRPr>
                <a:solidFill>
                  <a:schemeClr val="dk2"/>
                </a:solidFill>
              </a:defRPr>
            </a:lvl8pPr>
            <a:lvl9pPr marL="4114800" lvl="8" indent="-317500">
              <a:lnSpc>
                <a:spcPct val="114999"/>
              </a:lnSpc>
              <a:spcBef>
                <a:spcPts val="0"/>
              </a:spcBef>
              <a:spcAft>
                <a:spcPts val="0"/>
              </a:spcAft>
              <a:buClr>
                <a:schemeClr val="dk2"/>
              </a:buClr>
              <a:buSzPts val="1400"/>
              <a:buChar char="■"/>
              <a:defRPr>
                <a:solidFill>
                  <a:schemeClr val="dk2"/>
                </a:solidFill>
              </a:defRPr>
            </a:lvl9pPr>
          </a:lstStyle>
          <a:p>
            <a:pPr>
              <a:defRPr/>
            </a:pPr>
            <a:endParaRPr/>
          </a:p>
        </p:txBody>
      </p:sp>
      <p:sp>
        <p:nvSpPr>
          <p:cNvPr id="1816585850" name="Google Shape;8;p1"/>
          <p:cNvSpPr txBox="1"/>
          <p:nvPr>
            <p:ph type="sldNum" idx="12"/>
          </p:nvPr>
        </p:nvSpPr>
        <p:spPr bwMode="auto">
          <a:xfrm>
            <a:off x="7004788" y="9693616"/>
            <a:ext cx="453600" cy="8181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defRPr/>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3.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s://youtu.be/v4cd1O4zkGw" TargetMode="External"/><Relationship Id="rId4" Type="http://schemas.openxmlformats.org/officeDocument/2006/relationships/hyperlink" Target="https://youtu.be/kS_gr2_-ws8" TargetMode="Externa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hyperlink" Target="https://youtu.be/V6mKVRU1evU" TargetMode="Externa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5.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hyperlink" Target="https://youtube.com/playlist?list=PLCiOXwirraUDwnyalzSD1aCvtUnw_UHkd" TargetMode="External"/><Relationship Id="rId4" Type="http://schemas.openxmlformats.org/officeDocument/2006/relationships/hyperlink" Target="https://en.wikibooks.org/wiki/A-level_Computing/AQA/Paper_1/Theory_of_computation/Classification_of_algorithms" TargetMode="External"/><Relationship Id="rId5" Type="http://schemas.openxmlformats.org/officeDocument/2006/relationships/hyperlink" Target="https://isaaccomputerscience.org/topics/a_level?examBoard=all&amp;stage=all#aqa" TargetMode="External"/><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5779763" name="Google Shape;54;p1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81773874" name="Google Shape;55;p13"/>
          <p:cNvSpPr txBox="1"/>
          <p:nvPr/>
        </p:nvSpPr>
        <p:spPr bwMode="auto">
          <a:xfrm>
            <a:off x="257700" y="238271"/>
            <a:ext cx="7044600" cy="6405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2800"/>
              <a:t>4.4.4 Classification of algorithms</a:t>
            </a:r>
            <a:endParaRPr sz="2800">
              <a:solidFill>
                <a:srgbClr val="000000"/>
              </a:solidFill>
            </a:endParaRPr>
          </a:p>
        </p:txBody>
      </p:sp>
      <p:sp>
        <p:nvSpPr>
          <p:cNvPr id="1337695571" name="Google Shape;56;p13"/>
          <p:cNvSpPr txBox="1"/>
          <p:nvPr/>
        </p:nvSpPr>
        <p:spPr bwMode="auto">
          <a:xfrm>
            <a:off x="257700" y="972087"/>
            <a:ext cx="3742200" cy="461700"/>
          </a:xfrm>
          <a:prstGeom prst="rect">
            <a:avLst/>
          </a:prstGeom>
          <a:solidFill>
            <a:srgbClr val="EFEFEF"/>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sz="1800" b="1"/>
              <a:t>Syllabus Details</a:t>
            </a:r>
            <a:endParaRPr sz="1800" b="1"/>
          </a:p>
        </p:txBody>
      </p:sp>
      <p:sp>
        <p:nvSpPr>
          <p:cNvPr id="612684942" name="Google Shape;57;p13"/>
          <p:cNvSpPr txBox="1"/>
          <p:nvPr/>
        </p:nvSpPr>
        <p:spPr bwMode="auto">
          <a:xfrm>
            <a:off x="257700" y="3036570"/>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4.4.4.1 Comparing </a:t>
            </a:r>
            <a:r>
              <a:rPr lang="en-GB" sz="1800" b="1"/>
              <a:t>algorithms</a:t>
            </a:r>
            <a:endParaRPr sz="1800" b="1">
              <a:solidFill>
                <a:srgbClr val="000000"/>
              </a:solidFill>
            </a:endParaRPr>
          </a:p>
        </p:txBody>
      </p:sp>
      <p:sp>
        <p:nvSpPr>
          <p:cNvPr id="523993022" name="Google Shape;58;p13"/>
          <p:cNvSpPr txBox="1"/>
          <p:nvPr/>
        </p:nvSpPr>
        <p:spPr bwMode="auto">
          <a:xfrm>
            <a:off x="257700" y="3734300"/>
            <a:ext cx="7044600" cy="61515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Starter</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a:t>On the next page write down two different directions to Joe’s Diner from the </a:t>
            </a:r>
            <a:r>
              <a:rPr lang="en-GB" b="1"/>
              <a:t>You are here</a:t>
            </a:r>
            <a:r>
              <a:rPr lang="en-GB"/>
              <a:t> cross.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939341317" name="Google Shape;59;p13"/>
          <p:cNvSpPr txBox="1"/>
          <p:nvPr/>
        </p:nvSpPr>
        <p:spPr bwMode="auto">
          <a:xfrm>
            <a:off x="8462025" y="6124200"/>
            <a:ext cx="6718500" cy="15531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graphicFrame>
        <p:nvGraphicFramePr>
          <p:cNvPr id="2044428978" name="Google Shape;60;p13"/>
          <p:cNvGraphicFramePr>
            <a:graphicFrameLocks xmlns:a="http://schemas.openxmlformats.org/drawingml/2006/main"/>
          </p:cNvGraphicFramePr>
          <p:nvPr/>
        </p:nvGraphicFramePr>
        <p:xfrm rot="0">
          <a:off x="233325" y="1816087"/>
          <a:ext cx="3000000" cy="3000000"/>
        </p:xfrm>
        <a:graphic>
          <a:graphicData uri="http://schemas.openxmlformats.org/drawingml/2006/table">
            <a:tbl>
              <a:tblPr firstRow="0" firstCol="0" lastRow="0" lastCol="0" bandRow="0" bandCol="0">
                <a:tableStyleId>{0FD3A268-A886-4377-BA4E-BC3C4DBF7F95}</a:tableStyleId>
                <a:noFill/>
              </a:tblPr>
              <a:tblGrid>
                <a:gridCol w="3790949"/>
              </a:tblGrid>
              <a:tr h="200025">
                <a:tc>
                  <a:txBody>
                    <a:bodyPr/>
                    <a:p>
                      <a:pPr marL="0" lvl="0" indent="0" algn="l" rtl="0">
                        <a:lnSpc>
                          <a:spcPct val="114999"/>
                        </a:lnSpc>
                        <a:spcBef>
                          <a:spcPts val="0"/>
                        </a:spcBef>
                        <a:spcAft>
                          <a:spcPts val="0"/>
                        </a:spcAft>
                        <a:buNone/>
                        <a:defRPr/>
                      </a:pPr>
                      <a:r>
                        <a:rPr lang="en-GB" sz="1000" b="1"/>
                        <a:t>4.4.4 Classification of algorithms</a:t>
                      </a:r>
                      <a:endParaRPr sz="1000" b="1"/>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r h="200025">
                <a:tc>
                  <a:txBody>
                    <a:bodyPr/>
                    <a:p>
                      <a:pPr marL="0" lvl="0" indent="0" algn="l" rtl="0">
                        <a:lnSpc>
                          <a:spcPct val="114999"/>
                        </a:lnSpc>
                        <a:spcBef>
                          <a:spcPts val="0"/>
                        </a:spcBef>
                        <a:spcAft>
                          <a:spcPts val="0"/>
                        </a:spcAft>
                        <a:buNone/>
                        <a:defRPr/>
                      </a:pPr>
                      <a:r>
                        <a:rPr lang="en-GB" sz="1000"/>
                        <a:t>4.4.4.1 Comparing algorithms</a:t>
                      </a:r>
                      <a:endParaRPr sz="1000"/>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r h="200025">
                <a:tc>
                  <a:txBody>
                    <a:bodyPr/>
                    <a:p>
                      <a:pPr marL="0" lvl="0" indent="0" algn="l" rtl="0">
                        <a:lnSpc>
                          <a:spcPct val="114999"/>
                        </a:lnSpc>
                        <a:spcBef>
                          <a:spcPts val="0"/>
                        </a:spcBef>
                        <a:spcAft>
                          <a:spcPts val="0"/>
                        </a:spcAft>
                        <a:buNone/>
                        <a:defRPr/>
                      </a:pPr>
                      <a:r>
                        <a:rPr lang="en-GB" sz="1000"/>
                        <a:t>4.4.4.2 Maths for understanding Big-0 notation</a:t>
                      </a:r>
                      <a:endParaRPr sz="1000"/>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r h="200025">
                <a:tc>
                  <a:txBody>
                    <a:bodyPr/>
                    <a:p>
                      <a:pPr marL="0" lvl="0" indent="0" algn="l" rtl="0">
                        <a:lnSpc>
                          <a:spcPct val="114999"/>
                        </a:lnSpc>
                        <a:spcBef>
                          <a:spcPts val="0"/>
                        </a:spcBef>
                        <a:spcAft>
                          <a:spcPts val="0"/>
                        </a:spcAft>
                        <a:buNone/>
                        <a:defRPr/>
                      </a:pPr>
                      <a:r>
                        <a:rPr lang="en-GB" sz="1000"/>
                        <a:t>4.4.4.3 Order of complexity</a:t>
                      </a:r>
                      <a:endParaRPr sz="1000"/>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bl>
          </a:graphicData>
        </a:graphic>
      </p:graphicFrame>
      <p:pic>
        <p:nvPicPr>
          <p:cNvPr id="692325939" name="Google Shape;61;p13" descr="The first direction to reach Joe's dinner shows a highway with Billboard forest on the left and Used Cars on the right. To the back of the Billboard forest is Joe's dinner. The second direction is by crossing Winding country road, lazy creek, fields of flowers and reaching Joe's dinner."/>
          <p:cNvPicPr/>
          <p:nvPr/>
        </p:nvPicPr>
        <p:blipFill rotWithShape="1">
          <a:blip r:embed="rId3">
            <a:alphaModFix/>
          </a:blip>
          <a:srcRect l="0" t="0" r="0" b="0"/>
          <a:stretch/>
        </p:blipFill>
        <p:spPr bwMode="auto">
          <a:xfrm>
            <a:off x="585665" y="5720275"/>
            <a:ext cx="6388674" cy="39087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7545061" name="Google Shape;66;p1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972579232" name="Google Shape;67;p14"/>
          <p:cNvSpPr txBox="1"/>
          <p:nvPr/>
        </p:nvSpPr>
        <p:spPr bwMode="auto">
          <a:xfrm>
            <a:off x="253200" y="219050"/>
            <a:ext cx="7053600" cy="94746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Starter</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t>Which one is the most </a:t>
            </a:r>
            <a:r>
              <a:rPr lang="en-GB" b="1"/>
              <a:t>efficient</a:t>
            </a:r>
            <a:r>
              <a:rPr lang="en-GB" b="1"/>
              <a:t> set of instructions? Are there different methods of stating efficiency?</a:t>
            </a: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657039578" name="Google Shape;68;p14"/>
          <p:cNvSpPr txBox="1"/>
          <p:nvPr/>
        </p:nvSpPr>
        <p:spPr bwMode="auto">
          <a:xfrm>
            <a:off x="346650" y="712000"/>
            <a:ext cx="6866700" cy="21615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601397462" name="Google Shape;69;p14"/>
          <p:cNvSpPr txBox="1"/>
          <p:nvPr/>
        </p:nvSpPr>
        <p:spPr bwMode="auto">
          <a:xfrm>
            <a:off x="346650" y="3047350"/>
            <a:ext cx="6866700" cy="21615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016237163" name="Google Shape;70;p14"/>
          <p:cNvSpPr txBox="1"/>
          <p:nvPr/>
        </p:nvSpPr>
        <p:spPr bwMode="auto">
          <a:xfrm>
            <a:off x="346650" y="6571125"/>
            <a:ext cx="6866700" cy="21615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6537879" name="Google Shape;75;p1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922306233" name="Google Shape;76;p15"/>
          <p:cNvSpPr txBox="1"/>
          <p:nvPr/>
        </p:nvSpPr>
        <p:spPr bwMode="auto">
          <a:xfrm>
            <a:off x="293850" y="177700"/>
            <a:ext cx="6972300" cy="1693200"/>
          </a:xfrm>
          <a:prstGeom prst="rect">
            <a:avLst/>
          </a:prstGeom>
          <a:solidFill>
            <a:srgbClr val="D9D9D9"/>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b="1"/>
              <a:t>Key term </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Basic operations</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THe operation contributing the most to the total running time of the algorithm.</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83596733" name="Google Shape;77;p15"/>
          <p:cNvSpPr txBox="1"/>
          <p:nvPr/>
        </p:nvSpPr>
        <p:spPr bwMode="auto">
          <a:xfrm>
            <a:off x="194250" y="2126624"/>
            <a:ext cx="7053600" cy="3464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Resources consumed</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987726494" name="Google Shape;78;p15"/>
          <p:cNvSpPr txBox="1"/>
          <p:nvPr/>
        </p:nvSpPr>
        <p:spPr bwMode="auto">
          <a:xfrm>
            <a:off x="287700" y="2575500"/>
            <a:ext cx="6866700" cy="27705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798403314" name="Google Shape;79;p15"/>
          <p:cNvSpPr txBox="1"/>
          <p:nvPr/>
        </p:nvSpPr>
        <p:spPr bwMode="auto">
          <a:xfrm>
            <a:off x="194250" y="5910124"/>
            <a:ext cx="7053600" cy="3464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Time</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2090457764" name="Google Shape;80;p15"/>
          <p:cNvSpPr txBox="1"/>
          <p:nvPr/>
        </p:nvSpPr>
        <p:spPr bwMode="auto">
          <a:xfrm>
            <a:off x="287700" y="6359000"/>
            <a:ext cx="6866700" cy="27705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The computation times of different algorithms depends on the hardware of the coputer as well as the optimisation of the algorumt</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The time to compute can also changed depending on the size of the input</a:t>
            </a:r>
            <a:r>
              <a:rPr lang="en"/>
              <a:t> as well as the amount of memory consumed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0385008" name="Google Shape;85;p1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689238115" name="Google Shape;86;p16"/>
          <p:cNvSpPr txBox="1"/>
          <p:nvPr/>
        </p:nvSpPr>
        <p:spPr bwMode="auto">
          <a:xfrm>
            <a:off x="194250" y="3960750"/>
            <a:ext cx="6972300" cy="1908600"/>
          </a:xfrm>
          <a:prstGeom prst="rect">
            <a:avLst/>
          </a:prstGeom>
          <a:solidFill>
            <a:srgbClr val="D9D9D9"/>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b="1"/>
              <a:t>Key term </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Order of magnitude of a function or order of function</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Identifies with the term in the function that increases fastest relative to the size of the problem.</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261723245" name="Google Shape;87;p16"/>
          <p:cNvSpPr txBox="1"/>
          <p:nvPr/>
        </p:nvSpPr>
        <p:spPr bwMode="auto">
          <a:xfrm>
            <a:off x="194250" y="233249"/>
            <a:ext cx="7053600" cy="3464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Size of problem</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598175817" name="Google Shape;88;p16"/>
          <p:cNvSpPr txBox="1"/>
          <p:nvPr/>
        </p:nvSpPr>
        <p:spPr bwMode="auto">
          <a:xfrm>
            <a:off x="287700" y="682125"/>
            <a:ext cx="6866700" cy="27705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Algorithms normally accept an input and perform a process on them. This means the number of operations is tied to the size of the input. This is known as the size of the problem</a:t>
            </a:r>
            <a:endParaRPr/>
          </a:p>
        </p:txBody>
      </p:sp>
      <p:sp>
        <p:nvSpPr>
          <p:cNvPr id="1365297960" name="Google Shape;89;p16"/>
          <p:cNvSpPr txBox="1"/>
          <p:nvPr/>
        </p:nvSpPr>
        <p:spPr bwMode="auto">
          <a:xfrm>
            <a:off x="194250" y="8483400"/>
            <a:ext cx="7053600" cy="20283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List the following functions from lowest to highest order. If any are of the same order, place them next to each other in the list and circle them.</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N + 5N² + 2N³	N³	N²	N</a:t>
            </a:r>
            <a:r>
              <a:rPr lang="en-GB" baseline="30000"/>
              <a:t>4</a:t>
            </a:r>
            <a:r>
              <a:rPr lang="en-GB"/>
              <a:t> - 4		N² + 6N 	N</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2046921939" name="Google Shape;90;p16"/>
          <p:cNvSpPr txBox="1"/>
          <p:nvPr/>
        </p:nvSpPr>
        <p:spPr bwMode="auto">
          <a:xfrm>
            <a:off x="346650" y="10001400"/>
            <a:ext cx="6866700" cy="3786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268194864" name="Google Shape;91;p16"/>
          <p:cNvSpPr txBox="1"/>
          <p:nvPr/>
        </p:nvSpPr>
        <p:spPr bwMode="auto">
          <a:xfrm>
            <a:off x="194250" y="6006525"/>
            <a:ext cx="6972300" cy="2339699"/>
          </a:xfrm>
          <a:prstGeom prst="rect">
            <a:avLst/>
          </a:prstGeom>
          <a:solidFill>
            <a:srgbClr val="D9D9D9"/>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b="1"/>
              <a:t>Key Point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Asymptotic behaviour</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By considering the asymptotic behaviour of an algorithm rather than its actual output, it is possible to ignore/hide factors and constants that change with the speed of the processor, the arrangement of data in memory, and other specifics such as whether the program is interpreted or compiled, whether one programming language generates more instructions for the same task than another.</a:t>
            </a:r>
            <a:endParaRPr/>
          </a:p>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3031894" name="Google Shape;96;p1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55169490" name="Google Shape;97;p17"/>
          <p:cNvSpPr txBox="1"/>
          <p:nvPr/>
        </p:nvSpPr>
        <p:spPr bwMode="auto">
          <a:xfrm>
            <a:off x="194250" y="233250"/>
            <a:ext cx="7053600" cy="776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Growth Rate</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672437410" name="Google Shape;98;p17"/>
          <p:cNvSpPr txBox="1"/>
          <p:nvPr/>
        </p:nvSpPr>
        <p:spPr bwMode="auto">
          <a:xfrm>
            <a:off x="7560000" y="2330475"/>
            <a:ext cx="6866700" cy="27705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graphicFrame>
        <p:nvGraphicFramePr>
          <p:cNvPr id="2039973539" name="Google Shape;99;p17"/>
          <p:cNvGraphicFramePr>
            <a:graphicFrameLocks xmlns:a="http://schemas.openxmlformats.org/drawingml/2006/main"/>
          </p:cNvGraphicFramePr>
          <p:nvPr/>
        </p:nvGraphicFramePr>
        <p:xfrm rot="0">
          <a:off x="328800" y="839475"/>
          <a:ext cx="3000000" cy="3000000"/>
        </p:xfrm>
        <a:graphic>
          <a:graphicData uri="http://schemas.openxmlformats.org/drawingml/2006/table">
            <a:tbl>
              <a:tblPr firstRow="0" firstCol="0" lastRow="0" lastCol="0" bandRow="0" bandCol="0">
                <a:tableStyleId>{4EF08538-9979-4E1A-95A5-08F3DC32C289}</a:tableStyleId>
                <a:noFill/>
              </a:tblPr>
              <a:tblGrid>
                <a:gridCol w="1669000"/>
                <a:gridCol w="1669000"/>
                <a:gridCol w="1669000"/>
                <a:gridCol w="1669000"/>
              </a:tblGrid>
              <a:tr h="589900">
                <a:tc>
                  <a:txBody>
                    <a:bodyPr/>
                    <a:p>
                      <a:pPr marL="0" lvl="0" indent="0" algn="l" rtl="0">
                        <a:spcBef>
                          <a:spcPts val="0"/>
                        </a:spcBef>
                        <a:spcAft>
                          <a:spcPts val="0"/>
                        </a:spcAft>
                        <a:buNone/>
                        <a:defRPr/>
                      </a:pPr>
                      <a:r>
                        <a:rPr lang="en-GB"/>
                        <a:t>Size of the input data 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sz="2000"/>
                        <a:t>f</a:t>
                      </a:r>
                      <a:r>
                        <a:rPr lang="en-GB" sz="2000"/>
                        <a:t>(N) =N</a:t>
                      </a:r>
                      <a:endParaRPr sz="2000"/>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sz="2000"/>
                        <a:t>f</a:t>
                      </a:r>
                      <a:r>
                        <a:rPr lang="en-GB" sz="2000"/>
                        <a:t>(N) = N²</a:t>
                      </a:r>
                      <a:endParaRPr sz="2000"/>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sz="2000"/>
                        <a:t>f(N) = 2</a:t>
                      </a:r>
                      <a:r>
                        <a:rPr lang="en-GB" sz="2000" baseline="30000"/>
                        <a:t>N</a:t>
                      </a:r>
                      <a:endParaRPr sz="2000" baseline="30000"/>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567250">
                <a:tc>
                  <a:txBody>
                    <a:bodyPr/>
                    <a:p>
                      <a:pPr marL="0" lvl="0" indent="0" algn="ctr" rtl="0">
                        <a:spcBef>
                          <a:spcPts val="0"/>
                        </a:spcBef>
                        <a:spcAft>
                          <a:spcPts val="0"/>
                        </a:spcAft>
                        <a:buNone/>
                        <a:defRPr/>
                      </a:pPr>
                      <a:r>
                        <a:rPr lang="en-GB"/>
                        <a:t>1</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567250">
                <a:tc>
                  <a:txBody>
                    <a:bodyPr/>
                    <a:p>
                      <a:pPr marL="0" lvl="0" indent="0" algn="ctr" rtl="0">
                        <a:spcBef>
                          <a:spcPts val="0"/>
                        </a:spcBef>
                        <a:spcAft>
                          <a:spcPts val="0"/>
                        </a:spcAft>
                        <a:buNone/>
                        <a:defRPr/>
                      </a:pPr>
                      <a:r>
                        <a:rPr lang="en-GB"/>
                        <a:t>10</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567250">
                <a:tc>
                  <a:txBody>
                    <a:bodyPr/>
                    <a:p>
                      <a:pPr marL="0" lvl="0" indent="0" algn="ctr" rtl="0">
                        <a:spcBef>
                          <a:spcPts val="0"/>
                        </a:spcBef>
                        <a:spcAft>
                          <a:spcPts val="0"/>
                        </a:spcAft>
                        <a:buNone/>
                        <a:defRPr/>
                      </a:pPr>
                      <a:r>
                        <a:rPr lang="en-GB"/>
                        <a:t>100</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567250">
                <a:tc>
                  <a:txBody>
                    <a:bodyPr/>
                    <a:p>
                      <a:pPr marL="0" lvl="0" indent="0" algn="ctr" rtl="0">
                        <a:spcBef>
                          <a:spcPts val="0"/>
                        </a:spcBef>
                        <a:spcAft>
                          <a:spcPts val="0"/>
                        </a:spcAft>
                        <a:buNone/>
                        <a:defRPr/>
                      </a:pPr>
                      <a:r>
                        <a:rPr lang="en-GB"/>
                        <a:t>1000</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567250">
                <a:tc>
                  <a:txBody>
                    <a:bodyPr/>
                    <a:p>
                      <a:pPr marL="0" lvl="0" indent="0" algn="ctr" rtl="0">
                        <a:spcBef>
                          <a:spcPts val="0"/>
                        </a:spcBef>
                        <a:spcAft>
                          <a:spcPts val="0"/>
                        </a:spcAft>
                        <a:buNone/>
                        <a:defRPr/>
                      </a:pPr>
                      <a:r>
                        <a:rPr lang="en-GB"/>
                        <a:t>10000</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graphicFrame>
        <p:nvGraphicFramePr>
          <p:cNvPr id="67891022" name="Google Shape;100;p17"/>
          <p:cNvGraphicFramePr>
            <a:graphicFrameLocks xmlns:a="http://schemas.openxmlformats.org/drawingml/2006/main"/>
          </p:cNvGraphicFramePr>
          <p:nvPr/>
        </p:nvGraphicFramePr>
        <p:xfrm rot="0">
          <a:off x="328800" y="4600425"/>
          <a:ext cx="3000000" cy="3000000"/>
        </p:xfrm>
        <a:graphic>
          <a:graphicData uri="http://schemas.openxmlformats.org/drawingml/2006/table">
            <a:tbl>
              <a:tblPr firstRow="0" firstCol="0" lastRow="0" lastCol="0" bandRow="0" bandCol="0">
                <a:tableStyleId>{4EF08538-9979-4E1A-95A5-08F3DC32C289}</a:tableStyleId>
                <a:noFill/>
              </a:tblPr>
              <a:tblGrid>
                <a:gridCol w="1782200"/>
                <a:gridCol w="1669000"/>
                <a:gridCol w="1669000"/>
                <a:gridCol w="1669000"/>
              </a:tblGrid>
              <a:tr h="609300">
                <a:tc>
                  <a:txBody>
                    <a:bodyPr/>
                    <a:p>
                      <a:pPr marL="0" lvl="0" indent="0" algn="l" rtl="0">
                        <a:spcBef>
                          <a:spcPts val="0"/>
                        </a:spcBef>
                        <a:spcAft>
                          <a:spcPts val="0"/>
                        </a:spcAft>
                        <a:buNone/>
                        <a:defRPr/>
                      </a:pPr>
                      <a:r>
                        <a:rPr lang="en-GB"/>
                        <a:t>Asymptotic function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sz="2000"/>
                        <a:t>f(N) =N</a:t>
                      </a:r>
                      <a:endParaRPr sz="2000"/>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sz="2000"/>
                        <a:t>f(N) = N²</a:t>
                      </a:r>
                      <a:endParaRPr sz="2000"/>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sz="2000"/>
                        <a:t>f(N) = 2</a:t>
                      </a:r>
                      <a:r>
                        <a:rPr lang="en-GB" sz="2000" baseline="30000"/>
                        <a:t>N</a:t>
                      </a:r>
                      <a:endParaRPr sz="2000" baseline="30000"/>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1273475">
                <a:tc>
                  <a:txBody>
                    <a:bodyPr/>
                    <a:p>
                      <a:pPr marL="0" lvl="0" indent="0" algn="l" rtl="0">
                        <a:spcBef>
                          <a:spcPts val="0"/>
                        </a:spcBef>
                        <a:spcAft>
                          <a:spcPts val="0"/>
                        </a:spcAft>
                        <a:buNone/>
                        <a:defRPr/>
                      </a:pPr>
                      <a:r>
                        <a:rPr lang="en-GB"/>
                        <a:t>Growth rate</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 sz="1400" b="0" i="0" u="none" strike="noStrike" cap="none" spc="0">
                          <a:solidFill>
                            <a:srgbClr val="000000"/>
                          </a:solidFill>
                          <a:latin typeface="Arial"/>
                          <a:ea typeface="Arial"/>
                          <a:cs typeface="Arial"/>
                        </a:rPr>
                        <a:t>Liniar</a:t>
                      </a:r>
                      <a:endParaRPr sz="1400"/>
                    </a:p>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
                        <a:t>Quadratic</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
                        <a:t>Exponential</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1273475">
                <a:tc>
                  <a:txBody>
                    <a:bodyPr/>
                    <a:p>
                      <a:pPr marL="0" lvl="0" indent="0" algn="l" rtl="0">
                        <a:spcBef>
                          <a:spcPts val="0"/>
                        </a:spcBef>
                        <a:spcAft>
                          <a:spcPts val="0"/>
                        </a:spcAft>
                        <a:buNone/>
                        <a:defRPr/>
                      </a:pPr>
                      <a:r>
                        <a:rPr lang="en-GB"/>
                        <a:t>Description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
                        <a:t>The amount of work is direclty proportianl to the input</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
                        <a:t>A nested for loop</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
                        <a:t>The sizie increases dramaticly in relation to the problem</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sp>
        <p:nvSpPr>
          <p:cNvPr id="745406958" name="Google Shape;101;p17"/>
          <p:cNvSpPr txBox="1"/>
          <p:nvPr/>
        </p:nvSpPr>
        <p:spPr bwMode="auto">
          <a:xfrm>
            <a:off x="180650" y="8215274"/>
            <a:ext cx="6972300" cy="1908600"/>
          </a:xfrm>
          <a:prstGeom prst="rect">
            <a:avLst/>
          </a:prstGeom>
          <a:solidFill>
            <a:srgbClr val="D9D9D9"/>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b="1"/>
              <a:t>Key term </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Complexity class of an algorithm</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Algorithms</a:t>
            </a:r>
            <a:r>
              <a:rPr lang="en-GB"/>
              <a:t> are classified by their growth rates into complexity classes. </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The growth rate of an algorithm is given by the order of the asymptotic function f(N) for the worst-case.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4525644" name="Google Shape;106;p1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636523262" name="Google Shape;107;p18"/>
          <p:cNvSpPr txBox="1"/>
          <p:nvPr/>
        </p:nvSpPr>
        <p:spPr bwMode="auto">
          <a:xfrm>
            <a:off x="194250" y="233250"/>
            <a:ext cx="7053600" cy="99465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Work out the polynomial for each algorithm</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101653870" name="Google Shape;108;p18"/>
          <p:cNvPicPr/>
          <p:nvPr/>
        </p:nvPicPr>
        <p:blipFill rotWithShape="1">
          <a:blip r:embed="rId3">
            <a:alphaModFix/>
          </a:blip>
          <a:srcRect l="8673" t="13605" r="8879" b="15682"/>
          <a:stretch/>
        </p:blipFill>
        <p:spPr bwMode="auto">
          <a:xfrm rot="-5400000">
            <a:off x="1663588" y="563911"/>
            <a:ext cx="3875850" cy="4351826"/>
          </a:xfrm>
          <a:prstGeom prst="rect">
            <a:avLst/>
          </a:prstGeom>
          <a:noFill/>
          <a:ln>
            <a:noFill/>
          </a:ln>
        </p:spPr>
      </p:pic>
      <p:sp>
        <p:nvSpPr>
          <p:cNvPr id="1128415326" name="Google Shape;109;p18"/>
          <p:cNvSpPr txBox="1"/>
          <p:nvPr/>
        </p:nvSpPr>
        <p:spPr bwMode="auto">
          <a:xfrm>
            <a:off x="378675" y="4811400"/>
            <a:ext cx="6626100" cy="1737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1000+x+2x^2</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As x -&gt; inf</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X^2</a:t>
            </a:r>
            <a:endParaRPr/>
          </a:p>
        </p:txBody>
      </p:sp>
      <p:pic>
        <p:nvPicPr>
          <p:cNvPr id="1076192673" name="Google Shape;110;p18"/>
          <p:cNvPicPr/>
          <p:nvPr/>
        </p:nvPicPr>
        <p:blipFill rotWithShape="1">
          <a:blip r:embed="rId4">
            <a:alphaModFix/>
          </a:blip>
          <a:srcRect l="33796" t="7420" r="29962" b="2415"/>
          <a:stretch/>
        </p:blipFill>
        <p:spPr bwMode="auto">
          <a:xfrm rot="-5400000">
            <a:off x="2701425" y="4359601"/>
            <a:ext cx="2004899" cy="6650399"/>
          </a:xfrm>
          <a:prstGeom prst="rect">
            <a:avLst/>
          </a:prstGeom>
          <a:noFill/>
          <a:ln>
            <a:noFill/>
          </a:ln>
        </p:spPr>
      </p:pic>
      <p:sp>
        <p:nvSpPr>
          <p:cNvPr id="2037835410" name="Google Shape;111;p18"/>
          <p:cNvSpPr txBox="1"/>
          <p:nvPr/>
        </p:nvSpPr>
        <p:spPr bwMode="auto">
          <a:xfrm>
            <a:off x="466950" y="8820900"/>
            <a:ext cx="6626100" cy="12474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4013036" name="Google Shape;116;p1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731557529" name="Google Shape;117;p19"/>
          <p:cNvSpPr txBox="1"/>
          <p:nvPr/>
        </p:nvSpPr>
        <p:spPr bwMode="auto">
          <a:xfrm>
            <a:off x="194250" y="233250"/>
            <a:ext cx="7053600" cy="99465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Work out the polynomial for each algorithm</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996626082" name="Google Shape;118;p19"/>
          <p:cNvSpPr txBox="1"/>
          <p:nvPr/>
        </p:nvSpPr>
        <p:spPr bwMode="auto">
          <a:xfrm>
            <a:off x="408000" y="3318975"/>
            <a:ext cx="6626100" cy="1737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x</a:t>
            </a:r>
            <a:endParaRPr/>
          </a:p>
        </p:txBody>
      </p:sp>
      <p:sp>
        <p:nvSpPr>
          <p:cNvPr id="1678522787" name="Google Shape;119;p19"/>
          <p:cNvSpPr txBox="1"/>
          <p:nvPr/>
        </p:nvSpPr>
        <p:spPr bwMode="auto">
          <a:xfrm>
            <a:off x="466950" y="8820900"/>
            <a:ext cx="6626100" cy="12474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L1*L2</a:t>
            </a:r>
            <a:endParaRPr/>
          </a:p>
        </p:txBody>
      </p:sp>
      <p:pic>
        <p:nvPicPr>
          <p:cNvPr id="1927512287" name="Google Shape;120;p19"/>
          <p:cNvPicPr/>
          <p:nvPr/>
        </p:nvPicPr>
        <p:blipFill rotWithShape="1">
          <a:blip r:embed="rId3">
            <a:alphaModFix/>
          </a:blip>
          <a:srcRect l="23189" t="9843" r="30847" b="9938"/>
          <a:stretch/>
        </p:blipFill>
        <p:spPr bwMode="auto">
          <a:xfrm rot="-5400000">
            <a:off x="2643975" y="-638702"/>
            <a:ext cx="2272051" cy="5286902"/>
          </a:xfrm>
          <a:prstGeom prst="rect">
            <a:avLst/>
          </a:prstGeom>
          <a:noFill/>
          <a:ln>
            <a:noFill/>
          </a:ln>
        </p:spPr>
      </p:pic>
      <p:pic>
        <p:nvPicPr>
          <p:cNvPr id="2083688593" name="Google Shape;121;p19"/>
          <p:cNvPicPr/>
          <p:nvPr/>
        </p:nvPicPr>
        <p:blipFill rotWithShape="1">
          <a:blip r:embed="rId4">
            <a:alphaModFix/>
          </a:blip>
          <a:srcRect l="18765" t="7417" r="21128" b="5730"/>
          <a:stretch/>
        </p:blipFill>
        <p:spPr bwMode="auto">
          <a:xfrm rot="-5400000">
            <a:off x="2116825" y="3734512"/>
            <a:ext cx="3326350" cy="6408151"/>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4389944" name="Google Shape;126;p2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2138281438" name="Google Shape;127;p20"/>
          <p:cNvSpPr txBox="1"/>
          <p:nvPr/>
        </p:nvSpPr>
        <p:spPr bwMode="auto">
          <a:xfrm>
            <a:off x="194250" y="233250"/>
            <a:ext cx="7053600" cy="99465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Work out the polynomial for each algorithm</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600685841" name="Google Shape;128;p20"/>
          <p:cNvSpPr txBox="1"/>
          <p:nvPr/>
        </p:nvSpPr>
        <p:spPr bwMode="auto">
          <a:xfrm>
            <a:off x="466950" y="4499550"/>
            <a:ext cx="6626100" cy="34749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pic>
        <p:nvPicPr>
          <p:cNvPr id="1761787210" name="Google Shape;129;p20"/>
          <p:cNvPicPr/>
          <p:nvPr/>
        </p:nvPicPr>
        <p:blipFill rotWithShape="1">
          <a:blip r:embed="rId3">
            <a:alphaModFix/>
          </a:blip>
          <a:srcRect l="11695" t="6312" r="17295" b="2203"/>
          <a:stretch/>
        </p:blipFill>
        <p:spPr bwMode="auto">
          <a:xfrm rot="-5400000">
            <a:off x="2042550" y="-378488"/>
            <a:ext cx="3474900" cy="5969326"/>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0599239" name="Google Shape;134;p2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538487336" name="Google Shape;135;p21"/>
          <p:cNvSpPr txBox="1"/>
          <p:nvPr/>
        </p:nvSpPr>
        <p:spPr bwMode="auto">
          <a:xfrm>
            <a:off x="194250" y="233250"/>
            <a:ext cx="7053600" cy="776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Complexity of a problem</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Time complexity</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Space complexity</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997533841" name="Google Shape;136;p21"/>
          <p:cNvSpPr txBox="1"/>
          <p:nvPr/>
        </p:nvSpPr>
        <p:spPr bwMode="auto">
          <a:xfrm>
            <a:off x="311850" y="1091475"/>
            <a:ext cx="6693000" cy="30294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261272879" name="Google Shape;137;p21"/>
          <p:cNvSpPr txBox="1"/>
          <p:nvPr/>
        </p:nvSpPr>
        <p:spPr bwMode="auto">
          <a:xfrm>
            <a:off x="374550" y="4718774"/>
            <a:ext cx="6693000" cy="30294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The mesure of the amount of working storeage required for an algorythm</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It is the worst case senario </a:t>
            </a:r>
            <a:endParaRPr/>
          </a:p>
        </p:txBody>
      </p:sp>
      <p:sp>
        <p:nvSpPr>
          <p:cNvPr id="1347055392" name="Google Shape;138;p21"/>
          <p:cNvSpPr txBox="1"/>
          <p:nvPr/>
        </p:nvSpPr>
        <p:spPr bwMode="auto">
          <a:xfrm>
            <a:off x="194250" y="8217325"/>
            <a:ext cx="4839900" cy="2294400"/>
          </a:xfrm>
          <a:prstGeom prst="rect">
            <a:avLst/>
          </a:prstGeom>
          <a:solidFill>
            <a:srgbClr val="99999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Support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solidFill>
                  <a:srgbClr val="FFFFFF"/>
                </a:solidFill>
              </a:rPr>
              <a:t>PGonline - Section 8 p 229</a:t>
            </a:r>
            <a:endParaRPr b="1">
              <a:solidFill>
                <a:srgbClr val="FFFFFF"/>
              </a:solidFill>
            </a:endParaRPr>
          </a:p>
          <a:p>
            <a:pPr marL="0" lvl="0" indent="0" algn="l" rtl="0">
              <a:spcBef>
                <a:spcPts val="0"/>
              </a:spcBef>
              <a:spcAft>
                <a:spcPts val="0"/>
              </a:spcAft>
              <a:buNone/>
              <a:defRPr/>
            </a:pPr>
            <a:endParaRPr b="1">
              <a:solidFill>
                <a:srgbClr val="FFFFFF"/>
              </a:solidFill>
            </a:endParaRPr>
          </a:p>
          <a:p>
            <a:pPr marL="0" lvl="0" indent="0" algn="l" rtl="0">
              <a:spcBef>
                <a:spcPts val="0"/>
              </a:spcBef>
              <a:spcAft>
                <a:spcPts val="0"/>
              </a:spcAft>
              <a:buNone/>
              <a:defRPr/>
            </a:pPr>
            <a:r>
              <a:rPr lang="en-GB" b="1">
                <a:solidFill>
                  <a:srgbClr val="FFFFFF"/>
                </a:solidFill>
              </a:rPr>
              <a:t>LMC - Paper 1 theory p227</a:t>
            </a:r>
            <a:endParaRPr b="1">
              <a:solidFill>
                <a:srgbClr val="FFFFFF"/>
              </a:solidFill>
            </a:endParaRPr>
          </a:p>
          <a:p>
            <a:pPr marL="0" lvl="0" indent="0" algn="l" rtl="0">
              <a:spcBef>
                <a:spcPts val="0"/>
              </a:spcBef>
              <a:spcAft>
                <a:spcPts val="0"/>
              </a:spcAft>
              <a:buNone/>
              <a:defRPr/>
            </a:pPr>
            <a:endParaRPr b="1">
              <a:solidFill>
                <a:srgbClr val="FFFFFF"/>
              </a:solidFill>
            </a:endParaRPr>
          </a:p>
          <a:p>
            <a:pPr marL="0" lvl="0" indent="0" algn="l" rtl="0">
              <a:spcBef>
                <a:spcPts val="0"/>
              </a:spcBef>
              <a:spcAft>
                <a:spcPts val="0"/>
              </a:spcAft>
              <a:buNone/>
              <a:defRPr/>
            </a:pPr>
            <a:r>
              <a:rPr lang="en-GB" b="1">
                <a:solidFill>
                  <a:srgbClr val="FFFFFF"/>
                </a:solidFill>
              </a:rPr>
              <a:t>Hacker Rank			Colt Steele</a:t>
            </a:r>
            <a:endParaRPr b="1">
              <a:solidFill>
                <a:srgbClr val="FFFFFF"/>
              </a:solidFill>
            </a:endParaRPr>
          </a:p>
          <a:p>
            <a:pPr marL="0" lvl="0" indent="0" algn="l" rtl="0">
              <a:spcBef>
                <a:spcPts val="0"/>
              </a:spcBef>
              <a:spcAft>
                <a:spcPts val="0"/>
              </a:spcAft>
              <a:buNone/>
              <a:defRPr/>
            </a:pPr>
            <a:endParaRPr b="1">
              <a:solidFill>
                <a:srgbClr val="FFFFFF"/>
              </a:solidFill>
            </a:endParaRPr>
          </a:p>
          <a:p>
            <a:pPr marL="0" lvl="0" indent="0" algn="l" rtl="0">
              <a:spcBef>
                <a:spcPts val="0"/>
              </a:spcBef>
              <a:spcAft>
                <a:spcPts val="0"/>
              </a:spcAft>
              <a:buNone/>
              <a:defRPr/>
            </a:pPr>
            <a:r>
              <a:rPr lang="en-GB" b="1" u="sng">
                <a:solidFill>
                  <a:schemeClr val="hlink"/>
                </a:solidFill>
                <a:highlight>
                  <a:srgbClr val="000000"/>
                </a:highlight>
                <a:hlinkClick r:id="rId3" tooltip=""/>
              </a:rPr>
              <a:t>Video 1</a:t>
            </a:r>
            <a:r>
              <a:rPr lang="en-GB" b="1">
                <a:solidFill>
                  <a:srgbClr val="FFFFFF"/>
                </a:solidFill>
                <a:highlight>
                  <a:srgbClr val="000000"/>
                </a:highlight>
              </a:rPr>
              <a:t>				</a:t>
            </a:r>
            <a:r>
              <a:rPr lang="en-GB" b="1" u="sng">
                <a:solidFill>
                  <a:schemeClr val="hlink"/>
                </a:solidFill>
                <a:highlight>
                  <a:srgbClr val="000000"/>
                </a:highlight>
                <a:hlinkClick r:id="rId4" tooltip=""/>
              </a:rPr>
              <a:t>Video 2</a:t>
            </a:r>
            <a:endParaRPr b="1">
              <a:solidFill>
                <a:srgbClr val="FFFFFF"/>
              </a:solidFill>
              <a:highlight>
                <a:srgbClr val="000000"/>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8306936" name="Google Shape;143;p2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873048881" name="Google Shape;144;p22"/>
          <p:cNvSpPr txBox="1"/>
          <p:nvPr/>
        </p:nvSpPr>
        <p:spPr bwMode="auto">
          <a:xfrm>
            <a:off x="194250" y="233250"/>
            <a:ext cx="7053600" cy="60927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Trade off between time-complexity and space- complexity</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617709557" name="Google Shape;145;p22"/>
          <p:cNvSpPr txBox="1"/>
          <p:nvPr/>
        </p:nvSpPr>
        <p:spPr bwMode="auto">
          <a:xfrm>
            <a:off x="374550" y="2828925"/>
            <a:ext cx="6693000" cy="30294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graphicFrame>
        <p:nvGraphicFramePr>
          <p:cNvPr id="2053807333" name="Google Shape;146;p22"/>
          <p:cNvGraphicFramePr>
            <a:graphicFrameLocks xmlns:a="http://schemas.openxmlformats.org/drawingml/2006/main"/>
          </p:cNvGraphicFramePr>
          <p:nvPr/>
        </p:nvGraphicFramePr>
        <p:xfrm rot="0">
          <a:off x="417899" y="755025"/>
          <a:ext cx="3000000" cy="3000000"/>
        </p:xfrm>
        <a:graphic>
          <a:graphicData uri="http://schemas.openxmlformats.org/drawingml/2006/table">
            <a:tbl>
              <a:tblPr firstRow="0" firstCol="0" lastRow="0" lastCol="0" bandRow="0" bandCol="0">
                <a:tableStyleId>{4EF08538-9979-4E1A-95A5-08F3DC32C289}</a:tableStyleId>
                <a:noFill/>
              </a:tblPr>
              <a:tblGrid>
                <a:gridCol w="3293450"/>
                <a:gridCol w="3293450"/>
              </a:tblGrid>
              <a:tr h="381000">
                <a:tc>
                  <a:txBody>
                    <a:bodyPr/>
                    <a:p>
                      <a:pPr marL="0" lvl="0" indent="0" algn="ctr" rtl="0">
                        <a:spcBef>
                          <a:spcPts val="0"/>
                        </a:spcBef>
                        <a:spcAft>
                          <a:spcPts val="0"/>
                        </a:spcAft>
                        <a:buNone/>
                        <a:defRPr/>
                      </a:pPr>
                      <a:r>
                        <a:rPr lang="en-GB"/>
                        <a:t>Finding factors of an integer 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Finding the least factor of 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l" rtl="0">
                        <a:spcBef>
                          <a:spcPts val="0"/>
                        </a:spcBef>
                        <a:spcAft>
                          <a:spcPts val="0"/>
                        </a:spcAft>
                        <a:buNone/>
                        <a:defRPr/>
                      </a:pPr>
                      <a:r>
                        <a:rPr lang="en-GB"/>
                        <a:t>FindFactors(N)</a:t>
                      </a:r>
                      <a:endParaRPr/>
                    </a:p>
                    <a:p>
                      <a:pPr marL="0" lvl="0" indent="0" algn="l" rtl="0">
                        <a:spcBef>
                          <a:spcPts val="0"/>
                        </a:spcBef>
                        <a:spcAft>
                          <a:spcPts val="0"/>
                        </a:spcAft>
                        <a:buNone/>
                        <a:defRPr/>
                      </a:pPr>
                      <a:r>
                        <a:rPr lang="en-GB"/>
                        <a:t>While N &gt; 1</a:t>
                      </a:r>
                      <a:endParaRPr/>
                    </a:p>
                    <a:p>
                      <a:pPr marL="0" lvl="0" indent="0" algn="l" rtl="0">
                        <a:spcBef>
                          <a:spcPts val="0"/>
                        </a:spcBef>
                        <a:spcAft>
                          <a:spcPts val="0"/>
                        </a:spcAft>
                        <a:buNone/>
                        <a:defRPr/>
                      </a:pPr>
                      <a:r>
                        <a:rPr lang="en-GB"/>
                        <a:t>      </a:t>
                      </a:r>
                      <a:r>
                        <a:rPr lang="en-GB">
                          <a:solidFill>
                            <a:schemeClr val="dk1"/>
                          </a:solidFill>
                        </a:rPr>
                        <a:t>Factor = LeastFactor(N)</a:t>
                      </a:r>
                      <a:endParaRPr>
                        <a:solidFill>
                          <a:schemeClr val="dk1"/>
                        </a:solidFill>
                      </a:endParaRPr>
                    </a:p>
                    <a:p>
                      <a:pPr marL="0" lvl="0" indent="0" algn="l" rtl="0">
                        <a:spcBef>
                          <a:spcPts val="0"/>
                        </a:spcBef>
                        <a:spcAft>
                          <a:spcPts val="0"/>
                        </a:spcAft>
                        <a:buNone/>
                        <a:defRPr/>
                      </a:pPr>
                      <a:r>
                        <a:rPr lang="en-GB">
                          <a:solidFill>
                            <a:schemeClr val="dk1"/>
                          </a:solidFill>
                        </a:rPr>
                        <a:t>      Output Factor</a:t>
                      </a:r>
                      <a:endParaRPr>
                        <a:solidFill>
                          <a:schemeClr val="dk1"/>
                        </a:solidFill>
                      </a:endParaRPr>
                    </a:p>
                    <a:p>
                      <a:pPr marL="0" lvl="0" indent="0" algn="l" rtl="0">
                        <a:spcBef>
                          <a:spcPts val="0"/>
                        </a:spcBef>
                        <a:spcAft>
                          <a:spcPts val="0"/>
                        </a:spcAft>
                        <a:buNone/>
                        <a:defRPr/>
                      </a:pPr>
                      <a:r>
                        <a:rPr lang="en-GB">
                          <a:solidFill>
                            <a:schemeClr val="dk1"/>
                          </a:solidFill>
                        </a:rPr>
                        <a:t>      N = N Div Factor </a:t>
                      </a:r>
                      <a:endParaRPr>
                        <a:solidFill>
                          <a:schemeClr val="dk1"/>
                        </a:solidFill>
                      </a:endParaRPr>
                    </a:p>
                    <a:p>
                      <a:pPr marL="0" lvl="0" indent="0" algn="l" rtl="0">
                        <a:spcBef>
                          <a:spcPts val="0"/>
                        </a:spcBef>
                        <a:spcAft>
                          <a:spcPts val="0"/>
                        </a:spcAft>
                        <a:buNone/>
                        <a:defRPr/>
                      </a:pPr>
                      <a:r>
                        <a:rPr lang="en-GB">
                          <a:solidFill>
                            <a:schemeClr val="dk1"/>
                          </a:solidFill>
                        </a:rPr>
                        <a:t>EndWhile</a:t>
                      </a:r>
                      <a:endParaRPr>
                        <a:solidFill>
                          <a:schemeClr val="dk1"/>
                        </a:solidFill>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LeastFactor(N)</a:t>
                      </a:r>
                      <a:endParaRPr/>
                    </a:p>
                    <a:p>
                      <a:pPr marL="0" lvl="0" indent="0" algn="l" rtl="0">
                        <a:spcBef>
                          <a:spcPts val="0"/>
                        </a:spcBef>
                        <a:spcAft>
                          <a:spcPts val="0"/>
                        </a:spcAft>
                        <a:buNone/>
                        <a:defRPr/>
                      </a:pPr>
                      <a:r>
                        <a:rPr lang="en-GB"/>
                        <a:t>i = 1</a:t>
                      </a:r>
                      <a:endParaRPr/>
                    </a:p>
                    <a:p>
                      <a:pPr marL="0" lvl="0" indent="0" algn="l" rtl="0">
                        <a:spcBef>
                          <a:spcPts val="0"/>
                        </a:spcBef>
                        <a:spcAft>
                          <a:spcPts val="0"/>
                        </a:spcAft>
                        <a:buNone/>
                        <a:defRPr/>
                      </a:pPr>
                      <a:r>
                        <a:rPr lang="en-GB"/>
                        <a:t>Repeat</a:t>
                      </a:r>
                      <a:endParaRPr/>
                    </a:p>
                    <a:p>
                      <a:pPr marL="0" lvl="0" indent="0" algn="l" rtl="0">
                        <a:spcBef>
                          <a:spcPts val="0"/>
                        </a:spcBef>
                        <a:spcAft>
                          <a:spcPts val="0"/>
                        </a:spcAft>
                        <a:buNone/>
                        <a:defRPr/>
                      </a:pPr>
                      <a:r>
                        <a:rPr lang="en-GB"/>
                        <a:t>     i = i + 1</a:t>
                      </a:r>
                      <a:endParaRPr/>
                    </a:p>
                    <a:p>
                      <a:pPr marL="0" lvl="0" indent="0" algn="l" rtl="0">
                        <a:spcBef>
                          <a:spcPts val="0"/>
                        </a:spcBef>
                        <a:spcAft>
                          <a:spcPts val="0"/>
                        </a:spcAft>
                        <a:buNone/>
                        <a:defRPr/>
                      </a:pPr>
                      <a:r>
                        <a:rPr lang="en-GB"/>
                        <a:t>Until (N Mod i) = 0 </a:t>
                      </a:r>
                      <a:endParaRPr/>
                    </a:p>
                    <a:p>
                      <a:pPr marL="0" lvl="0" indent="0" algn="l" rtl="0">
                        <a:spcBef>
                          <a:spcPts val="0"/>
                        </a:spcBef>
                        <a:spcAft>
                          <a:spcPts val="0"/>
                        </a:spcAft>
                        <a:buNone/>
                        <a:defRPr/>
                      </a:pPr>
                      <a:r>
                        <a:rPr lang="en-GB"/>
                        <a:t>Return i</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1687234" name="Google Shape;151;p2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088867113" name="Google Shape;152;p23"/>
          <p:cNvSpPr txBox="1"/>
          <p:nvPr/>
        </p:nvSpPr>
        <p:spPr bwMode="auto">
          <a:xfrm>
            <a:off x="194250" y="233250"/>
            <a:ext cx="7053600" cy="1001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2115239764" name="Google Shape;153;p23"/>
          <p:cNvPicPr/>
          <p:nvPr/>
        </p:nvPicPr>
        <p:blipFill rotWithShape="1">
          <a:blip r:embed="rId3">
            <a:alphaModFix/>
          </a:blip>
          <a:stretch/>
        </p:blipFill>
        <p:spPr bwMode="auto">
          <a:xfrm rot="5400000">
            <a:off x="1180962" y="-88039"/>
            <a:ext cx="5001999" cy="6669327"/>
          </a:xfrm>
          <a:prstGeom prst="rect">
            <a:avLst/>
          </a:prstGeom>
          <a:noFill/>
          <a:ln>
            <a:noFill/>
          </a:ln>
        </p:spPr>
      </p:pic>
      <p:sp>
        <p:nvSpPr>
          <p:cNvPr id="957406008" name="Google Shape;154;p23"/>
          <p:cNvSpPr txBox="1"/>
          <p:nvPr/>
        </p:nvSpPr>
        <p:spPr bwMode="auto">
          <a:xfrm>
            <a:off x="335475" y="5988450"/>
            <a:ext cx="6693000" cy="40575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9942277" name="Google Shape;159;p2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2022080818" name="Google Shape;160;p24"/>
          <p:cNvSpPr txBox="1"/>
          <p:nvPr/>
        </p:nvSpPr>
        <p:spPr bwMode="auto">
          <a:xfrm>
            <a:off x="194250" y="233250"/>
            <a:ext cx="7053600" cy="1001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785572649" name="Google Shape;161;p24"/>
          <p:cNvPicPr/>
          <p:nvPr/>
        </p:nvPicPr>
        <p:blipFill rotWithShape="1">
          <a:blip r:embed="rId3">
            <a:alphaModFix/>
          </a:blip>
          <a:srcRect l="0" t="0" r="4798" b="0"/>
          <a:stretch/>
        </p:blipFill>
        <p:spPr bwMode="auto">
          <a:xfrm rot="-5400000">
            <a:off x="1296876" y="-347238"/>
            <a:ext cx="4848349" cy="6790226"/>
          </a:xfrm>
          <a:prstGeom prst="rect">
            <a:avLst/>
          </a:prstGeom>
          <a:noFill/>
          <a:ln>
            <a:noFill/>
          </a:ln>
        </p:spPr>
      </p:pic>
      <p:sp>
        <p:nvSpPr>
          <p:cNvPr id="454814254" name="Google Shape;162;p24"/>
          <p:cNvSpPr txBox="1"/>
          <p:nvPr/>
        </p:nvSpPr>
        <p:spPr bwMode="auto">
          <a:xfrm>
            <a:off x="335475" y="5988450"/>
            <a:ext cx="6693000" cy="40575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4226621" name="Google Shape;167;p2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pic>
        <p:nvPicPr>
          <p:cNvPr id="708184628" name="Google Shape;168;p25"/>
          <p:cNvPicPr/>
          <p:nvPr/>
        </p:nvPicPr>
        <p:blipFill rotWithShape="1">
          <a:blip r:embed="rId3">
            <a:alphaModFix/>
          </a:blip>
          <a:stretch/>
        </p:blipFill>
        <p:spPr bwMode="auto">
          <a:xfrm>
            <a:off x="257700" y="909174"/>
            <a:ext cx="7044600" cy="4895983"/>
          </a:xfrm>
          <a:prstGeom prst="rect">
            <a:avLst/>
          </a:prstGeom>
          <a:noFill/>
          <a:ln>
            <a:noFill/>
          </a:ln>
        </p:spPr>
      </p:pic>
      <p:sp>
        <p:nvSpPr>
          <p:cNvPr id="537188670" name="Google Shape;169;p25"/>
          <p:cNvSpPr txBox="1"/>
          <p:nvPr/>
        </p:nvSpPr>
        <p:spPr bwMode="auto">
          <a:xfrm>
            <a:off x="257700" y="207645"/>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4.4.4.3 Order of complexity</a:t>
            </a:r>
            <a:endParaRPr sz="1800" b="1">
              <a:solidFill>
                <a:srgbClr val="000000"/>
              </a:solidFill>
            </a:endParaRPr>
          </a:p>
        </p:txBody>
      </p:sp>
      <p:sp>
        <p:nvSpPr>
          <p:cNvPr id="436586394" name="Google Shape;170;p25"/>
          <p:cNvSpPr txBox="1"/>
          <p:nvPr/>
        </p:nvSpPr>
        <p:spPr bwMode="auto">
          <a:xfrm>
            <a:off x="194250" y="5980775"/>
            <a:ext cx="7053600" cy="34671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361372386" name="Google Shape;171;p25"/>
          <p:cNvSpPr txBox="1"/>
          <p:nvPr/>
        </p:nvSpPr>
        <p:spPr bwMode="auto">
          <a:xfrm>
            <a:off x="374550" y="6303825"/>
            <a:ext cx="6693000" cy="28599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3375635" name="Google Shape;172;p25"/>
          <p:cNvSpPr txBox="1"/>
          <p:nvPr/>
        </p:nvSpPr>
        <p:spPr bwMode="auto">
          <a:xfrm>
            <a:off x="194250" y="9281125"/>
            <a:ext cx="2679300" cy="1230599"/>
          </a:xfrm>
          <a:prstGeom prst="rect">
            <a:avLst/>
          </a:prstGeom>
          <a:solidFill>
            <a:srgbClr val="99999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Support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solidFill>
                  <a:srgbClr val="FFFFFF"/>
                </a:solidFill>
              </a:rPr>
              <a:t>Derek Banas</a:t>
            </a:r>
            <a:endParaRPr b="1">
              <a:solidFill>
                <a:srgbClr val="FFFFFF"/>
              </a:solidFill>
            </a:endParaRPr>
          </a:p>
          <a:p>
            <a:pPr marL="0" lvl="0" indent="0" algn="l" rtl="0">
              <a:spcBef>
                <a:spcPts val="0"/>
              </a:spcBef>
              <a:spcAft>
                <a:spcPts val="0"/>
              </a:spcAft>
              <a:buNone/>
              <a:defRPr/>
            </a:pPr>
            <a:endParaRPr b="1">
              <a:solidFill>
                <a:srgbClr val="FFFFFF"/>
              </a:solidFill>
            </a:endParaRPr>
          </a:p>
          <a:p>
            <a:pPr marL="0" lvl="0" indent="0" algn="l" rtl="0">
              <a:spcBef>
                <a:spcPts val="0"/>
              </a:spcBef>
              <a:spcAft>
                <a:spcPts val="0"/>
              </a:spcAft>
              <a:buNone/>
              <a:defRPr/>
            </a:pPr>
            <a:r>
              <a:rPr lang="en-GB" b="1" u="sng">
                <a:solidFill>
                  <a:schemeClr val="hlink"/>
                </a:solidFill>
                <a:highlight>
                  <a:srgbClr val="000000"/>
                </a:highlight>
                <a:hlinkClick r:id="rId4" tooltip=""/>
              </a:rPr>
              <a:t>Video 1</a:t>
            </a:r>
            <a:r>
              <a:rPr lang="en-GB" b="1">
                <a:solidFill>
                  <a:srgbClr val="FFFFFF"/>
                </a:solidFill>
                <a:highlight>
                  <a:srgbClr val="000000"/>
                </a:highlight>
              </a:rPr>
              <a:t>			</a:t>
            </a:r>
            <a:endParaRPr b="1">
              <a:solidFill>
                <a:srgbClr val="FFFFFF"/>
              </a:solidFill>
              <a:highlight>
                <a:srgbClr val="000000"/>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17833597" name="Google Shape;177;p2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218264102" name="Google Shape;178;p26"/>
          <p:cNvSpPr txBox="1"/>
          <p:nvPr/>
        </p:nvSpPr>
        <p:spPr bwMode="auto">
          <a:xfrm>
            <a:off x="194250" y="233250"/>
            <a:ext cx="7053600" cy="1001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1502706352" name="Google Shape;179;p26"/>
          <p:cNvPicPr/>
          <p:nvPr/>
        </p:nvPicPr>
        <p:blipFill rotWithShape="1">
          <a:blip r:embed="rId3">
            <a:alphaModFix/>
          </a:blip>
          <a:stretch/>
        </p:blipFill>
        <p:spPr bwMode="auto">
          <a:xfrm>
            <a:off x="430000" y="842925"/>
            <a:ext cx="6699988" cy="1362550"/>
          </a:xfrm>
          <a:prstGeom prst="rect">
            <a:avLst/>
          </a:prstGeom>
          <a:noFill/>
          <a:ln>
            <a:noFill/>
          </a:ln>
        </p:spPr>
      </p:pic>
      <p:sp>
        <p:nvSpPr>
          <p:cNvPr id="1930993448" name="Google Shape;180;p26"/>
          <p:cNvSpPr txBox="1"/>
          <p:nvPr/>
        </p:nvSpPr>
        <p:spPr bwMode="auto">
          <a:xfrm>
            <a:off x="374550" y="2355300"/>
            <a:ext cx="6693000" cy="3302699"/>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170000</a:t>
            </a:r>
            <a:endParaRPr lang="en"/>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5355297" name="Google Shape;185;p2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766025638" name="Google Shape;186;p27"/>
          <p:cNvSpPr txBox="1"/>
          <p:nvPr/>
        </p:nvSpPr>
        <p:spPr bwMode="auto">
          <a:xfrm>
            <a:off x="194250" y="233250"/>
            <a:ext cx="7053600" cy="1001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599215929" name="Google Shape;187;p27"/>
          <p:cNvSpPr txBox="1"/>
          <p:nvPr/>
        </p:nvSpPr>
        <p:spPr bwMode="auto">
          <a:xfrm>
            <a:off x="335475" y="4276800"/>
            <a:ext cx="6693000" cy="57693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f</a:t>
            </a:r>
            <a:r>
              <a:rPr lang="en" baseline="-25000"/>
              <a:t>k</a:t>
            </a:r>
            <a:r>
              <a:rPr lang="en"/>
              <a:t>(n) = c</a:t>
            </a:r>
            <a:r>
              <a:rPr lang="en" baseline="-25000"/>
              <a:t>k</a:t>
            </a:r>
            <a:r>
              <a:rPr lang="en"/>
              <a:t>n</a:t>
            </a:r>
            <a:endParaRPr lang="en"/>
          </a:p>
          <a:p>
            <a:pPr marL="0" lvl="0" indent="0" algn="l" rtl="0">
              <a:spcBef>
                <a:spcPts val="0"/>
              </a:spcBef>
              <a:spcAft>
                <a:spcPts val="0"/>
              </a:spcAft>
              <a:buNone/>
              <a:defRPr/>
            </a:pPr>
            <a:endParaRPr lang="en"/>
          </a:p>
          <a:p>
            <a:pPr marL="0" lvl="0" indent="0" algn="l" rtl="0">
              <a:spcBef>
                <a:spcPts val="0"/>
              </a:spcBef>
              <a:spcAft>
                <a:spcPts val="0"/>
              </a:spcAft>
              <a:buNone/>
              <a:defRPr/>
            </a:pPr>
            <a:r>
              <a:rPr lang="en"/>
              <a:t>f</a:t>
            </a:r>
            <a:r>
              <a:rPr lang="en" baseline="-25000"/>
              <a:t>k</a:t>
            </a:r>
            <a:r>
              <a:rPr lang="en"/>
              <a:t>(n) = n</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B)</a:t>
            </a:r>
            <a:endParaRPr lang="en"/>
          </a:p>
          <a:p>
            <a:pPr marL="0" lvl="0" indent="0" algn="l" rtl="0">
              <a:spcBef>
                <a:spcPts val="0"/>
              </a:spcBef>
              <a:spcAft>
                <a:spcPts val="0"/>
              </a:spcAft>
              <a:buNone/>
              <a:defRPr/>
            </a:pPr>
            <a:r>
              <a:rPr lang="en"/>
              <a:t>constant</a:t>
            </a:r>
            <a:endParaRPr/>
          </a:p>
          <a:p>
            <a:pPr marL="0" lvl="0" indent="0" algn="l" rtl="0">
              <a:spcBef>
                <a:spcPts val="0"/>
              </a:spcBef>
              <a:spcAft>
                <a:spcPts val="0"/>
              </a:spcAft>
              <a:buNone/>
              <a:defRPr/>
            </a:pPr>
            <a:r>
              <a:rPr lang="en"/>
              <a:t>Excellent</a:t>
            </a:r>
            <a:endParaRPr lang="en"/>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1933295078" name="Google Shape;188;p27"/>
          <p:cNvPicPr/>
          <p:nvPr/>
        </p:nvPicPr>
        <p:blipFill rotWithShape="1">
          <a:blip r:embed="rId3">
            <a:alphaModFix/>
          </a:blip>
          <a:srcRect l="0" t="28306" r="0" b="6605"/>
          <a:stretch/>
        </p:blipFill>
        <p:spPr bwMode="auto">
          <a:xfrm rot="10800000">
            <a:off x="380551" y="735077"/>
            <a:ext cx="6798899" cy="331897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5729678" name="Google Shape;193;p2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217694392" name="Google Shape;194;p28"/>
          <p:cNvSpPr txBox="1"/>
          <p:nvPr/>
        </p:nvSpPr>
        <p:spPr bwMode="auto">
          <a:xfrm>
            <a:off x="194250" y="233250"/>
            <a:ext cx="7053600" cy="1001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774312049" name="Google Shape;195;p28"/>
          <p:cNvSpPr txBox="1"/>
          <p:nvPr/>
        </p:nvSpPr>
        <p:spPr bwMode="auto">
          <a:xfrm>
            <a:off x="335475" y="2650725"/>
            <a:ext cx="6693000" cy="73953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2</a:t>
            </a:r>
            <a:r>
              <a:rPr lang="en" baseline="30000"/>
              <a:t>n</a:t>
            </a:r>
            <a:r>
              <a:rPr lang="en"/>
              <a:t> // </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Exponential - Horrible</a:t>
            </a:r>
            <a:endParaRPr lang="en"/>
          </a:p>
          <a:p>
            <a:pPr marL="0" lvl="0" indent="0" algn="l" rtl="0">
              <a:spcBef>
                <a:spcPts val="0"/>
              </a:spcBef>
              <a:spcAft>
                <a:spcPts val="0"/>
              </a:spcAft>
              <a:buNone/>
              <a:defRPr/>
            </a:pPr>
            <a:endParaRPr lang="en"/>
          </a:p>
          <a:p>
            <a:pPr marL="0" lvl="0" indent="0" algn="l" rtl="0">
              <a:spcBef>
                <a:spcPts val="0"/>
              </a:spcBef>
              <a:spcAft>
                <a:spcPts val="0"/>
              </a:spcAft>
              <a:buNone/>
              <a:defRPr/>
            </a:pPr>
            <a:r>
              <a:rPr lang="en"/>
              <a:t>29 //</a:t>
            </a:r>
            <a:endParaRPr/>
          </a:p>
          <a:p>
            <a:pPr marL="0" lvl="0" indent="0" algn="l" rtl="0">
              <a:spcBef>
                <a:spcPts val="0"/>
              </a:spcBef>
              <a:spcAft>
                <a:spcPts val="0"/>
              </a:spcAft>
              <a:buNone/>
              <a:defRPr/>
            </a:pPr>
            <a:endParaRPr lang="en"/>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1917630001" name="Google Shape;196;p28"/>
          <p:cNvPicPr/>
          <p:nvPr/>
        </p:nvPicPr>
        <p:blipFill rotWithShape="1">
          <a:blip r:embed="rId3">
            <a:alphaModFix/>
          </a:blip>
          <a:srcRect l="0" t="-85" r="0" b="70817"/>
          <a:stretch/>
        </p:blipFill>
        <p:spPr bwMode="auto">
          <a:xfrm rot="10800000">
            <a:off x="282526" y="891001"/>
            <a:ext cx="6798899" cy="149242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5638457" name="Google Shape;201;p29"/>
          <p:cNvSpPr txBox="1"/>
          <p:nvPr/>
        </p:nvSpPr>
        <p:spPr bwMode="auto">
          <a:xfrm>
            <a:off x="194250" y="233250"/>
            <a:ext cx="7053600" cy="1001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521764464" name="Google Shape;202;p29"/>
          <p:cNvSpPr txBox="1"/>
          <p:nvPr/>
        </p:nvSpPr>
        <p:spPr bwMode="auto">
          <a:xfrm>
            <a:off x="335475" y="5591025"/>
            <a:ext cx="6693000" cy="44550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(N-2)*n</a:t>
            </a:r>
            <a:endParaRPr lang="en"/>
          </a:p>
          <a:p>
            <a:pPr marL="0" lvl="0" indent="0" algn="l" rtl="0">
              <a:spcBef>
                <a:spcPts val="0"/>
              </a:spcBef>
              <a:spcAft>
                <a:spcPts val="0"/>
              </a:spcAft>
              <a:buNone/>
              <a:defRPr/>
            </a:pPr>
            <a:r>
              <a:rPr lang="en"/>
              <a:t>N^2</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A)4</a:t>
            </a:r>
            <a:r>
              <a:rPr lang="en"/>
              <a:t> //</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B)</a:t>
            </a:r>
            <a:endParaRPr lang="en"/>
          </a:p>
          <a:p>
            <a:pPr marL="0" lvl="0" indent="0" algn="l" rtl="0">
              <a:spcBef>
                <a:spcPts val="0"/>
              </a:spcBef>
              <a:spcAft>
                <a:spcPts val="0"/>
              </a:spcAft>
              <a:buNone/>
              <a:defRPr/>
            </a:pPr>
            <a:r>
              <a:rPr lang="en"/>
              <a:t>O(n) - drawing</a:t>
            </a:r>
            <a:endParaRPr lang="en"/>
          </a:p>
          <a:p>
            <a:pPr marL="0" lvl="0" indent="0" algn="l" rtl="0">
              <a:spcBef>
                <a:spcPts val="0"/>
              </a:spcBef>
              <a:spcAft>
                <a:spcPts val="0"/>
              </a:spcAft>
              <a:buNone/>
              <a:defRPr/>
            </a:pPr>
            <a:r>
              <a:rPr lang="en"/>
              <a:t>O(log(2n)) - folding</a:t>
            </a:r>
            <a:endParaRPr lang="en"/>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182206560" name="Google Shape;203;p2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pic>
        <p:nvPicPr>
          <p:cNvPr id="1129861064" name="Google Shape;204;p29"/>
          <p:cNvPicPr/>
          <p:nvPr/>
        </p:nvPicPr>
        <p:blipFill rotWithShape="1">
          <a:blip r:embed="rId3">
            <a:alphaModFix/>
          </a:blip>
          <a:srcRect l="0" t="0" r="0" b="3754"/>
          <a:stretch/>
        </p:blipFill>
        <p:spPr bwMode="auto">
          <a:xfrm rot="10800000">
            <a:off x="335474" y="645973"/>
            <a:ext cx="6695926" cy="483367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9984865" name="Google Shape;209;p3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059417793" name="Google Shape;210;p30"/>
          <p:cNvSpPr txBox="1"/>
          <p:nvPr/>
        </p:nvSpPr>
        <p:spPr bwMode="auto">
          <a:xfrm>
            <a:off x="194250" y="233250"/>
            <a:ext cx="7053600" cy="1001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Exam style </a:t>
            </a:r>
            <a:r>
              <a:rPr lang="en-GB" b="1"/>
              <a:t>Questions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644389203" name="Google Shape;211;p30"/>
          <p:cNvSpPr txBox="1"/>
          <p:nvPr/>
        </p:nvSpPr>
        <p:spPr bwMode="auto">
          <a:xfrm>
            <a:off x="335475" y="6816150"/>
            <a:ext cx="6693000" cy="32301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1)n^2</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2)</a:t>
            </a:r>
            <a:endParaRPr lang="en"/>
          </a:p>
          <a:p>
            <a:pPr marL="639871" lvl="1" indent="-239821" algn="l" rtl="0">
              <a:spcBef>
                <a:spcPts val="0"/>
              </a:spcBef>
              <a:spcAft>
                <a:spcPts val="0"/>
              </a:spcAft>
              <a:buAutoNum type="alphaUcParenR"/>
              <a:defRPr/>
            </a:pPr>
            <a:endParaRPr/>
          </a:p>
        </p:txBody>
      </p:sp>
      <p:pic>
        <p:nvPicPr>
          <p:cNvPr id="1509701946" name="Google Shape;212;p30"/>
          <p:cNvPicPr/>
          <p:nvPr/>
        </p:nvPicPr>
        <p:blipFill rotWithShape="1">
          <a:blip r:embed="rId3">
            <a:alphaModFix/>
          </a:blip>
          <a:stretch/>
        </p:blipFill>
        <p:spPr bwMode="auto">
          <a:xfrm>
            <a:off x="335475" y="642450"/>
            <a:ext cx="6692999" cy="5968068"/>
          </a:xfrm>
          <a:prstGeom prst="rect">
            <a:avLst/>
          </a:prstGeom>
          <a:noFill/>
          <a:ln>
            <a:noFill/>
          </a:ln>
        </p:spPr>
      </p:pic>
      <p:graphicFrame>
        <p:nvGraphicFramePr>
          <p:cNvPr id="584539573" name="Table 6"/>
          <p:cNvGraphicFramePr>
            <a:graphicFrameLocks xmlns:a="http://schemas.openxmlformats.org/drawingml/2006/main"/>
          </p:cNvGraphicFramePr>
          <p:nvPr/>
        </p:nvGraphicFramePr>
        <p:xfrm>
          <a:off x="896317" y="7351172"/>
          <a:ext cx="5040000" cy="1523999"/>
        </p:xfrm>
        <a:graphic>
          <a:graphicData uri="http://schemas.openxmlformats.org/drawingml/2006/table">
            <a:tbl>
              <a:tblPr firstRow="1" firstCol="0" lastRow="0" lastCol="0" bandRow="1" bandCol="0">
                <a:tableStyleId>{0FD3A268-A886-4377-BA4E-BC3C4DBF7F95}</a:tableStyleId>
              </a:tblPr>
              <a:tblGrid>
                <a:gridCol w="839999"/>
                <a:gridCol w="839999"/>
                <a:gridCol w="839999"/>
                <a:gridCol w="839999"/>
                <a:gridCol w="839999"/>
                <a:gridCol w="839999"/>
              </a:tblGrid>
              <a:tr h="304800">
                <a:tc>
                  <a:txBody>
                    <a:bodyPr/>
                    <a:p>
                      <a:pPr>
                        <a:defRPr/>
                      </a:pPr>
                      <a:r>
                        <a:rPr lang="en"/>
                        <a:t>n</a:t>
                      </a:r>
                      <a:endParaRPr/>
                    </a:p>
                  </a:txBody>
                  <a:tcPr/>
                </a:tc>
                <a:tc>
                  <a:txBody>
                    <a:bodyPr/>
                    <a:p>
                      <a:pPr>
                        <a:defRPr/>
                      </a:pPr>
                      <a:r>
                        <a:rPr lang="en"/>
                        <a:t>1</a:t>
                      </a:r>
                      <a:endParaRPr/>
                    </a:p>
                  </a:txBody>
                  <a:tcPr/>
                </a:tc>
                <a:tc>
                  <a:txBody>
                    <a:bodyPr/>
                    <a:p>
                      <a:pPr>
                        <a:defRPr/>
                      </a:pPr>
                      <a:r>
                        <a:rPr lang="en"/>
                        <a:t>2</a:t>
                      </a:r>
                      <a:endParaRPr/>
                    </a:p>
                  </a:txBody>
                  <a:tcPr/>
                </a:tc>
                <a:tc>
                  <a:txBody>
                    <a:bodyPr/>
                    <a:p>
                      <a:pPr>
                        <a:defRPr/>
                      </a:pPr>
                      <a:r>
                        <a:rPr lang="en"/>
                        <a:t>4</a:t>
                      </a:r>
                      <a:endParaRPr/>
                    </a:p>
                  </a:txBody>
                  <a:tcPr/>
                </a:tc>
                <a:tc>
                  <a:txBody>
                    <a:bodyPr/>
                    <a:p>
                      <a:pPr>
                        <a:defRPr/>
                      </a:pPr>
                      <a:r>
                        <a:rPr lang="en"/>
                        <a:t>8</a:t>
                      </a:r>
                      <a:endParaRPr/>
                    </a:p>
                  </a:txBody>
                  <a:tcPr/>
                </a:tc>
                <a:tc>
                  <a:txBody>
                    <a:bodyPr/>
                    <a:p>
                      <a:pPr>
                        <a:defRPr/>
                      </a:pPr>
                      <a:r>
                        <a:rPr lang="en"/>
                        <a:t>12</a:t>
                      </a:r>
                      <a:endParaRPr/>
                    </a:p>
                  </a:txBody>
                  <a:tcPr/>
                </a:tc>
              </a:tr>
              <a:tr h="304800">
                <a:tc>
                  <a:txBody>
                    <a:bodyPr/>
                    <a:p>
                      <a:pPr>
                        <a:defRPr/>
                      </a:pPr>
                      <a:endParaRPr/>
                    </a:p>
                  </a:txBody>
                  <a:tcPr/>
                </a:tc>
                <a:tc>
                  <a:txBody>
                    <a:bodyPr/>
                    <a:p>
                      <a:pPr>
                        <a:defRPr/>
                      </a:pPr>
                      <a:r>
                        <a:rPr lang="en"/>
                        <a:t>1</a:t>
                      </a:r>
                      <a:endParaRPr/>
                    </a:p>
                  </a:txBody>
                  <a:tcPr/>
                </a:tc>
                <a:tc>
                  <a:txBody>
                    <a:bodyPr/>
                    <a:p>
                      <a:pPr>
                        <a:defRPr/>
                      </a:pPr>
                      <a:r>
                        <a:rPr lang="en"/>
                        <a:t>4</a:t>
                      </a:r>
                      <a:endParaRPr/>
                    </a:p>
                  </a:txBody>
                  <a:tcPr/>
                </a:tc>
                <a:tc>
                  <a:txBody>
                    <a:bodyPr/>
                    <a:p>
                      <a:pPr>
                        <a:defRPr/>
                      </a:pPr>
                      <a:r>
                        <a:rPr lang="en"/>
                        <a:t>16</a:t>
                      </a:r>
                      <a:endParaRPr/>
                    </a:p>
                  </a:txBody>
                  <a:tcPr/>
                </a:tc>
                <a:tc>
                  <a:txBody>
                    <a:bodyPr/>
                    <a:p>
                      <a:pPr>
                        <a:defRPr/>
                      </a:pPr>
                      <a:r>
                        <a:rPr lang="en"/>
                        <a:t>64</a:t>
                      </a:r>
                      <a:endParaRPr/>
                    </a:p>
                  </a:txBody>
                  <a:tcPr/>
                </a:tc>
                <a:tc>
                  <a:txBody>
                    <a:bodyPr/>
                    <a:p>
                      <a:pPr>
                        <a:defRPr/>
                      </a:pPr>
                      <a:r>
                        <a:rPr lang="en"/>
                        <a:t>144</a:t>
                      </a:r>
                      <a:endParaRPr/>
                    </a:p>
                  </a:txBody>
                  <a:tcPr/>
                </a:tc>
              </a:tr>
              <a:tr h="304800">
                <a:tc>
                  <a:txBody>
                    <a:bodyPr/>
                    <a:p>
                      <a:pPr>
                        <a:defRPr/>
                      </a:pPr>
                      <a:endParaRPr/>
                    </a:p>
                  </a:txBody>
                  <a:tcPr/>
                </a:tc>
                <a:tc>
                  <a:txBody>
                    <a:bodyPr/>
                    <a:p>
                      <a:pPr>
                        <a:defRPr/>
                      </a:pPr>
                      <a:r>
                        <a:rPr lang="en"/>
                        <a:t>2</a:t>
                      </a:r>
                      <a:endParaRPr/>
                    </a:p>
                  </a:txBody>
                  <a:tcPr/>
                </a:tc>
                <a:tc>
                  <a:txBody>
                    <a:bodyPr/>
                    <a:p>
                      <a:pPr>
                        <a:defRPr/>
                      </a:pPr>
                      <a:r>
                        <a:rPr lang="en"/>
                        <a:t>4</a:t>
                      </a:r>
                      <a:endParaRPr/>
                    </a:p>
                  </a:txBody>
                  <a:tcPr/>
                </a:tc>
                <a:tc>
                  <a:txBody>
                    <a:bodyPr/>
                    <a:p>
                      <a:pPr>
                        <a:defRPr/>
                      </a:pPr>
                      <a:r>
                        <a:rPr lang="en"/>
                        <a:t>16</a:t>
                      </a:r>
                      <a:endParaRPr/>
                    </a:p>
                  </a:txBody>
                  <a:tcPr/>
                </a:tc>
                <a:tc>
                  <a:txBody>
                    <a:bodyPr/>
                    <a:p>
                      <a:pPr>
                        <a:defRPr/>
                      </a:pPr>
                      <a:r>
                        <a:rPr lang="en"/>
                        <a:t>258</a:t>
                      </a:r>
                      <a:endParaRPr/>
                    </a:p>
                  </a:txBody>
                  <a:tcPr/>
                </a:tc>
                <a:tc>
                  <a:txBody>
                    <a:bodyPr/>
                    <a:p>
                      <a:pPr>
                        <a:defRPr/>
                      </a:pPr>
                      <a:r>
                        <a:rPr lang="en"/>
                        <a:t>4096</a:t>
                      </a:r>
                      <a:endParaRPr/>
                    </a:p>
                  </a:txBody>
                  <a:tcPr/>
                </a:tc>
              </a:tr>
              <a:tr h="304800">
                <a:tc>
                  <a:txBody>
                    <a:bodyPr/>
                    <a:p>
                      <a:pPr>
                        <a:defRPr/>
                      </a:pPr>
                      <a:endParaRPr/>
                    </a:p>
                  </a:txBody>
                  <a:tcPr/>
                </a:tc>
                <a:tc>
                  <a:txBody>
                    <a:bodyPr/>
                    <a:p>
                      <a:pPr>
                        <a:defRPr/>
                      </a:pPr>
                      <a:r>
                        <a:rPr lang="en"/>
                        <a:t>0</a:t>
                      </a:r>
                      <a:endParaRPr/>
                    </a:p>
                  </a:txBody>
                  <a:tcPr/>
                </a:tc>
                <a:tc>
                  <a:txBody>
                    <a:bodyPr/>
                    <a:p>
                      <a:pPr>
                        <a:defRPr/>
                      </a:pPr>
                      <a:r>
                        <a:rPr lang="en"/>
                        <a:t>1</a:t>
                      </a:r>
                      <a:endParaRPr/>
                    </a:p>
                  </a:txBody>
                  <a:tcPr/>
                </a:tc>
                <a:tc>
                  <a:txBody>
                    <a:bodyPr/>
                    <a:p>
                      <a:pPr>
                        <a:defRPr/>
                      </a:pPr>
                      <a:r>
                        <a:rPr lang="en"/>
                        <a:t>2</a:t>
                      </a:r>
                      <a:endParaRPr/>
                    </a:p>
                  </a:txBody>
                  <a:tcPr/>
                </a:tc>
                <a:tc>
                  <a:txBody>
                    <a:bodyPr/>
                    <a:p>
                      <a:pPr>
                        <a:defRPr/>
                      </a:pPr>
                      <a:r>
                        <a:rPr lang="en"/>
                        <a:t>3</a:t>
                      </a:r>
                      <a:endParaRPr/>
                    </a:p>
                  </a:txBody>
                  <a:tcPr/>
                </a:tc>
                <a:tc>
                  <a:txBody>
                    <a:bodyPr/>
                    <a:p>
                      <a:pPr>
                        <a:defRPr/>
                      </a:pPr>
                      <a:r>
                        <a:rPr lang="en"/>
                        <a:t>3585</a:t>
                      </a:r>
                      <a:endParaRPr/>
                    </a:p>
                  </a:txBody>
                  <a:tcPr/>
                </a:tc>
              </a:tr>
              <a:tr h="304800">
                <a:tc>
                  <a:txBody>
                    <a:bodyPr/>
                    <a:p>
                      <a:pPr>
                        <a:defRPr/>
                      </a:pPr>
                      <a:endParaRPr/>
                    </a:p>
                  </a:txBody>
                  <a:tcPr/>
                </a:tc>
                <a:tc>
                  <a:txBody>
                    <a:bodyPr/>
                    <a:p>
                      <a:pPr>
                        <a:defRPr/>
                      </a:pPr>
                      <a:r>
                        <a:rPr lang="en"/>
                        <a:t>1</a:t>
                      </a:r>
                      <a:endParaRPr/>
                    </a:p>
                  </a:txBody>
                  <a:tcPr/>
                </a:tc>
                <a:tc>
                  <a:txBody>
                    <a:bodyPr/>
                    <a:p>
                      <a:pPr>
                        <a:defRPr/>
                      </a:pPr>
                      <a:r>
                        <a:rPr lang="en"/>
                        <a:t>2</a:t>
                      </a:r>
                      <a:endParaRPr/>
                    </a:p>
                  </a:txBody>
                  <a:tcPr/>
                </a:tc>
                <a:tc>
                  <a:txBody>
                    <a:bodyPr/>
                    <a:p>
                      <a:pPr>
                        <a:defRPr/>
                      </a:pPr>
                      <a:r>
                        <a:rPr lang="en"/>
                        <a:t>24</a:t>
                      </a:r>
                      <a:endParaRPr/>
                    </a:p>
                  </a:txBody>
                  <a:tcPr/>
                </a:tc>
                <a:tc>
                  <a:txBody>
                    <a:bodyPr/>
                    <a:p>
                      <a:pPr>
                        <a:defRPr/>
                      </a:pPr>
                      <a:r>
                        <a:rPr lang="en"/>
                        <a:t>40320</a:t>
                      </a:r>
                      <a:endParaRPr/>
                    </a:p>
                  </a:txBody>
                  <a:tcPr/>
                </a:tc>
                <a:tc>
                  <a:txBody>
                    <a:bodyPr/>
                    <a:p>
                      <a:pPr>
                        <a:defRPr/>
                      </a:pPr>
                      <a:r>
                        <a:rPr lang="en"/>
                        <a:t>579001600</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5870839" name="Google Shape;217;p3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719705851" name="Google Shape;218;p31"/>
          <p:cNvSpPr txBox="1"/>
          <p:nvPr/>
        </p:nvSpPr>
        <p:spPr bwMode="auto">
          <a:xfrm>
            <a:off x="194250" y="233250"/>
            <a:ext cx="7053600" cy="1001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Exam style Questions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740938817" name="Google Shape;219;p31"/>
          <p:cNvSpPr txBox="1"/>
          <p:nvPr/>
        </p:nvSpPr>
        <p:spPr bwMode="auto">
          <a:xfrm>
            <a:off x="335475" y="668250"/>
            <a:ext cx="6693000" cy="93780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5578431" name="Google Shape;224;p3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pic>
        <p:nvPicPr>
          <p:cNvPr id="572458900" name="Google Shape;225;p32"/>
          <p:cNvPicPr/>
          <p:nvPr/>
        </p:nvPicPr>
        <p:blipFill rotWithShape="1">
          <a:blip r:embed="rId3">
            <a:alphaModFix/>
          </a:blip>
          <a:stretch/>
        </p:blipFill>
        <p:spPr bwMode="auto">
          <a:xfrm>
            <a:off x="152400" y="152400"/>
            <a:ext cx="7255201" cy="5301204"/>
          </a:xfrm>
          <a:prstGeom prst="rect">
            <a:avLst/>
          </a:prstGeom>
          <a:noFill/>
          <a:ln>
            <a:noFill/>
          </a:ln>
        </p:spPr>
      </p:pic>
      <p:pic>
        <p:nvPicPr>
          <p:cNvPr id="1692121060" name="Google Shape;226;p32"/>
          <p:cNvPicPr/>
          <p:nvPr/>
        </p:nvPicPr>
        <p:blipFill rotWithShape="1">
          <a:blip r:embed="rId4">
            <a:alphaModFix/>
          </a:blip>
          <a:srcRect l="0" t="0" r="0" b="51162"/>
          <a:stretch/>
        </p:blipFill>
        <p:spPr bwMode="auto">
          <a:xfrm>
            <a:off x="263775" y="5453600"/>
            <a:ext cx="7255201" cy="335188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7376812" name="Google Shape;231;p3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pic>
        <p:nvPicPr>
          <p:cNvPr id="752126940" name="Google Shape;232;p33"/>
          <p:cNvPicPr/>
          <p:nvPr/>
        </p:nvPicPr>
        <p:blipFill rotWithShape="1">
          <a:blip r:embed="rId3">
            <a:alphaModFix/>
          </a:blip>
          <a:srcRect l="0" t="47031" r="0" b="0"/>
          <a:stretch/>
        </p:blipFill>
        <p:spPr bwMode="auto">
          <a:xfrm>
            <a:off x="152400" y="178200"/>
            <a:ext cx="7305999" cy="366077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2994677" name="Google Shape;237;p3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938716941" name="Google Shape;238;p34"/>
          <p:cNvSpPr txBox="1"/>
          <p:nvPr/>
        </p:nvSpPr>
        <p:spPr bwMode="auto">
          <a:xfrm>
            <a:off x="375450" y="176650"/>
            <a:ext cx="6809100" cy="3855000"/>
          </a:xfrm>
          <a:prstGeom prst="rect">
            <a:avLst/>
          </a:prstGeom>
          <a:solidFill>
            <a:srgbClr val="EFEFEF"/>
          </a:solidFill>
          <a:ln>
            <a:noFill/>
          </a:ln>
        </p:spPr>
        <p:txBody>
          <a:bodyPr spcFirstLastPara="1" wrap="square" lIns="64650" tIns="64650" rIns="64650" bIns="64650" anchor="t" anchorCtr="0">
            <a:noAutofit/>
          </a:bodyPr>
          <a:lstStyle/>
          <a:p>
            <a:pPr marL="0" lvl="0" indent="0" algn="l" rtl="0">
              <a:spcBef>
                <a:spcPts val="0"/>
              </a:spcBef>
              <a:spcAft>
                <a:spcPts val="0"/>
              </a:spcAft>
              <a:buNone/>
              <a:defRPr/>
            </a:pPr>
            <a:r>
              <a:rPr lang="en-GB" b="1"/>
              <a:t>Useful links</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u="sng">
                <a:solidFill>
                  <a:schemeClr val="hlink"/>
                </a:solidFill>
                <a:hlinkClick r:id="rId3" tooltip=""/>
              </a:rPr>
              <a:t>Playlist 1 </a:t>
            </a:r>
            <a:r>
              <a:rPr lang="en-GB" b="1"/>
              <a:t>- Craig N Dave Classification Youtube playlist - videos 1 to 4</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b="1" u="sng">
                <a:solidFill>
                  <a:schemeClr val="hlink"/>
                </a:solidFill>
                <a:hlinkClick r:id="rId4" tooltip=""/>
              </a:rPr>
              <a:t>Website 1</a:t>
            </a:r>
            <a:r>
              <a:rPr lang="en-GB" b="1"/>
              <a:t> - A level Computer Science Wikibook</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b="1" u="sng">
                <a:solidFill>
                  <a:schemeClr val="hlink"/>
                </a:solidFill>
                <a:hlinkClick r:id="rId5" tooltip=""/>
              </a:rPr>
              <a:t>Website 2 </a:t>
            </a:r>
            <a:r>
              <a:rPr lang="en-GB" b="1"/>
              <a:t>- Isaac Computer Science website - Sections 4.4.4.1 to 4.4.4.3</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p:txBody>
      </p:sp>
      <p:graphicFrame>
        <p:nvGraphicFramePr>
          <p:cNvPr id="1988712513" name="Google Shape;239;p34"/>
          <p:cNvGraphicFramePr>
            <a:graphicFrameLocks xmlns:a="http://schemas.openxmlformats.org/drawingml/2006/main"/>
          </p:cNvGraphicFramePr>
          <p:nvPr/>
        </p:nvGraphicFramePr>
        <p:xfrm rot="0">
          <a:off x="1967200" y="2103025"/>
          <a:ext cx="3000000" cy="3000000"/>
        </p:xfrm>
        <a:graphic>
          <a:graphicData uri="http://schemas.openxmlformats.org/drawingml/2006/table">
            <a:tbl>
              <a:tblPr firstRow="0" firstCol="0" lastRow="0" lastCol="0" bandRow="0" bandCol="0">
                <a:tableStyleId>{4EF08538-9979-4E1A-95A5-08F3DC32C289}</a:tableStyleId>
                <a:noFill/>
              </a:tblPr>
              <a:tblGrid>
                <a:gridCol w="1234875"/>
                <a:gridCol w="1234875"/>
                <a:gridCol w="1234875"/>
              </a:tblGrid>
              <a:tr h="453650">
                <a:tc>
                  <a:txBody>
                    <a:bodyPr/>
                    <a:p>
                      <a:pPr marL="0" lvl="0" indent="0" algn="ctr" rtl="0">
                        <a:spcBef>
                          <a:spcPts val="0"/>
                        </a:spcBef>
                        <a:spcAft>
                          <a:spcPts val="0"/>
                        </a:spcAft>
                        <a:buNone/>
                        <a:defRPr/>
                      </a:pPr>
                      <a:r>
                        <a:rPr lang="en-GB"/>
                        <a:t>Playlist 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ctr" rtl="0">
                        <a:spcBef>
                          <a:spcPts val="0"/>
                        </a:spcBef>
                        <a:spcAft>
                          <a:spcPts val="0"/>
                        </a:spcAft>
                        <a:buNone/>
                        <a:defRPr/>
                      </a:pPr>
                      <a:r>
                        <a:rPr lang="en-GB"/>
                        <a:t>Website</a:t>
                      </a:r>
                      <a:r>
                        <a:rPr lang="en-GB"/>
                        <a:t> 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ctr" rtl="0">
                        <a:spcBef>
                          <a:spcPts val="0"/>
                        </a:spcBef>
                        <a:spcAft>
                          <a:spcPts val="0"/>
                        </a:spcAft>
                        <a:buNone/>
                        <a:defRPr/>
                      </a:pPr>
                      <a:r>
                        <a:rPr lang="en-GB"/>
                        <a:t>Website</a:t>
                      </a:r>
                      <a:r>
                        <a:rPr lang="en-GB"/>
                        <a:t> 2</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r>
              <a:tr h="1230800">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r>
            </a:tbl>
          </a:graphicData>
        </a:graphic>
      </p:graphicFrame>
      <p:pic>
        <p:nvPicPr>
          <p:cNvPr id="2022674267" name="Google Shape;240;p34"/>
          <p:cNvPicPr/>
          <p:nvPr/>
        </p:nvPicPr>
        <p:blipFill rotWithShape="1">
          <a:blip r:embed="rId6">
            <a:alphaModFix/>
          </a:blip>
          <a:stretch/>
        </p:blipFill>
        <p:spPr bwMode="auto">
          <a:xfrm>
            <a:off x="3255013" y="2636400"/>
            <a:ext cx="1129000" cy="1131664"/>
          </a:xfrm>
          <a:prstGeom prst="rect">
            <a:avLst/>
          </a:prstGeom>
          <a:noFill/>
          <a:ln>
            <a:noFill/>
          </a:ln>
        </p:spPr>
      </p:pic>
      <p:pic>
        <p:nvPicPr>
          <p:cNvPr id="206960328" name="Google Shape;241;p34"/>
          <p:cNvPicPr/>
          <p:nvPr/>
        </p:nvPicPr>
        <p:blipFill rotWithShape="1">
          <a:blip r:embed="rId7">
            <a:alphaModFix/>
          </a:blip>
          <a:stretch/>
        </p:blipFill>
        <p:spPr bwMode="auto">
          <a:xfrm>
            <a:off x="4465800" y="2596925"/>
            <a:ext cx="1129000" cy="1117867"/>
          </a:xfrm>
          <a:prstGeom prst="rect">
            <a:avLst/>
          </a:prstGeom>
          <a:noFill/>
          <a:ln>
            <a:noFill/>
          </a:ln>
        </p:spPr>
      </p:pic>
      <p:pic>
        <p:nvPicPr>
          <p:cNvPr id="911381728" name="Google Shape;242;p34"/>
          <p:cNvPicPr/>
          <p:nvPr/>
        </p:nvPicPr>
        <p:blipFill rotWithShape="1">
          <a:blip r:embed="rId8">
            <a:alphaModFix/>
          </a:blip>
          <a:stretch/>
        </p:blipFill>
        <p:spPr bwMode="auto">
          <a:xfrm>
            <a:off x="2044225" y="2603824"/>
            <a:ext cx="1129000" cy="1140048"/>
          </a:xfrm>
          <a:prstGeom prst="rect">
            <a:avLst/>
          </a:prstGeom>
          <a:noFill/>
          <a:ln>
            <a:noFill/>
          </a:ln>
        </p:spPr>
      </p:pic>
      <p:graphicFrame>
        <p:nvGraphicFramePr>
          <p:cNvPr id="825687508" name="Google Shape;243;p34"/>
          <p:cNvGraphicFramePr>
            <a:graphicFrameLocks xmlns:a="http://schemas.openxmlformats.org/drawingml/2006/main"/>
          </p:cNvGraphicFramePr>
          <p:nvPr/>
        </p:nvGraphicFramePr>
        <p:xfrm rot="0">
          <a:off x="375450" y="4917325"/>
          <a:ext cx="3000000" cy="3000000"/>
        </p:xfrm>
        <a:graphic>
          <a:graphicData uri="http://schemas.openxmlformats.org/drawingml/2006/table">
            <a:tbl>
              <a:tblPr firstRow="0" firstCol="0" lastRow="0" lastCol="0" bandRow="0" bandCol="0">
                <a:tableStyleId>{4EF08538-9979-4E1A-95A5-08F3DC32C289}</a:tableStyleId>
                <a:noFill/>
              </a:tblPr>
              <a:tblGrid>
                <a:gridCol w="4711450"/>
                <a:gridCol w="612400"/>
                <a:gridCol w="612400"/>
                <a:gridCol w="612400"/>
              </a:tblGrid>
              <a:tr h="377350">
                <a:tc>
                  <a:txBody>
                    <a:bodyPr/>
                    <a:p>
                      <a:pPr marL="0" lvl="0" indent="0" algn="l" rtl="0">
                        <a:spcBef>
                          <a:spcPts val="0"/>
                        </a:spcBef>
                        <a:spcAft>
                          <a:spcPts val="0"/>
                        </a:spcAft>
                        <a:buNone/>
                        <a:defRPr/>
                      </a:pPr>
                      <a:r>
                        <a:rPr lang="en-GB" b="1"/>
                        <a:t>Objective</a:t>
                      </a:r>
                      <a:endParaRPr b="1"/>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ctr" rtl="0">
                        <a:spcBef>
                          <a:spcPts val="0"/>
                        </a:spcBef>
                        <a:spcAft>
                          <a:spcPts val="0"/>
                        </a:spcAft>
                        <a:buNone/>
                        <a:defRPr/>
                      </a:pPr>
                      <a:r>
                        <a:rPr lang="en-GB" b="1"/>
                        <a:t>R</a:t>
                      </a:r>
                      <a:endParaRPr b="1"/>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solidFill>
                      <a:srgbClr val="FF0000"/>
                    </a:solidFill>
                  </a:tcPr>
                </a:tc>
                <a:tc>
                  <a:txBody>
                    <a:bodyPr/>
                    <a:p>
                      <a:pPr marL="0" lvl="0" indent="0" algn="ctr" rtl="0">
                        <a:spcBef>
                          <a:spcPts val="0"/>
                        </a:spcBef>
                        <a:spcAft>
                          <a:spcPts val="0"/>
                        </a:spcAft>
                        <a:buNone/>
                        <a:defRPr/>
                      </a:pPr>
                      <a:r>
                        <a:rPr lang="en-GB" b="1"/>
                        <a:t>A</a:t>
                      </a:r>
                      <a:endParaRPr b="1"/>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solidFill>
                      <a:srgbClr val="FFFF00"/>
                    </a:solidFill>
                  </a:tcPr>
                </a:tc>
                <a:tc>
                  <a:txBody>
                    <a:bodyPr/>
                    <a:p>
                      <a:pPr marL="0" lvl="0" indent="0" algn="ctr" rtl="0">
                        <a:spcBef>
                          <a:spcPts val="0"/>
                        </a:spcBef>
                        <a:spcAft>
                          <a:spcPts val="0"/>
                        </a:spcAft>
                        <a:buNone/>
                        <a:defRPr/>
                      </a:pPr>
                      <a:r>
                        <a:rPr lang="en-GB" b="1"/>
                        <a:t>G</a:t>
                      </a:r>
                      <a:endParaRPr b="1"/>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solidFill>
                      <a:srgbClr val="00FF00"/>
                    </a:solidFill>
                  </a:tcPr>
                </a:tc>
              </a:tr>
              <a:tr h="663725">
                <a:tc>
                  <a:txBody>
                    <a:bodyPr/>
                    <a:p>
                      <a:pPr marL="0" lvl="0" indent="0" algn="l" rtl="0">
                        <a:spcBef>
                          <a:spcPts val="0"/>
                        </a:spcBef>
                        <a:spcAft>
                          <a:spcPts val="0"/>
                        </a:spcAft>
                        <a:buClr>
                          <a:schemeClr val="dk1"/>
                        </a:buClr>
                        <a:buSzPts val="1100"/>
                        <a:buFont typeface="Arial"/>
                        <a:buNone/>
                        <a:defRPr/>
                      </a:pPr>
                      <a:r>
                        <a:rPr lang="en-GB"/>
                        <a:t>Understand that algorithms can be compared</a:t>
                      </a:r>
                      <a:endParaRPr/>
                    </a:p>
                    <a:p>
                      <a:pPr marL="0" lvl="0" indent="0" algn="l" rtl="0">
                        <a:spcBef>
                          <a:spcPts val="0"/>
                        </a:spcBef>
                        <a:spcAft>
                          <a:spcPts val="0"/>
                        </a:spcAft>
                        <a:buClr>
                          <a:schemeClr val="dk1"/>
                        </a:buClr>
                        <a:buSzPts val="1100"/>
                        <a:buFont typeface="Arial"/>
                        <a:buNone/>
                        <a:defRPr/>
                      </a:pPr>
                      <a:r>
                        <a:rPr lang="en-GB"/>
                        <a:t>by expressing their complexity as a function</a:t>
                      </a:r>
                      <a:endParaRPr/>
                    </a:p>
                    <a:p>
                      <a:pPr marL="0" lvl="0" indent="0" algn="l" rtl="0">
                        <a:spcBef>
                          <a:spcPts val="0"/>
                        </a:spcBef>
                        <a:spcAft>
                          <a:spcPts val="0"/>
                        </a:spcAft>
                        <a:buClr>
                          <a:schemeClr val="dk1"/>
                        </a:buClr>
                        <a:buSzPts val="1100"/>
                        <a:buFont typeface="Arial"/>
                        <a:buNone/>
                        <a:defRPr/>
                      </a:pPr>
                      <a:r>
                        <a:rPr lang="en-GB"/>
                        <a:t>relative to the size of the problem. Understand</a:t>
                      </a:r>
                      <a:endParaRPr/>
                    </a:p>
                    <a:p>
                      <a:pPr marL="0" lvl="0" indent="0" algn="l" rtl="0">
                        <a:spcBef>
                          <a:spcPts val="0"/>
                        </a:spcBef>
                        <a:spcAft>
                          <a:spcPts val="0"/>
                        </a:spcAft>
                        <a:buNone/>
                        <a:defRPr/>
                      </a:pPr>
                      <a:r>
                        <a:rPr lang="en-GB"/>
                        <a:t>that the size of the problem is the key issue.</a:t>
                      </a: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r>
              <a:tr h="663725">
                <a:tc>
                  <a:txBody>
                    <a:bodyPr/>
                    <a:p>
                      <a:pPr marL="0" lvl="0" indent="0" algn="l" rtl="0">
                        <a:spcBef>
                          <a:spcPts val="0"/>
                        </a:spcBef>
                        <a:spcAft>
                          <a:spcPts val="0"/>
                        </a:spcAft>
                        <a:buClr>
                          <a:schemeClr val="dk1"/>
                        </a:buClr>
                        <a:buSzPts val="1100"/>
                        <a:buFont typeface="Arial"/>
                        <a:buNone/>
                        <a:defRPr/>
                      </a:pPr>
                      <a:r>
                        <a:rPr lang="en-GB"/>
                        <a:t>Understand that some algorithms are more</a:t>
                      </a:r>
                      <a:endParaRPr/>
                    </a:p>
                    <a:p>
                      <a:pPr marL="0" lvl="0" indent="0" algn="l" rtl="0">
                        <a:spcBef>
                          <a:spcPts val="0"/>
                        </a:spcBef>
                        <a:spcAft>
                          <a:spcPts val="0"/>
                        </a:spcAft>
                        <a:buClr>
                          <a:schemeClr val="dk1"/>
                        </a:buClr>
                        <a:buSzPts val="1100"/>
                        <a:buFont typeface="Arial"/>
                        <a:buNone/>
                        <a:defRPr/>
                      </a:pPr>
                      <a:r>
                        <a:rPr lang="en-GB"/>
                        <a:t>efficient:</a:t>
                      </a:r>
                      <a:endParaRPr/>
                    </a:p>
                    <a:p>
                      <a:pPr marL="0" lvl="0" indent="0" algn="l" rtl="0">
                        <a:spcBef>
                          <a:spcPts val="0"/>
                        </a:spcBef>
                        <a:spcAft>
                          <a:spcPts val="0"/>
                        </a:spcAft>
                        <a:buClr>
                          <a:schemeClr val="dk1"/>
                        </a:buClr>
                        <a:buSzPts val="1100"/>
                        <a:buFont typeface="Arial"/>
                        <a:buNone/>
                        <a:defRPr/>
                      </a:pPr>
                      <a:r>
                        <a:rPr lang="en-GB"/>
                        <a:t>• time-wise than other algorithms</a:t>
                      </a:r>
                      <a:endParaRPr/>
                    </a:p>
                    <a:p>
                      <a:pPr marL="0" lvl="0" indent="0" algn="l" rtl="0">
                        <a:spcBef>
                          <a:spcPts val="0"/>
                        </a:spcBef>
                        <a:spcAft>
                          <a:spcPts val="0"/>
                        </a:spcAft>
                        <a:buNone/>
                        <a:defRPr/>
                      </a:pPr>
                      <a:r>
                        <a:rPr lang="en-GB"/>
                        <a:t>• space-wise than other algorithms.</a:t>
                      </a: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r>
              <a:tr h="663725">
                <a:tc>
                  <a:txBody>
                    <a:bodyPr/>
                    <a:p>
                      <a:pPr marL="0" lvl="0" indent="0" algn="l" rtl="0">
                        <a:spcBef>
                          <a:spcPts val="0"/>
                        </a:spcBef>
                        <a:spcAft>
                          <a:spcPts val="0"/>
                        </a:spcAft>
                        <a:buClr>
                          <a:schemeClr val="dk1"/>
                        </a:buClr>
                        <a:buSzPts val="1100"/>
                        <a:buFont typeface="Arial"/>
                        <a:buNone/>
                        <a:defRPr/>
                      </a:pPr>
                      <a:r>
                        <a:rPr lang="en-GB"/>
                        <a:t>Be familiar with the mathematical concept of a</a:t>
                      </a:r>
                      <a:endParaRPr/>
                    </a:p>
                    <a:p>
                      <a:pPr marL="0" lvl="0" indent="0" algn="l" rtl="0">
                        <a:spcBef>
                          <a:spcPts val="0"/>
                        </a:spcBef>
                        <a:spcAft>
                          <a:spcPts val="0"/>
                        </a:spcAft>
                        <a:buClr>
                          <a:schemeClr val="dk1"/>
                        </a:buClr>
                        <a:buSzPts val="1100"/>
                        <a:buFont typeface="Arial"/>
                        <a:buNone/>
                        <a:defRPr/>
                      </a:pPr>
                      <a:r>
                        <a:rPr lang="en-GB"/>
                        <a:t>function as a mapping from one set of values,</a:t>
                      </a:r>
                      <a:endParaRPr/>
                    </a:p>
                    <a:p>
                      <a:pPr marL="0" lvl="0" indent="0" algn="l" rtl="0">
                        <a:spcBef>
                          <a:spcPts val="0"/>
                        </a:spcBef>
                        <a:spcAft>
                          <a:spcPts val="0"/>
                        </a:spcAft>
                        <a:buClr>
                          <a:schemeClr val="dk1"/>
                        </a:buClr>
                        <a:buSzPts val="1100"/>
                        <a:buFont typeface="Arial"/>
                        <a:buNone/>
                        <a:defRPr/>
                      </a:pPr>
                      <a:r>
                        <a:rPr lang="en-GB"/>
                        <a:t>the domain, to another set of values, drawn</a:t>
                      </a:r>
                      <a:endParaRPr/>
                    </a:p>
                    <a:p>
                      <a:pPr marL="0" lvl="0" indent="0" algn="l" rtl="0">
                        <a:spcBef>
                          <a:spcPts val="0"/>
                        </a:spcBef>
                        <a:spcAft>
                          <a:spcPts val="0"/>
                        </a:spcAft>
                        <a:buNone/>
                        <a:defRPr/>
                      </a:pPr>
                      <a:r>
                        <a:rPr lang="en-GB"/>
                        <a:t>from the co-domain, for example ℕ → ℕ.</a:t>
                      </a: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r>
              <a:tr h="663725">
                <a:tc>
                  <a:txBody>
                    <a:bodyPr/>
                    <a:p>
                      <a:pPr marL="0" lvl="0" indent="0" algn="l" rtl="0">
                        <a:spcBef>
                          <a:spcPts val="0"/>
                        </a:spcBef>
                        <a:spcAft>
                          <a:spcPts val="0"/>
                        </a:spcAft>
                        <a:buClr>
                          <a:schemeClr val="dk1"/>
                        </a:buClr>
                        <a:buSzPts val="1100"/>
                        <a:buFont typeface="Arial"/>
                        <a:buNone/>
                        <a:defRPr/>
                      </a:pPr>
                      <a:r>
                        <a:rPr lang="en-GB"/>
                        <a:t>Be familiar with the notion of permutation of a</a:t>
                      </a:r>
                      <a:endParaRPr/>
                    </a:p>
                    <a:p>
                      <a:pPr marL="0" lvl="0" indent="0" algn="l" rtl="0">
                        <a:spcBef>
                          <a:spcPts val="0"/>
                        </a:spcBef>
                        <a:spcAft>
                          <a:spcPts val="0"/>
                        </a:spcAft>
                        <a:buClr>
                          <a:schemeClr val="dk1"/>
                        </a:buClr>
                        <a:buSzPts val="1100"/>
                        <a:buFont typeface="Arial"/>
                        <a:buNone/>
                        <a:defRPr/>
                      </a:pPr>
                      <a:r>
                        <a:rPr lang="en-GB"/>
                        <a:t>set of objects or values, for example, the letters</a:t>
                      </a:r>
                      <a:endParaRPr/>
                    </a:p>
                    <a:p>
                      <a:pPr marL="0" lvl="0" indent="0" algn="l" rtl="0">
                        <a:spcBef>
                          <a:spcPts val="0"/>
                        </a:spcBef>
                        <a:spcAft>
                          <a:spcPts val="0"/>
                        </a:spcAft>
                        <a:buClr>
                          <a:schemeClr val="dk1"/>
                        </a:buClr>
                        <a:buSzPts val="1100"/>
                        <a:buFont typeface="Arial"/>
                        <a:buNone/>
                        <a:defRPr/>
                      </a:pPr>
                      <a:r>
                        <a:rPr lang="en-GB"/>
                        <a:t>of a word and that the number of permutations</a:t>
                      </a:r>
                      <a:endParaRPr/>
                    </a:p>
                    <a:p>
                      <a:pPr marL="0" lvl="0" indent="0" algn="l" rtl="0">
                        <a:spcBef>
                          <a:spcPts val="0"/>
                        </a:spcBef>
                        <a:spcAft>
                          <a:spcPts val="0"/>
                        </a:spcAft>
                        <a:buNone/>
                        <a:defRPr/>
                      </a:pPr>
                      <a:r>
                        <a:rPr lang="en-GB"/>
                        <a:t>of n distinct objects is n factorial (n!).</a:t>
                      </a: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r>
            </a:tbl>
          </a:graphicData>
        </a:graphic>
      </p:graphicFrame>
      <p:sp>
        <p:nvSpPr>
          <p:cNvPr id="1018432670" name="Google Shape;244;p34"/>
          <p:cNvSpPr txBox="1"/>
          <p:nvPr/>
        </p:nvSpPr>
        <p:spPr bwMode="auto">
          <a:xfrm>
            <a:off x="375450" y="4321213"/>
            <a:ext cx="3742200" cy="461700"/>
          </a:xfrm>
          <a:prstGeom prst="rect">
            <a:avLst/>
          </a:prstGeom>
          <a:solidFill>
            <a:srgbClr val="EFEFEF"/>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sz="1800" b="1"/>
              <a:t>Checklist</a:t>
            </a:r>
            <a:endParaRPr sz="18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3826164" name="Google Shape;249;p3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graphicFrame>
        <p:nvGraphicFramePr>
          <p:cNvPr id="555207520" name="Google Shape;250;p35"/>
          <p:cNvGraphicFramePr>
            <a:graphicFrameLocks xmlns:a="http://schemas.openxmlformats.org/drawingml/2006/main"/>
          </p:cNvGraphicFramePr>
          <p:nvPr/>
        </p:nvGraphicFramePr>
        <p:xfrm rot="0">
          <a:off x="375450" y="952375"/>
          <a:ext cx="3000000" cy="3000000"/>
        </p:xfrm>
        <a:graphic>
          <a:graphicData uri="http://schemas.openxmlformats.org/drawingml/2006/table">
            <a:tbl>
              <a:tblPr firstRow="0" firstCol="0" lastRow="0" lastCol="0" bandRow="0" bandCol="0">
                <a:tableStyleId>{4EF08538-9979-4E1A-95A5-08F3DC32C289}</a:tableStyleId>
                <a:noFill/>
              </a:tblPr>
              <a:tblGrid>
                <a:gridCol w="4711450"/>
                <a:gridCol w="612400"/>
                <a:gridCol w="612400"/>
                <a:gridCol w="612400"/>
              </a:tblGrid>
              <a:tr h="377350">
                <a:tc>
                  <a:txBody>
                    <a:bodyPr/>
                    <a:p>
                      <a:pPr marL="0" lvl="0" indent="0" algn="l" rtl="0">
                        <a:spcBef>
                          <a:spcPts val="0"/>
                        </a:spcBef>
                        <a:spcAft>
                          <a:spcPts val="0"/>
                        </a:spcAft>
                        <a:buNone/>
                        <a:defRPr/>
                      </a:pPr>
                      <a:r>
                        <a:rPr lang="en-GB" b="1"/>
                        <a:t>Objective</a:t>
                      </a:r>
                      <a:endParaRPr b="1"/>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ctr" rtl="0">
                        <a:spcBef>
                          <a:spcPts val="0"/>
                        </a:spcBef>
                        <a:spcAft>
                          <a:spcPts val="0"/>
                        </a:spcAft>
                        <a:buNone/>
                        <a:defRPr/>
                      </a:pPr>
                      <a:r>
                        <a:rPr lang="en-GB" b="1"/>
                        <a:t>R</a:t>
                      </a:r>
                      <a:endParaRPr b="1"/>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solidFill>
                      <a:srgbClr val="FF0000"/>
                    </a:solidFill>
                  </a:tcPr>
                </a:tc>
                <a:tc>
                  <a:txBody>
                    <a:bodyPr/>
                    <a:p>
                      <a:pPr marL="0" lvl="0" indent="0" algn="ctr" rtl="0">
                        <a:spcBef>
                          <a:spcPts val="0"/>
                        </a:spcBef>
                        <a:spcAft>
                          <a:spcPts val="0"/>
                        </a:spcAft>
                        <a:buNone/>
                        <a:defRPr/>
                      </a:pPr>
                      <a:r>
                        <a:rPr lang="en-GB" b="1"/>
                        <a:t>A</a:t>
                      </a:r>
                      <a:endParaRPr b="1"/>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solidFill>
                      <a:srgbClr val="FFFF00"/>
                    </a:solidFill>
                  </a:tcPr>
                </a:tc>
                <a:tc>
                  <a:txBody>
                    <a:bodyPr/>
                    <a:p>
                      <a:pPr marL="0" lvl="0" indent="0" algn="ctr" rtl="0">
                        <a:spcBef>
                          <a:spcPts val="0"/>
                        </a:spcBef>
                        <a:spcAft>
                          <a:spcPts val="0"/>
                        </a:spcAft>
                        <a:buNone/>
                        <a:defRPr/>
                      </a:pPr>
                      <a:r>
                        <a:rPr lang="en-GB" b="1"/>
                        <a:t>G</a:t>
                      </a:r>
                      <a:endParaRPr b="1"/>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solidFill>
                      <a:srgbClr val="00FF00"/>
                    </a:solidFill>
                  </a:tcPr>
                </a:tc>
              </a:tr>
              <a:tr h="663725">
                <a:tc>
                  <a:txBody>
                    <a:bodyPr/>
                    <a:p>
                      <a:pPr marL="0" lvl="0" indent="0" algn="l" rtl="0">
                        <a:spcBef>
                          <a:spcPts val="0"/>
                        </a:spcBef>
                        <a:spcAft>
                          <a:spcPts val="0"/>
                        </a:spcAft>
                        <a:buClr>
                          <a:schemeClr val="dk1"/>
                        </a:buClr>
                        <a:buSzPts val="1100"/>
                        <a:buFont typeface="Arial"/>
                        <a:buNone/>
                        <a:defRPr/>
                      </a:pPr>
                      <a:r>
                        <a:rPr lang="en-GB"/>
                        <a:t>Be familiar with the concept of:</a:t>
                      </a:r>
                      <a:endParaRPr/>
                    </a:p>
                    <a:p>
                      <a:pPr marL="0" lvl="0" indent="0" algn="l" rtl="0">
                        <a:spcBef>
                          <a:spcPts val="0"/>
                        </a:spcBef>
                        <a:spcAft>
                          <a:spcPts val="0"/>
                        </a:spcAft>
                        <a:buClr>
                          <a:schemeClr val="dk1"/>
                        </a:buClr>
                        <a:buSzPts val="1100"/>
                        <a:buFont typeface="Arial"/>
                        <a:buNone/>
                        <a:defRPr/>
                      </a:pPr>
                      <a:r>
                        <a:rPr lang="en-GB"/>
                        <a:t>• a linear function, for example y = 2x</a:t>
                      </a:r>
                      <a:endParaRPr/>
                    </a:p>
                    <a:p>
                      <a:pPr marL="0" lvl="0" indent="0" algn="l" rtl="0">
                        <a:spcBef>
                          <a:spcPts val="0"/>
                        </a:spcBef>
                        <a:spcAft>
                          <a:spcPts val="0"/>
                        </a:spcAft>
                        <a:buClr>
                          <a:schemeClr val="dk1"/>
                        </a:buClr>
                        <a:buSzPts val="1100"/>
                        <a:buFont typeface="Arial"/>
                        <a:buNone/>
                        <a:defRPr/>
                      </a:pPr>
                      <a:r>
                        <a:rPr lang="en-GB"/>
                        <a:t>• a polynomial function, for example y = 2x2</a:t>
                      </a:r>
                      <a:endParaRPr/>
                    </a:p>
                    <a:p>
                      <a:pPr marL="0" lvl="0" indent="0" algn="l" rtl="0">
                        <a:spcBef>
                          <a:spcPts val="0"/>
                        </a:spcBef>
                        <a:spcAft>
                          <a:spcPts val="0"/>
                        </a:spcAft>
                        <a:buClr>
                          <a:schemeClr val="dk1"/>
                        </a:buClr>
                        <a:buSzPts val="1100"/>
                        <a:buFont typeface="Arial"/>
                        <a:buNone/>
                        <a:defRPr/>
                      </a:pPr>
                      <a:r>
                        <a:rPr lang="en-GB"/>
                        <a:t>• an exponential function, for example y =</a:t>
                      </a:r>
                      <a:endParaRPr/>
                    </a:p>
                    <a:p>
                      <a:pPr marL="0" lvl="0" indent="0" algn="l" rtl="0">
                        <a:spcBef>
                          <a:spcPts val="0"/>
                        </a:spcBef>
                        <a:spcAft>
                          <a:spcPts val="0"/>
                        </a:spcAft>
                        <a:buClr>
                          <a:schemeClr val="dk1"/>
                        </a:buClr>
                        <a:buSzPts val="1100"/>
                        <a:buFont typeface="Arial"/>
                        <a:buNone/>
                        <a:defRPr/>
                      </a:pPr>
                      <a:r>
                        <a:rPr lang="en-GB"/>
                        <a:t>2</a:t>
                      </a:r>
                      <a:endParaRPr/>
                    </a:p>
                    <a:p>
                      <a:pPr marL="0" lvl="0" indent="0" algn="l" rtl="0">
                        <a:spcBef>
                          <a:spcPts val="0"/>
                        </a:spcBef>
                        <a:spcAft>
                          <a:spcPts val="0"/>
                        </a:spcAft>
                        <a:buClr>
                          <a:schemeClr val="dk1"/>
                        </a:buClr>
                        <a:buSzPts val="1100"/>
                        <a:buFont typeface="Arial"/>
                        <a:buNone/>
                        <a:defRPr/>
                      </a:pPr>
                      <a:r>
                        <a:rPr lang="en-GB"/>
                        <a:t>x</a:t>
                      </a:r>
                      <a:endParaRPr/>
                    </a:p>
                    <a:p>
                      <a:pPr marL="0" lvl="0" indent="0" algn="l" rtl="0">
                        <a:spcBef>
                          <a:spcPts val="0"/>
                        </a:spcBef>
                        <a:spcAft>
                          <a:spcPts val="0"/>
                        </a:spcAft>
                        <a:buClr>
                          <a:schemeClr val="dk1"/>
                        </a:buClr>
                        <a:buSzPts val="1100"/>
                        <a:buFont typeface="Arial"/>
                        <a:buNone/>
                        <a:defRPr/>
                      </a:pPr>
                      <a:r>
                        <a:rPr lang="en-GB"/>
                        <a:t>• a logarithmic function, for example</a:t>
                      </a:r>
                      <a:endParaRPr/>
                    </a:p>
                    <a:p>
                      <a:pPr marL="0" lvl="0" indent="0" algn="l" rtl="0">
                        <a:spcBef>
                          <a:spcPts val="0"/>
                        </a:spcBef>
                        <a:spcAft>
                          <a:spcPts val="0"/>
                        </a:spcAft>
                        <a:buNone/>
                        <a:defRPr/>
                      </a:pPr>
                      <a:r>
                        <a:rPr lang="en-GB"/>
                        <a:t>y = log10 x.</a:t>
                      </a: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r>
              <a:tr h="663725">
                <a:tc>
                  <a:txBody>
                    <a:bodyPr/>
                    <a:p>
                      <a:pPr marL="0" lvl="0" indent="0" algn="l" rtl="0">
                        <a:spcBef>
                          <a:spcPts val="0"/>
                        </a:spcBef>
                        <a:spcAft>
                          <a:spcPts val="0"/>
                        </a:spcAft>
                        <a:buClr>
                          <a:schemeClr val="dk1"/>
                        </a:buClr>
                        <a:buSzPts val="1100"/>
                        <a:buFont typeface="Arial"/>
                        <a:buNone/>
                        <a:defRPr/>
                      </a:pPr>
                      <a:r>
                        <a:rPr lang="en-GB"/>
                        <a:t>Be familiar with Big-O notation to express time</a:t>
                      </a:r>
                      <a:endParaRPr/>
                    </a:p>
                    <a:p>
                      <a:pPr marL="0" lvl="0" indent="0" algn="l" rtl="0">
                        <a:spcBef>
                          <a:spcPts val="0"/>
                        </a:spcBef>
                        <a:spcAft>
                          <a:spcPts val="0"/>
                        </a:spcAft>
                        <a:buClr>
                          <a:schemeClr val="dk1"/>
                        </a:buClr>
                        <a:buSzPts val="1100"/>
                        <a:buFont typeface="Arial"/>
                        <a:buNone/>
                        <a:defRPr/>
                      </a:pPr>
                      <a:r>
                        <a:rPr lang="en-GB"/>
                        <a:t>complexity and be able to apply it to cases</a:t>
                      </a:r>
                      <a:endParaRPr/>
                    </a:p>
                    <a:p>
                      <a:pPr marL="0" lvl="0" indent="0" algn="l" rtl="0">
                        <a:spcBef>
                          <a:spcPts val="0"/>
                        </a:spcBef>
                        <a:spcAft>
                          <a:spcPts val="0"/>
                        </a:spcAft>
                        <a:buClr>
                          <a:schemeClr val="dk1"/>
                        </a:buClr>
                        <a:buSzPts val="1100"/>
                        <a:buFont typeface="Arial"/>
                        <a:buNone/>
                        <a:defRPr/>
                      </a:pPr>
                      <a:r>
                        <a:rPr lang="en-GB"/>
                        <a:t>where the running time requirements of the</a:t>
                      </a:r>
                      <a:endParaRPr/>
                    </a:p>
                    <a:p>
                      <a:pPr marL="0" lvl="0" indent="0" algn="l" rtl="0">
                        <a:spcBef>
                          <a:spcPts val="0"/>
                        </a:spcBef>
                        <a:spcAft>
                          <a:spcPts val="0"/>
                        </a:spcAft>
                        <a:buClr>
                          <a:schemeClr val="dk1"/>
                        </a:buClr>
                        <a:buSzPts val="1100"/>
                        <a:buFont typeface="Arial"/>
                        <a:buNone/>
                        <a:defRPr/>
                      </a:pPr>
                      <a:r>
                        <a:rPr lang="en-GB"/>
                        <a:t>algorithm grow in:</a:t>
                      </a:r>
                      <a:endParaRPr/>
                    </a:p>
                    <a:p>
                      <a:pPr marL="0" lvl="0" indent="0" algn="l" rtl="0">
                        <a:spcBef>
                          <a:spcPts val="0"/>
                        </a:spcBef>
                        <a:spcAft>
                          <a:spcPts val="0"/>
                        </a:spcAft>
                        <a:buClr>
                          <a:schemeClr val="dk1"/>
                        </a:buClr>
                        <a:buSzPts val="1100"/>
                        <a:buFont typeface="Arial"/>
                        <a:buNone/>
                        <a:defRPr/>
                      </a:pPr>
                      <a:r>
                        <a:rPr lang="en-GB"/>
                        <a:t>• constant time</a:t>
                      </a:r>
                      <a:endParaRPr/>
                    </a:p>
                    <a:p>
                      <a:pPr marL="0" lvl="0" indent="0" algn="l" rtl="0">
                        <a:spcBef>
                          <a:spcPts val="0"/>
                        </a:spcBef>
                        <a:spcAft>
                          <a:spcPts val="0"/>
                        </a:spcAft>
                        <a:buClr>
                          <a:schemeClr val="dk1"/>
                        </a:buClr>
                        <a:buSzPts val="1100"/>
                        <a:buFont typeface="Arial"/>
                        <a:buNone/>
                        <a:defRPr/>
                      </a:pPr>
                      <a:r>
                        <a:rPr lang="en-GB"/>
                        <a:t>• logarithmic time</a:t>
                      </a:r>
                      <a:endParaRPr/>
                    </a:p>
                    <a:p>
                      <a:pPr marL="0" lvl="0" indent="0" algn="l" rtl="0">
                        <a:spcBef>
                          <a:spcPts val="0"/>
                        </a:spcBef>
                        <a:spcAft>
                          <a:spcPts val="0"/>
                        </a:spcAft>
                        <a:buClr>
                          <a:schemeClr val="dk1"/>
                        </a:buClr>
                        <a:buSzPts val="1100"/>
                        <a:buFont typeface="Arial"/>
                        <a:buNone/>
                        <a:defRPr/>
                      </a:pPr>
                      <a:r>
                        <a:rPr lang="en-GB"/>
                        <a:t>• linear time</a:t>
                      </a:r>
                      <a:endParaRPr/>
                    </a:p>
                    <a:p>
                      <a:pPr marL="0" lvl="0" indent="0" algn="l" rtl="0">
                        <a:spcBef>
                          <a:spcPts val="0"/>
                        </a:spcBef>
                        <a:spcAft>
                          <a:spcPts val="0"/>
                        </a:spcAft>
                        <a:buClr>
                          <a:schemeClr val="dk1"/>
                        </a:buClr>
                        <a:buSzPts val="1100"/>
                        <a:buFont typeface="Arial"/>
                        <a:buNone/>
                        <a:defRPr/>
                      </a:pPr>
                      <a:r>
                        <a:rPr lang="en-GB"/>
                        <a:t>• polynomial time</a:t>
                      </a:r>
                      <a:endParaRPr/>
                    </a:p>
                    <a:p>
                      <a:pPr marL="0" lvl="0" indent="0" algn="l" rtl="0">
                        <a:spcBef>
                          <a:spcPts val="0"/>
                        </a:spcBef>
                        <a:spcAft>
                          <a:spcPts val="0"/>
                        </a:spcAft>
                        <a:buNone/>
                        <a:defRPr/>
                      </a:pPr>
                      <a:r>
                        <a:rPr lang="en-GB"/>
                        <a:t>• exponential time.</a:t>
                      </a: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r>
              <a:tr h="663725">
                <a:tc>
                  <a:txBody>
                    <a:bodyPr/>
                    <a:p>
                      <a:pPr marL="0" lvl="0" indent="0" algn="l" rtl="0">
                        <a:spcBef>
                          <a:spcPts val="0"/>
                        </a:spcBef>
                        <a:spcAft>
                          <a:spcPts val="0"/>
                        </a:spcAft>
                        <a:buClr>
                          <a:schemeClr val="dk1"/>
                        </a:buClr>
                        <a:buSzPts val="1100"/>
                        <a:buFont typeface="Arial"/>
                        <a:buNone/>
                        <a:defRPr/>
                      </a:pPr>
                      <a:r>
                        <a:rPr lang="en-GB"/>
                        <a:t>Be able to derive the time complexity of an</a:t>
                      </a:r>
                      <a:endParaRPr/>
                    </a:p>
                    <a:p>
                      <a:pPr marL="0" lvl="0" indent="0" algn="l" rtl="0">
                        <a:spcBef>
                          <a:spcPts val="0"/>
                        </a:spcBef>
                        <a:spcAft>
                          <a:spcPts val="0"/>
                        </a:spcAft>
                        <a:buNone/>
                        <a:defRPr/>
                      </a:pPr>
                      <a:r>
                        <a:rPr lang="en-GB"/>
                        <a:t>algorithm.</a:t>
                      </a: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c>
                  <a:txBody>
                    <a:bodyPr/>
                    <a:p>
                      <a:pPr marL="0" lvl="0" indent="0" algn="l" rtl="0">
                        <a:spcBef>
                          <a:spcPts val="0"/>
                        </a:spcBef>
                        <a:spcAft>
                          <a:spcPts val="0"/>
                        </a:spcAft>
                        <a:buNone/>
                        <a:defRPr/>
                      </a:pPr>
                      <a:endParaRPr/>
                    </a:p>
                  </a:txBody>
                  <a:tcPr marL="91425" marR="91425" marT="91425" marB="91425">
                    <a:lnL w="28575" algn="ctr">
                      <a:solidFill>
                        <a:schemeClr val="dk1"/>
                      </a:solidFill>
                    </a:lnL>
                    <a:lnR w="28575" algn="ctr">
                      <a:solidFill>
                        <a:schemeClr val="dk1"/>
                      </a:solidFill>
                    </a:lnR>
                    <a:lnT w="28575" algn="ctr">
                      <a:solidFill>
                        <a:schemeClr val="dk1"/>
                      </a:solidFill>
                    </a:lnT>
                    <a:lnB w="28575" algn="ctr">
                      <a:solidFill>
                        <a:schemeClr val="dk1"/>
                      </a:solidFill>
                    </a:lnB>
                  </a:tcPr>
                </a:tc>
              </a:tr>
            </a:tbl>
          </a:graphicData>
        </a:graphic>
      </p:graphicFrame>
      <p:sp>
        <p:nvSpPr>
          <p:cNvPr id="808955517" name="Google Shape;251;p35"/>
          <p:cNvSpPr txBox="1"/>
          <p:nvPr/>
        </p:nvSpPr>
        <p:spPr bwMode="auto">
          <a:xfrm>
            <a:off x="375450" y="200338"/>
            <a:ext cx="3742200" cy="461700"/>
          </a:xfrm>
          <a:prstGeom prst="rect">
            <a:avLst/>
          </a:prstGeom>
          <a:solidFill>
            <a:srgbClr val="EFEFEF"/>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sz="1800" b="1"/>
              <a:t>Checklist</a:t>
            </a:r>
            <a:endParaRPr sz="18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7F294950C7884E8FE4B76F01B4BA6B" ma:contentTypeVersion="11" ma:contentTypeDescription="Create a new document." ma:contentTypeScope="" ma:versionID="8365bd8d0a391930816543019944d6a6">
  <xsd:schema xmlns:xsd="http://www.w3.org/2001/XMLSchema" xmlns:xs="http://www.w3.org/2001/XMLSchema" xmlns:p="http://schemas.microsoft.com/office/2006/metadata/properties" xmlns:ns2="20b0890a-fba0-492d-b60c-f556a549982e" xmlns:ns3="a89d9e9c-ee92-411a-8d95-187c9d227507" targetNamespace="http://schemas.microsoft.com/office/2006/metadata/properties" ma:root="true" ma:fieldsID="99d4def2894b940b56ff66f83499826c" ns2:_="" ns3:_="">
    <xsd:import namespace="20b0890a-fba0-492d-b60c-f556a549982e"/>
    <xsd:import namespace="a89d9e9c-ee92-411a-8d95-187c9d227507"/>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b0890a-fba0-492d-b60c-f556a549982e"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14d2c0e-eedf-4631-bc1a-62436814b3ed"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9d9e9c-ee92-411a-8d95-187c9d22750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8dbb42c4-5597-4b5c-a98f-459a7307402e}" ma:internalName="TaxCatchAll" ma:showField="CatchAllData" ma:web="a89d9e9c-ee92-411a-8d95-187c9d2275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89d9e9c-ee92-411a-8d95-187c9d227507" xsi:nil="true"/>
    <lcf76f155ced4ddcb4097134ff3c332f xmlns="20b0890a-fba0-492d-b60c-f556a549982e">
      <Terms xmlns="http://schemas.microsoft.com/office/infopath/2007/PartnerControls"/>
    </lcf76f155ced4ddcb4097134ff3c332f>
    <ReferenceId xmlns="20b0890a-fba0-492d-b60c-f556a549982e" xsi:nil="true"/>
  </documentManagement>
</p:properties>
</file>

<file path=customXml/itemProps1.xml><?xml version="1.0" encoding="utf-8"?>
<ds:datastoreItem xmlns:ds="http://schemas.openxmlformats.org/officeDocument/2006/customXml" ds:itemID="CB102748-2054-4BB0-B6E9-C62CB4D4BC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b0890a-fba0-492d-b60c-f556a549982e"/>
    <ds:schemaRef ds:uri="a89d9e9c-ee92-411a-8d95-187c9d227507"/>
    <ds:schemaRef ds:uri="http://schemas.microsoft.com/office/2006/documentManagement/types"/>
    <ds:schemaRef ds:uri="http://schemas.microsoft.com/office/infopath/2007/PartnerControls"/>
    <ds:schemaRef ds:uri="http://schemas.openxmlformats.org/package/2006/metadata/core-properties"/>
    <ds:schemaRef ds:uri="http://www.w3.org/2001/XMLSchema-instance"/>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A6872C-A65D-4CB7-BF28-00634F964ED9">
  <ds:schemaRefs>
    <ds:schemaRef ds:uri="http://schemas.microsoft.com/sharepoint/v3/contenttype/forms"/>
  </ds:schemaRefs>
</ds:datastoreItem>
</file>

<file path=customXml/itemProps3.xml><?xml version="1.0" encoding="utf-8"?>
<ds:datastoreItem xmlns:ds="http://schemas.openxmlformats.org/officeDocument/2006/customXml" ds:itemID="B28D2E71-DF90-4707-98DB-3B62AB010A28">
  <ds:schemaRefs>
    <ds:schemaRef ds:uri="http://schemas.microsoft.com/office/2006/metadata/properties"/>
    <ds:schemaRef ds:uri="http://www.w3.org/2001/XMLSchema-instance"/>
    <ds:schemaRef ds:uri="http://schemas.microsoft.com/office/infopath/2007/PartnerControls"/>
    <ds:schemaRef ds:uri="a89d9e9c-ee92-411a-8d95-187c9d227507"/>
    <ds:schemaRef ds:uri="20b0890a-fba0-492d-b60c-f556a549982e"/>
  </ds:schemaRefs>
</ds:datastoreItem>
</file>

<file path=docProps/app.xml><?xml version="1.0" encoding="utf-8"?>
<Properties xmlns="http://schemas.openxmlformats.org/officeDocument/2006/extended-properties" xmlns:vt="http://schemas.openxmlformats.org/officeDocument/2006/docPropsVTypes">
  <TotalTime>0</TotalTime>
  <Words>0</Words>
  <Application>ONLYOFFICE/10.0.0.169</Application>
  <PresentationFormat>On-screen Show (4:3)</PresentationFormat>
  <Paragraphs>0</Paragraphs>
  <Slides>23</Slides>
  <Notes>23</Notes>
  <HiddenSlides>0</HiddenSlides>
  <MMClips>2</MMClips>
  <ScaleCrop>0</ScaleCrop>
  <HeadingPairs>
    <vt:vector size="4" baseType="variant">
      <vt:variant>
        <vt:lpstr>Theme</vt:lpstr>
      </vt:variant>
      <vt:variant>
        <vt:i4>1</vt:i4>
      </vt:variant>
      <vt:variant>
        <vt:lpstr>Slide Titles</vt:lpstr>
      </vt:variant>
      <vt:variant>
        <vt:i4>23</vt:i4>
      </vt:variant>
    </vt:vector>
  </HeadingPairs>
  <TitlesOfParts>
    <vt:vector size="2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cp:revision>
  <dcterms:modified xsi:type="dcterms:W3CDTF">2026-10-15T07:19:39Z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0x010100E67F294950C7884E8FE4B76F01B4BA6B</vt:lpwstr>
  </property>
</Properties>
</file>