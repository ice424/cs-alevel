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1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39.xml" ContentType="application/vnd.openxmlformats-officedocument.presentationml.slide+xml"/>
  <Override PartName="/customXml/itemProps2.xml" ContentType="application/vnd.openxmlformats-officedocument.customXmlProperties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Layouts/slideLayout8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6.xml" ContentType="application/vnd.openxmlformats-officedocument.presentationml.slide+xml"/>
  <Override PartName="/customXml/itemProps3.xml" ContentType="application/vnd.openxmlformats-officedocument.customXmlPropertie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  <Override PartName="/ppt/notesSlides/notesSlide22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4"/>
  </p:sldMasterIdLst>
  <p:notesMasterIdLst>
    <p:notesMasterId r:id="rId4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7560000" cy="10692000"/>
  <p:notesSz cx="6858000" cy="9144000"/>
  <p:custDataLst>
    <p:custData r:id="rId1"/>
    <p:custData r:id="rId2"/>
    <p:custData r:id="rId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FCC2F28-E6BC-420E-AB8C-BA30010F4A45}">
  <a:tblStyle styleId="{25C90975-67F4-4F81-8D25-20D473D5BB89}" styleName="Table_1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9FCC2F28-E6BC-420E-AB8C-BA30010F4A45}" styleName="Table_0">
    <a:wholeTbl>
      <a:tcTxStyle>
        <a:srgbClr val="000000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 /><Relationship Id="rId48" Type="http://schemas.openxmlformats.org/officeDocument/2006/relationships/tableStyles" Target="tableStyles.xml" /><Relationship Id="rId4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319917" name="Google Shape;3;n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2535747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892795" name="Google Shape;51;p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737032" name="Google Shape;52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803685" name="Google Shape;77;g119d85e8fad_0_3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902051" name="Google Shape;78;g119d85e8fad_0_3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569945" name="Google Shape;85;g128b376200b_0_19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308237" name="Google Shape;86;g128b376200b_0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486294" name="Google Shape;95;g128b376200b_0_154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020689" name="Google Shape;96;g128b376200b_0_15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49166" name="Google Shape;108;g128b376200b_0_16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467105" name="Google Shape;109;g128b376200b_0_16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989295" name="Google Shape;123;g128b376200b_0_190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970302" name="Google Shape;124;g128b376200b_0_19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945275" name="Google Shape;138;g128b376200b_0_213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019206" name="Google Shape;139;g128b376200b_0_21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887280" name="Google Shape;153;g128b376200b_0_23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069126" name="Google Shape;154;g128b376200b_0_23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645961" name="Google Shape;168;g128b376200b_0_261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403288" name="Google Shape;169;g128b376200b_0_26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860616" name="Google Shape;176;g128b376200b_0_26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081578" name="Google Shape;177;g128b376200b_0_26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641109" name="Google Shape;188;g128b376200b_0_282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534129" name="Google Shape;189;g128b376200b_0_28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174384" name="Google Shape;201;g128b376200b_0_297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265555" name="Google Shape;202;g128b376200b_0_29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464093" name="Google Shape;216;g128b376200b_0_314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016515" name="Google Shape;217;g128b376200b_0_31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770652" name="Google Shape;231;g128b376200b_0_331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841215" name="Google Shape;232;g128b376200b_0_33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143378" name="Google Shape;246;g128b376200b_0_27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842001" name="Google Shape;247;g128b376200b_0_27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613616" name="Google Shape;255;g128b376200b_0_355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91945" name="Google Shape;256;g128b376200b_0_35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924775" name="Google Shape;263;g128b376200b_0_363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2328263" name="Google Shape;264;g128b376200b_0_36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961438" name="Google Shape;272;g128b376200b_0_374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454433" name="Google Shape;273;g128b376200b_0_37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135742" name="Google Shape;282;g128b376200b_0_389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393742" name="Google Shape;283;g128b376200b_0_38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893507" name="Google Shape;295;g128b376200b_0_406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697477" name="Google Shape;296;g128b376200b_0_40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08548" name="Google Shape;307;g128b376200b_0_41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79828" name="Google Shape;308;g128b376200b_0_41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303005" name="Google Shape;319;g128b376200b_0_425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791229" name="Google Shape;320;g128b376200b_0_42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378935" name="Google Shape;331;g128b376200b_0_432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046270" name="Google Shape;332;g128b376200b_0_43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416406" name="Google Shape;343;g128b376200b_0_44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997442" name="Google Shape;344;g128b376200b_0_44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277680" name="Google Shape;355;g128b376200b_0_457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689580" name="Google Shape;356;g128b376200b_0_45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547532" name="Google Shape;367;g128b376200b_0_466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722931" name="Google Shape;368;g128b376200b_0_46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077394" name="Google Shape;378;g128b376200b_0_505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96686" name="Google Shape;379;g128b376200b_0_50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267686" name="Google Shape;389;g128b376200b_0_519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357071" name="Google Shape;390;g128b376200b_0_5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801082" name="Google Shape;401;g128b376200b_0_530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719085" name="Google Shape;402;g128b376200b_0_53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013394" name="Google Shape;413;g128b376200b_0_555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556512" name="Google Shape;414;g128b376200b_0_55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1257" name="Google Shape;425;g128b376200b_0_570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114181" name="Google Shape;426;g128b376200b_0_57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522051" name="Google Shape;437;g128b376200b_0_585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575165" name="Google Shape;438;g128b376200b_0_58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773498" name="Google Shape;450;g128b376200b_0_515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5712" name="Google Shape;451;g128b376200b_0_51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84331" name="Google Shape;462;g12ae56c02d9_0_0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306765" name="Google Shape;463;g12ae56c02d9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497190" name="Google Shape;474;g12ae56c02d9_0_18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682981" name="Google Shape;475;g12ae56c02d9_0_1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550738" name="Google Shape;486;g12ae56c02d9_0_30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381201" name="Google Shape;487;g12ae56c02d9_0_3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952692" name="Google Shape;493;g119d85e8fad_0_244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999381" name="Google Shape;494;g119d85e8fad_0_24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976970" name="Google Shape;501;g119d85e8fad_0_252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665284" name="Google Shape;502;g119d85e8fad_0_25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92430" name="Google Shape;508;gf57273276f_0_6:notes"/>
          <p:cNvSpPr/>
          <p:nvPr>
            <p:ph type="sldImg" idx="2"/>
          </p:nvPr>
        </p:nvSpPr>
        <p:spPr bwMode="auto"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174020" name="Google Shape;509;gf57273276f_0_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131662" name="Google Shape;10;p2"/>
          <p:cNvSpPr txBox="1"/>
          <p:nvPr>
            <p:ph type="ctrTitle"/>
          </p:nvPr>
        </p:nvSpPr>
        <p:spPr bwMode="auto"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910838237" name="Google Shape;11;p2"/>
          <p:cNvSpPr txBox="1"/>
          <p:nvPr>
            <p:ph type="subTitle" idx="1"/>
          </p:nvPr>
        </p:nvSpPr>
        <p:spPr bwMode="auto"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730536540" name="Google Shape;12;p2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52981" name="Google Shape;14;p3"/>
          <p:cNvSpPr txBox="1"/>
          <p:nvPr>
            <p:ph type="title"/>
          </p:nvPr>
        </p:nvSpPr>
        <p:spPr bwMode="auto"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779787946" name="Google Shape;15;p3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554527" name="Google Shape;17;p4"/>
          <p:cNvSpPr txBox="1"/>
          <p:nvPr>
            <p:ph type="title"/>
          </p:nvPr>
        </p:nvSpPr>
        <p:spPr bwMode="auto"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2189216" name="Google Shape;18;p4"/>
          <p:cNvSpPr txBox="1"/>
          <p:nvPr>
            <p:ph type="body" idx="1"/>
          </p:nvPr>
        </p:nvSpPr>
        <p:spPr bwMode="auto"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6050789" name="Google Shape;19;p4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472797" name="Google Shape;21;p5"/>
          <p:cNvSpPr txBox="1"/>
          <p:nvPr>
            <p:ph type="title"/>
          </p:nvPr>
        </p:nvSpPr>
        <p:spPr bwMode="auto"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0825263" name="Google Shape;22;p5"/>
          <p:cNvSpPr txBox="1"/>
          <p:nvPr>
            <p:ph type="body" idx="1"/>
          </p:nvPr>
        </p:nvSpPr>
        <p:spPr bwMode="auto"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265454457" name="Google Shape;23;p5"/>
          <p:cNvSpPr txBox="1"/>
          <p:nvPr>
            <p:ph type="body" idx="2"/>
          </p:nvPr>
        </p:nvSpPr>
        <p:spPr bwMode="auto"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109220105" name="Google Shape;24;p5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327044" name="Google Shape;26;p6"/>
          <p:cNvSpPr txBox="1"/>
          <p:nvPr>
            <p:ph type="title"/>
          </p:nvPr>
        </p:nvSpPr>
        <p:spPr bwMode="auto"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2332598" name="Google Shape;27;p6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430007" name="Google Shape;29;p7"/>
          <p:cNvSpPr txBox="1"/>
          <p:nvPr>
            <p:ph type="title"/>
          </p:nvPr>
        </p:nvSpPr>
        <p:spPr bwMode="auto">
          <a:xfrm>
            <a:off x="257705" y="1154948"/>
            <a:ext cx="2321699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907343947" name="Google Shape;30;p7"/>
          <p:cNvSpPr txBox="1"/>
          <p:nvPr>
            <p:ph type="body" idx="1"/>
          </p:nvPr>
        </p:nvSpPr>
        <p:spPr bwMode="auto">
          <a:xfrm>
            <a:off x="257705" y="2888617"/>
            <a:ext cx="2321699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802161441" name="Google Shape;31;p7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53777" name="Google Shape;33;p8"/>
          <p:cNvSpPr txBox="1"/>
          <p:nvPr>
            <p:ph type="title"/>
          </p:nvPr>
        </p:nvSpPr>
        <p:spPr bwMode="auto"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475096882" name="Google Shape;34;p8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331131" name="Google Shape;36;p9"/>
          <p:cNvSpPr/>
          <p:nvPr/>
        </p:nvSpPr>
        <p:spPr bwMode="auto"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1643328" name="Google Shape;37;p9"/>
          <p:cNvSpPr txBox="1"/>
          <p:nvPr>
            <p:ph type="title"/>
          </p:nvPr>
        </p:nvSpPr>
        <p:spPr bwMode="auto"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600904715" name="Google Shape;38;p9"/>
          <p:cNvSpPr txBox="1"/>
          <p:nvPr>
            <p:ph type="subTitle" idx="1"/>
          </p:nvPr>
        </p:nvSpPr>
        <p:spPr bwMode="auto"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491407445" name="Google Shape;39;p9"/>
          <p:cNvSpPr txBox="1"/>
          <p:nvPr>
            <p:ph type="body" idx="2"/>
          </p:nvPr>
        </p:nvSpPr>
        <p:spPr bwMode="auto">
          <a:xfrm>
            <a:off x="4083839" y="1505164"/>
            <a:ext cx="3172199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1602878" name="Google Shape;40;p9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404379" name="Google Shape;42;p10"/>
          <p:cNvSpPr txBox="1"/>
          <p:nvPr>
            <p:ph type="body" idx="1"/>
          </p:nvPr>
        </p:nvSpPr>
        <p:spPr bwMode="auto"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72753173" name="Google Shape;43;p10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499157" name="Google Shape;45;p11"/>
          <p:cNvSpPr txBox="1"/>
          <p:nvPr>
            <p:ph type="title" hasCustomPrompt="1"/>
          </p:nvPr>
        </p:nvSpPr>
        <p:spPr bwMode="auto"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346626445" name="Google Shape;46;p11"/>
          <p:cNvSpPr txBox="1"/>
          <p:nvPr>
            <p:ph type="body" idx="1"/>
          </p:nvPr>
        </p:nvSpPr>
        <p:spPr bwMode="auto"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6000782" name="Google Shape;47;p11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33197" name="Google Shape;49;p12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2030" name="Google Shape;6;p1"/>
          <p:cNvSpPr txBox="1"/>
          <p:nvPr>
            <p:ph type="title"/>
          </p:nvPr>
        </p:nvSpPr>
        <p:spPr bwMode="auto"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98366169" name="Google Shape;7;p1"/>
          <p:cNvSpPr txBox="1"/>
          <p:nvPr>
            <p:ph type="body" idx="1"/>
          </p:nvPr>
        </p:nvSpPr>
        <p:spPr bwMode="auto"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43723238" name="Google Shape;8;p1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2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jpg"/><Relationship Id="rId4" Type="http://schemas.openxmlformats.org/officeDocument/2006/relationships/image" Target="../media/image37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8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jp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hyperlink" Target="https://youtu.be/-uR7BSfNJko" TargetMode="External"/><Relationship Id="rId5" Type="http://schemas.openxmlformats.org/officeDocument/2006/relationships/image" Target="../media/image21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youtu.be/tlPuVe5Otio" TargetMode="External"/><Relationship Id="rId4" Type="http://schemas.openxmlformats.org/officeDocument/2006/relationships/image" Target="../media/image21.png"/><Relationship Id="rId5" Type="http://schemas.openxmlformats.org/officeDocument/2006/relationships/hyperlink" Target="https://youtu.be/ZuHW4fS60pc" TargetMode="External"/><Relationship Id="rId6" Type="http://schemas.openxmlformats.org/officeDocument/2006/relationships/image" Target="../media/image49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youtu.be/1NW9wWswaMk" TargetMode="External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vr.vex.com/" TargetMode="External"/><Relationship Id="rId4" Type="http://schemas.openxmlformats.org/officeDocument/2006/relationships/image" Target="../media/image53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youtu.be/GeUlf-m0-Hw" TargetMode="External"/><Relationship Id="rId4" Type="http://schemas.openxmlformats.org/officeDocument/2006/relationships/hyperlink" Target="https://youtu.be/ymlzHmRN4To" TargetMode="External"/><Relationship Id="rId5" Type="http://schemas.openxmlformats.org/officeDocument/2006/relationships/hyperlink" Target="https://youtube.com/playlist?list=PLDV1Zeh2NRsDGO4--qE8yH72HFL1Km93P" TargetMode="External"/><Relationship Id="rId6" Type="http://schemas.openxmlformats.org/officeDocument/2006/relationships/hyperlink" Target="https://isaaccomputerscience.org/concepts/dsa_pathfinding_dfs_bfs?examBoard=all&amp;stage=all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923878" name="Google Shape;54;p13"/>
          <p:cNvSpPr txBox="1"/>
          <p:nvPr/>
        </p:nvSpPr>
        <p:spPr bwMode="auto">
          <a:xfrm>
            <a:off x="257700" y="238271"/>
            <a:ext cx="7044600" cy="640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800"/>
              <a:t>4.3.1 Graph-Traversal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848014156" name="Google Shape;55;p13"/>
          <p:cNvSpPr txBox="1"/>
          <p:nvPr/>
        </p:nvSpPr>
        <p:spPr bwMode="auto">
          <a:xfrm>
            <a:off x="257700" y="972087"/>
            <a:ext cx="3742200" cy="461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800" b="1"/>
              <a:t>Syllabus Details</a:t>
            </a:r>
            <a:endParaRPr sz="1800" b="1"/>
          </a:p>
        </p:txBody>
      </p:sp>
      <p:sp>
        <p:nvSpPr>
          <p:cNvPr id="297108230" name="Google Shape;56;p13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9149314" name="Google Shape;57;p13"/>
          <p:cNvSpPr txBox="1"/>
          <p:nvPr/>
        </p:nvSpPr>
        <p:spPr bwMode="auto">
          <a:xfrm>
            <a:off x="257700" y="2357920"/>
            <a:ext cx="7044600" cy="525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800" b="1"/>
              <a:t>4.3.1 Graph-Traversal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242322952" name="Google Shape;58;p13"/>
          <p:cNvSpPr txBox="1"/>
          <p:nvPr/>
        </p:nvSpPr>
        <p:spPr bwMode="auto">
          <a:xfrm>
            <a:off x="229025" y="3044175"/>
            <a:ext cx="6879600" cy="7246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Starter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Join the term to the definition.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aphicFrame>
        <p:nvGraphicFramePr>
          <p:cNvPr id="1860704152" name="Google Shape;59;p13"/>
          <p:cNvGraphicFramePr>
            <a:graphicFrameLocks xmlns:a="http://schemas.openxmlformats.org/drawingml/2006/main"/>
          </p:cNvGraphicFramePr>
          <p:nvPr/>
        </p:nvGraphicFramePr>
        <p:xfrm rot="0">
          <a:off x="233325" y="1778474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{9FCC2F28-E6BC-420E-AB8C-BA30010F4A45}</a:tableStyleId>
                <a:noFill/>
              </a:tblPr>
              <a:tblGrid>
                <a:gridCol w="3790949"/>
              </a:tblGrid>
              <a:tr h="200025"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000" b="1"/>
                        <a:t>4.3.1 Graph-traversal</a:t>
                      </a:r>
                      <a:endParaRPr sz="1000" b="1"/>
                    </a:p>
                  </a:txBody>
                  <a:tcPr marL="28575" marR="28575" marT="19050" marB="19050" anchor="b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000"/>
                        <a:t>4.3.1.1 Simple graph-traversal algorithms</a:t>
                      </a:r>
                      <a:endParaRPr sz="1000"/>
                    </a:p>
                  </a:txBody>
                  <a:tcPr marL="28575" marR="28575" marT="19050" marB="19050" anchor="b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92441745" name="Google Shape;60;p13"/>
          <p:cNvSpPr txBox="1"/>
          <p:nvPr/>
        </p:nvSpPr>
        <p:spPr bwMode="auto">
          <a:xfrm>
            <a:off x="5385400" y="3634576"/>
            <a:ext cx="1619400" cy="4617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What is a graph?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46863503" name="Google Shape;61;p13"/>
          <p:cNvSpPr txBox="1"/>
          <p:nvPr/>
        </p:nvSpPr>
        <p:spPr bwMode="auto">
          <a:xfrm>
            <a:off x="570350" y="4803650"/>
            <a:ext cx="2035800" cy="11466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A graph is a collection of two sets: vertices and edges. Two adjacent vertices or nodes are connected by edges or arcs.</a:t>
            </a:r>
            <a:endParaRPr sz="1100">
              <a:latin typeface="Open Sans"/>
              <a:ea typeface="Open Sans"/>
              <a:cs typeface="Open Sans"/>
            </a:endParaRPr>
          </a:p>
        </p:txBody>
      </p:sp>
      <p:sp>
        <p:nvSpPr>
          <p:cNvPr id="1827714342" name="Google Shape;62;p13"/>
          <p:cNvSpPr txBox="1"/>
          <p:nvPr/>
        </p:nvSpPr>
        <p:spPr bwMode="auto">
          <a:xfrm>
            <a:off x="2842425" y="3545574"/>
            <a:ext cx="2035800" cy="9633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What is the difference between the directed graph and undirected graph?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88893643" name="Google Shape;63;p13"/>
          <p:cNvSpPr txBox="1"/>
          <p:nvPr/>
        </p:nvSpPr>
        <p:spPr bwMode="auto">
          <a:xfrm>
            <a:off x="570350" y="7104762"/>
            <a:ext cx="2035800" cy="9633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In directed graphs, all the edges are unidirectional. In undirected graphs, all the edges are bidirectional.</a:t>
            </a:r>
            <a:endParaRPr sz="1100">
              <a:latin typeface="Open Sans"/>
              <a:ea typeface="Open Sans"/>
              <a:cs typeface="Open Sans"/>
            </a:endParaRPr>
          </a:p>
        </p:txBody>
      </p:sp>
      <p:sp>
        <p:nvSpPr>
          <p:cNvPr id="971268818" name="Google Shape;64;p13"/>
          <p:cNvSpPr txBox="1"/>
          <p:nvPr/>
        </p:nvSpPr>
        <p:spPr bwMode="auto">
          <a:xfrm>
            <a:off x="4989677" y="9196175"/>
            <a:ext cx="2035800" cy="9633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In what ways are graphs implemented in programs?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22962312" name="Google Shape;65;p13"/>
          <p:cNvSpPr txBox="1"/>
          <p:nvPr/>
        </p:nvSpPr>
        <p:spPr bwMode="auto">
          <a:xfrm>
            <a:off x="387400" y="3940950"/>
            <a:ext cx="1812900" cy="6405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Adjacency matrix and adjacency list</a:t>
            </a:r>
            <a:endParaRPr sz="1100">
              <a:latin typeface="Open Sans"/>
              <a:ea typeface="Open Sans"/>
              <a:cs typeface="Open Sans"/>
            </a:endParaRPr>
          </a:p>
        </p:txBody>
      </p:sp>
      <p:sp>
        <p:nvSpPr>
          <p:cNvPr id="936071993" name="Google Shape;66;p13"/>
          <p:cNvSpPr txBox="1"/>
          <p:nvPr/>
        </p:nvSpPr>
        <p:spPr bwMode="auto">
          <a:xfrm>
            <a:off x="387388" y="9344975"/>
            <a:ext cx="2035800" cy="8181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What data structure is used to implement graphs using adjacency matrix?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9654802" name="Google Shape;67;p13"/>
          <p:cNvSpPr txBox="1"/>
          <p:nvPr/>
        </p:nvSpPr>
        <p:spPr bwMode="auto">
          <a:xfrm>
            <a:off x="2800000" y="4764178"/>
            <a:ext cx="1812900" cy="4617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Two-dimensional array</a:t>
            </a:r>
            <a:endParaRPr sz="1100">
              <a:latin typeface="Open Sans"/>
              <a:ea typeface="Open Sans"/>
              <a:cs typeface="Open Sans"/>
            </a:endParaRPr>
          </a:p>
        </p:txBody>
      </p:sp>
      <p:sp>
        <p:nvSpPr>
          <p:cNvPr id="875131753" name="Google Shape;68;p13"/>
          <p:cNvSpPr txBox="1"/>
          <p:nvPr/>
        </p:nvSpPr>
        <p:spPr bwMode="auto">
          <a:xfrm>
            <a:off x="339402" y="6119197"/>
            <a:ext cx="2131800" cy="8181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What data structures are used to implement a weighted graph using adjacency list?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60487049" name="Google Shape;69;p13"/>
          <p:cNvSpPr txBox="1"/>
          <p:nvPr/>
        </p:nvSpPr>
        <p:spPr bwMode="auto">
          <a:xfrm>
            <a:off x="299601" y="8235522"/>
            <a:ext cx="2258400" cy="8181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List of nodes is created. A dictionary is used to represent edges of a weighted graph.</a:t>
            </a:r>
            <a:endParaRPr sz="1100">
              <a:latin typeface="Open Sans"/>
              <a:ea typeface="Open Sans"/>
              <a:cs typeface="Open Sans"/>
            </a:endParaRPr>
          </a:p>
        </p:txBody>
      </p:sp>
      <p:sp>
        <p:nvSpPr>
          <p:cNvPr id="1469903307" name="Google Shape;70;p13"/>
          <p:cNvSpPr txBox="1"/>
          <p:nvPr/>
        </p:nvSpPr>
        <p:spPr bwMode="auto">
          <a:xfrm>
            <a:off x="4806751" y="4708303"/>
            <a:ext cx="2258400" cy="8181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What data structure is used to implement an unweighted graph using adjacency list?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76465661" name="Google Shape;71;p13"/>
          <p:cNvSpPr txBox="1"/>
          <p:nvPr/>
        </p:nvSpPr>
        <p:spPr bwMode="auto">
          <a:xfrm>
            <a:off x="2577238" y="9225500"/>
            <a:ext cx="2258400" cy="8181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5715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List of nodes is created. Each node is linked to a list of nodes it is attached to.</a:t>
            </a:r>
            <a:endParaRPr sz="1100">
              <a:latin typeface="Open Sans"/>
              <a:ea typeface="Open Sans"/>
              <a:cs typeface="Open Sans"/>
            </a:endParaRPr>
          </a:p>
        </p:txBody>
      </p:sp>
      <p:sp>
        <p:nvSpPr>
          <p:cNvPr id="980700010" name="Google Shape;72;p13"/>
          <p:cNvSpPr txBox="1"/>
          <p:nvPr/>
        </p:nvSpPr>
        <p:spPr bwMode="auto">
          <a:xfrm>
            <a:off x="4403325" y="8275524"/>
            <a:ext cx="2510699" cy="6405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State properties of the adjacency matrix of an undirected graph.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80203727" name="Google Shape;73;p13"/>
          <p:cNvSpPr txBox="1"/>
          <p:nvPr/>
        </p:nvSpPr>
        <p:spPr bwMode="auto">
          <a:xfrm>
            <a:off x="2800001" y="5756994"/>
            <a:ext cx="2392200" cy="8181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The adjacency matrix of an unweighted graph is symmetric with respect to its diagonal. </a:t>
            </a:r>
            <a:endParaRPr sz="1100">
              <a:latin typeface="Open Sans"/>
              <a:ea typeface="Open Sans"/>
              <a:cs typeface="Open Sans"/>
            </a:endParaRPr>
          </a:p>
        </p:txBody>
      </p:sp>
      <p:sp>
        <p:nvSpPr>
          <p:cNvPr id="1299721105" name="Google Shape;74;p13"/>
          <p:cNvSpPr txBox="1"/>
          <p:nvPr/>
        </p:nvSpPr>
        <p:spPr bwMode="auto">
          <a:xfrm>
            <a:off x="5252325" y="6805700"/>
            <a:ext cx="1812900" cy="8181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solidFill>
                  <a:srgbClr val="0073CC"/>
                </a:solidFill>
                <a:latin typeface="Open Sans"/>
                <a:ea typeface="Open Sans"/>
                <a:cs typeface="Open Sans"/>
              </a:rPr>
              <a:t>State disadvantages of implementing a graph using adjacency matrix.</a:t>
            </a:r>
            <a:endParaRPr sz="1100">
              <a:solidFill>
                <a:srgbClr val="0073C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90693795" name="Google Shape;75;p13"/>
          <p:cNvSpPr txBox="1"/>
          <p:nvPr/>
        </p:nvSpPr>
        <p:spPr bwMode="auto">
          <a:xfrm>
            <a:off x="2733138" y="6877625"/>
            <a:ext cx="2392200" cy="1146600"/>
          </a:xfrm>
          <a:prstGeom prst="rect">
            <a:avLst/>
          </a:prstGeom>
          <a:noFill/>
          <a:ln w="38100" cap="flat" cmpd="sng">
            <a:solidFill>
              <a:srgbClr val="007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75" tIns="125075" rIns="125075" bIns="125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100">
                <a:latin typeface="Open Sans"/>
                <a:ea typeface="Open Sans"/>
                <a:cs typeface="Open Sans"/>
              </a:rPr>
              <a:t>It is not preferred for a sparsely connected graph because many cells are left blank. This leads to wastage of memory space. Also, it isn’t easy to modify nodes in a two-dimensional array.</a:t>
            </a:r>
            <a:endParaRPr sz="1100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394075" name="Google Shape;80;p14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4762810" name="Google Shape;81;p14"/>
          <p:cNvSpPr txBox="1"/>
          <p:nvPr/>
        </p:nvSpPr>
        <p:spPr bwMode="auto">
          <a:xfrm>
            <a:off x="293850" y="231375"/>
            <a:ext cx="6972300" cy="1477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Key concept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Graph traversal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Graph traversal means to visit its vertices in some sequence.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09967831" name="Google Shape;82;p14"/>
          <p:cNvSpPr txBox="1"/>
          <p:nvPr/>
        </p:nvSpPr>
        <p:spPr bwMode="auto">
          <a:xfrm>
            <a:off x="293850" y="1915650"/>
            <a:ext cx="6972300" cy="8043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Task one - Operations on a graph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There are a number operations that can be performed on a graph.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GB">
                <a:solidFill>
                  <a:schemeClr val="dk1"/>
                </a:solidFill>
              </a:rPr>
              <a:t>Complete the table.</a:t>
            </a:r>
            <a:endParaRPr/>
          </a:p>
        </p:txBody>
      </p:sp>
      <p:graphicFrame>
        <p:nvGraphicFramePr>
          <p:cNvPr id="1672225481" name="Google Shape;83;p14"/>
          <p:cNvGraphicFramePr>
            <a:graphicFrameLocks xmlns:a="http://schemas.openxmlformats.org/drawingml/2006/main"/>
          </p:cNvGraphicFramePr>
          <p:nvPr/>
        </p:nvGraphicFramePr>
        <p:xfrm rot="0">
          <a:off x="462450" y="32628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1863300"/>
                <a:gridCol w="4805225"/>
              </a:tblGrid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Operation</a:t>
                      </a:r>
                      <a:endParaRPr b="1"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Description</a:t>
                      </a:r>
                      <a:endParaRPr b="1"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Adjacent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returns whether there is an edge between vertices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Neighbours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returns all the vertices between two vertices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Add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adds a new vertex from the graph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Remove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removes a vertex from the graph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Add edge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Remove edge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Get vertex value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Set vertex value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Get edge value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975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Set edge value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89829" name="Google Shape;88;p15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9232866" name="Google Shape;89;p15"/>
          <p:cNvSpPr txBox="1"/>
          <p:nvPr/>
        </p:nvSpPr>
        <p:spPr bwMode="auto">
          <a:xfrm>
            <a:off x="293850" y="231375"/>
            <a:ext cx="6972300" cy="1693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Key concept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Breadth-first search (BFS)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Traverses the graph, starting at the root node, visiting each neighbouring node before moving to the vertices at the next depth.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87877275" name="Google Shape;90;p15"/>
          <p:cNvSpPr txBox="1"/>
          <p:nvPr/>
        </p:nvSpPr>
        <p:spPr bwMode="auto">
          <a:xfrm>
            <a:off x="293850" y="1991850"/>
            <a:ext cx="6972300" cy="8043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Breadth- first search on a graph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The breadth-first search is used to determine the shortest path between </a:t>
            </a:r>
            <a:r>
              <a:rPr lang="en-GB"/>
              <a:t>vertices</a:t>
            </a:r>
            <a:r>
              <a:rPr lang="en-GB"/>
              <a:t> on a graph, search engine indexing using a crawler algorithm, finding devices on peer-to-peer networks and broadcasting frames or packets on a network. GPS navigation systems, memory management using Cheney’s algorithm and finding nearby people on a social network are all applications of breadth-first searches.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BFS in simple-structured English</a:t>
            </a:r>
            <a:endParaRPr b="1"/>
          </a:p>
        </p:txBody>
      </p:sp>
      <p:sp>
        <p:nvSpPr>
          <p:cNvPr id="1417092101" name="Google Shape;91;p15"/>
          <p:cNvSpPr txBox="1"/>
          <p:nvPr/>
        </p:nvSpPr>
        <p:spPr bwMode="auto">
          <a:xfrm>
            <a:off x="371850" y="4218575"/>
            <a:ext cx="6816300" cy="286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Set the root vertex as the current vertex.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If the vertex has an edge that has not been visited:</a:t>
            </a:r>
            <a:endParaRPr sz="1800"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  <a:defRPr/>
            </a:pPr>
            <a:r>
              <a:rPr lang="en-GB">
                <a:solidFill>
                  <a:schemeClr val="dk2"/>
                </a:solidFill>
              </a:rPr>
              <a:t>Enqueue the linked vertex.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  <a:defRPr/>
            </a:pPr>
            <a:r>
              <a:rPr lang="en-GB">
                <a:solidFill>
                  <a:schemeClr val="dk2"/>
                </a:solidFill>
              </a:rPr>
              <a:t>Repeat from step 2 until all the edges has been visited.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Add the current vertex to the list of visited vertices.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Dequeue the queue and set the item removed as the current vertex.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Repeat from step 2 until there are no vertices to visit.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Output all the visited vertices.</a:t>
            </a:r>
            <a:endParaRPr/>
          </a:p>
        </p:txBody>
      </p:sp>
      <p:sp>
        <p:nvSpPr>
          <p:cNvPr id="1395170239" name="Google Shape;92;p15"/>
          <p:cNvSpPr txBox="1"/>
          <p:nvPr/>
        </p:nvSpPr>
        <p:spPr bwMode="auto">
          <a:xfrm>
            <a:off x="3435449" y="7462125"/>
            <a:ext cx="3752699" cy="83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The graph on the left shows the order the nodes would be visited using the BFS traversal.</a:t>
            </a:r>
            <a:endParaRPr/>
          </a:p>
        </p:txBody>
      </p:sp>
      <p:pic>
        <p:nvPicPr>
          <p:cNvPr id="1061762140" name="Google Shape;93;p15"/>
          <p:cNvPicPr/>
          <p:nvPr/>
        </p:nvPicPr>
        <p:blipFill rotWithShape="1">
          <a:blip r:embed="rId3">
            <a:alphaModFix/>
          </a:blip>
          <a:srcRect l="0" t="0" r="50409" b="0"/>
          <a:stretch/>
        </p:blipFill>
        <p:spPr bwMode="auto">
          <a:xfrm>
            <a:off x="517575" y="7238400"/>
            <a:ext cx="2917875" cy="247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019274" name="Google Shape;98;p16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552380" name="Google Shape;99;p16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one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pic>
        <p:nvPicPr>
          <p:cNvPr id="1981214373" name="Google Shape;100;p16"/>
          <p:cNvPicPr/>
          <p:nvPr/>
        </p:nvPicPr>
        <p:blipFill rotWithShape="1">
          <a:blip r:embed="rId3">
            <a:alphaModFix/>
          </a:blip>
          <a:srcRect l="24526" t="1855" r="19670" b="0"/>
          <a:stretch/>
        </p:blipFill>
        <p:spPr bwMode="auto">
          <a:xfrm rot="-5400000">
            <a:off x="2709751" y="591725"/>
            <a:ext cx="2346849" cy="2321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7112353" name="Google Shape;101;p16"/>
          <p:cNvGraphicFramePr>
            <a:graphicFrameLocks xmlns:a="http://schemas.openxmlformats.org/drawingml/2006/main"/>
          </p:cNvGraphicFramePr>
          <p:nvPr/>
        </p:nvGraphicFramePr>
        <p:xfrm rot="0">
          <a:off x="406675" y="3318449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Start at a root vertex. Add A to the list of the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09270826" name="Google Shape;102;p16"/>
          <p:cNvGraphicFramePr>
            <a:graphicFrameLocks xmlns:a="http://schemas.openxmlformats.org/drawingml/2006/main"/>
          </p:cNvGraphicFramePr>
          <p:nvPr/>
        </p:nvGraphicFramePr>
        <p:xfrm rot="0">
          <a:off x="3258525" y="47797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163357537" name="Google Shape;103;p16"/>
          <p:cNvPicPr/>
          <p:nvPr/>
        </p:nvPicPr>
        <p:blipFill rotWithShape="1">
          <a:blip r:embed="rId4">
            <a:alphaModFix/>
          </a:blip>
          <a:srcRect l="23865" t="15208" r="16323" b="14384"/>
          <a:stretch/>
        </p:blipFill>
        <p:spPr bwMode="auto">
          <a:xfrm rot="5400000">
            <a:off x="1036438" y="4821812"/>
            <a:ext cx="2185252" cy="14470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2168480" name="Google Shape;104;p16"/>
          <p:cNvGraphicFramePr>
            <a:graphicFrameLocks xmlns:a="http://schemas.openxmlformats.org/drawingml/2006/main"/>
          </p:cNvGraphicFramePr>
          <p:nvPr/>
        </p:nvGraphicFramePr>
        <p:xfrm rot="0">
          <a:off x="406675" y="6901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2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Enqueue B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280621289" name="Google Shape;105;p16"/>
          <p:cNvPicPr/>
          <p:nvPr/>
        </p:nvPicPr>
        <p:blipFill rotWithShape="1">
          <a:blip r:embed="rId5">
            <a:alphaModFix/>
          </a:blip>
          <a:srcRect l="18854" t="0" r="16622" b="0"/>
          <a:stretch/>
        </p:blipFill>
        <p:spPr bwMode="auto">
          <a:xfrm rot="5400000">
            <a:off x="1063600" y="8225049"/>
            <a:ext cx="2130924" cy="1857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3539207" name="Google Shape;106;p16"/>
          <p:cNvGraphicFramePr>
            <a:graphicFrameLocks xmlns:a="http://schemas.openxmlformats.org/drawingml/2006/main"/>
          </p:cNvGraphicFramePr>
          <p:nvPr/>
        </p:nvGraphicFramePr>
        <p:xfrm rot="0">
          <a:off x="3258525" y="82741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411394" name="Google Shape;111;p17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9876978" name="Google Shape;112;p17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one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542138767" name="Google Shape;113;p17"/>
          <p:cNvGraphicFramePr>
            <a:graphicFrameLocks xmlns:a="http://schemas.openxmlformats.org/drawingml/2006/main"/>
          </p:cNvGraphicFramePr>
          <p:nvPr/>
        </p:nvGraphicFramePr>
        <p:xfrm rot="0">
          <a:off x="406675" y="38084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694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0212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4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Enqueue D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1954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24104061" name="Google Shape;114;p17"/>
          <p:cNvGraphicFramePr>
            <a:graphicFrameLocks xmlns:a="http://schemas.openxmlformats.org/drawingml/2006/main"/>
          </p:cNvGraphicFramePr>
          <p:nvPr/>
        </p:nvGraphicFramePr>
        <p:xfrm rot="0">
          <a:off x="406675" y="6901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5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considered. Dequeue. Set B to be the current vertex. Add B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82755028" name="Google Shape;115;p17"/>
          <p:cNvGraphicFramePr>
            <a:graphicFrameLocks xmlns:a="http://schemas.openxmlformats.org/drawingml/2006/main"/>
          </p:cNvGraphicFramePr>
          <p:nvPr/>
        </p:nvGraphicFramePr>
        <p:xfrm rot="0">
          <a:off x="406675" y="575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92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262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3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Enqueue C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88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492023256" name="Google Shape;116;p17"/>
          <p:cNvPicPr/>
          <p:nvPr/>
        </p:nvPicPr>
        <p:blipFill rotWithShape="1">
          <a:blip r:embed="rId3">
            <a:alphaModFix/>
          </a:blip>
          <a:srcRect l="22745" t="0" r="16227" b="0"/>
          <a:stretch/>
        </p:blipFill>
        <p:spPr bwMode="auto">
          <a:xfrm rot="5400000">
            <a:off x="1081011" y="1689638"/>
            <a:ext cx="2032077" cy="18730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0498432" name="Google Shape;117;p17"/>
          <p:cNvGraphicFramePr>
            <a:graphicFrameLocks xmlns:a="http://schemas.openxmlformats.org/drawingml/2006/main"/>
          </p:cNvGraphicFramePr>
          <p:nvPr/>
        </p:nvGraphicFramePr>
        <p:xfrm rot="0">
          <a:off x="3239775" y="1814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74484481" name="Google Shape;118;p1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 rot="5400000">
            <a:off x="1102751" y="5020596"/>
            <a:ext cx="1988598" cy="1507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314237" name="Google Shape;119;p17"/>
          <p:cNvGraphicFramePr>
            <a:graphicFrameLocks xmlns:a="http://schemas.openxmlformats.org/drawingml/2006/main"/>
          </p:cNvGraphicFramePr>
          <p:nvPr/>
        </p:nvGraphicFramePr>
        <p:xfrm rot="0">
          <a:off x="3239775" y="50442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31745685" name="Google Shape;120;p17"/>
          <p:cNvPicPr/>
          <p:nvPr/>
        </p:nvPicPr>
        <p:blipFill rotWithShape="1">
          <a:blip r:embed="rId5">
            <a:alphaModFix/>
          </a:blip>
          <a:srcRect l="21223" t="13956" r="0" b="18917"/>
          <a:stretch/>
        </p:blipFill>
        <p:spPr bwMode="auto">
          <a:xfrm>
            <a:off x="1343325" y="8051200"/>
            <a:ext cx="1621089" cy="2032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7564446" name="Google Shape;121;p17"/>
          <p:cNvGraphicFramePr>
            <a:graphicFrameLocks xmlns:a="http://schemas.openxmlformats.org/drawingml/2006/main"/>
          </p:cNvGraphicFramePr>
          <p:nvPr/>
        </p:nvGraphicFramePr>
        <p:xfrm rot="0">
          <a:off x="3239775" y="82741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649361" name="Google Shape;126;p18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088923" name="Google Shape;127;p18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one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545044128" name="Google Shape;128;p18"/>
          <p:cNvGraphicFramePr>
            <a:graphicFrameLocks xmlns:a="http://schemas.openxmlformats.org/drawingml/2006/main"/>
          </p:cNvGraphicFramePr>
          <p:nvPr/>
        </p:nvGraphicFramePr>
        <p:xfrm rot="0">
          <a:off x="406675" y="38084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694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0212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7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considered. Dequeue. Set C to be the current vertex. Add C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1954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96754889" name="Google Shape;129;p18"/>
          <p:cNvGraphicFramePr>
            <a:graphicFrameLocks xmlns:a="http://schemas.openxmlformats.org/drawingml/2006/main"/>
          </p:cNvGraphicFramePr>
          <p:nvPr/>
        </p:nvGraphicFramePr>
        <p:xfrm rot="0">
          <a:off x="406675" y="6901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8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considered. Dequeue. Set D to be the current vertex. Add D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615219955" name="Google Shape;130;p18"/>
          <p:cNvGraphicFramePr>
            <a:graphicFrameLocks xmlns:a="http://schemas.openxmlformats.org/drawingml/2006/main"/>
          </p:cNvGraphicFramePr>
          <p:nvPr/>
        </p:nvGraphicFramePr>
        <p:xfrm rot="0">
          <a:off x="406675" y="575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92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262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6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Enqueue 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88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872858049" name="Google Shape;131;p18"/>
          <p:cNvPicPr/>
          <p:nvPr/>
        </p:nvPicPr>
        <p:blipFill rotWithShape="1">
          <a:blip r:embed="rId3">
            <a:alphaModFix/>
          </a:blip>
          <a:srcRect l="19560" t="0" r="20952" b="0"/>
          <a:stretch/>
        </p:blipFill>
        <p:spPr bwMode="auto">
          <a:xfrm rot="-5400000">
            <a:off x="1105275" y="1667800"/>
            <a:ext cx="2029650" cy="19191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572660" name="Google Shape;132;p18"/>
          <p:cNvGraphicFramePr>
            <a:graphicFrameLocks xmlns:a="http://schemas.openxmlformats.org/drawingml/2006/main"/>
          </p:cNvGraphicFramePr>
          <p:nvPr/>
        </p:nvGraphicFramePr>
        <p:xfrm rot="0">
          <a:off x="3270750" y="17698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76453014" name="Google Shape;133;p18"/>
          <p:cNvPicPr/>
          <p:nvPr/>
        </p:nvPicPr>
        <p:blipFill rotWithShape="1">
          <a:blip r:embed="rId4">
            <a:alphaModFix/>
          </a:blip>
          <a:srcRect l="17950" t="0" r="20426" b="0"/>
          <a:stretch/>
        </p:blipFill>
        <p:spPr bwMode="auto">
          <a:xfrm rot="-5400000">
            <a:off x="1121751" y="4966900"/>
            <a:ext cx="1996698" cy="18225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8883069" name="Google Shape;134;p18"/>
          <p:cNvGraphicFramePr>
            <a:graphicFrameLocks xmlns:a="http://schemas.openxmlformats.org/drawingml/2006/main"/>
          </p:cNvGraphicFramePr>
          <p:nvPr/>
        </p:nvGraphicFramePr>
        <p:xfrm rot="0">
          <a:off x="3270750" y="49997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98590689" name="Google Shape;135;p18"/>
          <p:cNvPicPr/>
          <p:nvPr/>
        </p:nvPicPr>
        <p:blipFill rotWithShape="1">
          <a:blip r:embed="rId5">
            <a:alphaModFix/>
          </a:blip>
          <a:srcRect l="17625" t="13330" r="18745" b="0"/>
          <a:stretch/>
        </p:blipFill>
        <p:spPr bwMode="auto">
          <a:xfrm rot="-5400000">
            <a:off x="1083912" y="8368688"/>
            <a:ext cx="2176850" cy="1667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1834110" name="Google Shape;136;p18"/>
          <p:cNvGraphicFramePr>
            <a:graphicFrameLocks xmlns:a="http://schemas.openxmlformats.org/drawingml/2006/main"/>
          </p:cNvGraphicFramePr>
          <p:nvPr/>
        </p:nvGraphicFramePr>
        <p:xfrm rot="0">
          <a:off x="3270750" y="82296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056220" name="Google Shape;141;p19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94154647" name="Google Shape;142;p19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one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268786096" name="Google Shape;143;p19"/>
          <p:cNvGraphicFramePr>
            <a:graphicFrameLocks xmlns:a="http://schemas.openxmlformats.org/drawingml/2006/main"/>
          </p:cNvGraphicFramePr>
          <p:nvPr/>
        </p:nvGraphicFramePr>
        <p:xfrm rot="0">
          <a:off x="406675" y="38084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887500"/>
                <a:gridCol w="1852975"/>
                <a:gridCol w="2924975"/>
                <a:gridCol w="1078400"/>
              </a:tblGrid>
              <a:tr h="4694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0212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10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considered. Dequeue. Set E to be the current vertex. Add E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1954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ABCDE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24762101" name="Google Shape;144;p19"/>
          <p:cNvGraphicFramePr>
            <a:graphicFrameLocks xmlns:a="http://schemas.openxmlformats.org/drawingml/2006/main"/>
          </p:cNvGraphicFramePr>
          <p:nvPr/>
        </p:nvGraphicFramePr>
        <p:xfrm rot="0">
          <a:off x="406675" y="6977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887500"/>
                <a:gridCol w="185297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Enqueue G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ABCDE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9462137" name="Google Shape;145;p19"/>
          <p:cNvGraphicFramePr>
            <a:graphicFrameLocks xmlns:a="http://schemas.openxmlformats.org/drawingml/2006/main"/>
          </p:cNvGraphicFramePr>
          <p:nvPr/>
        </p:nvGraphicFramePr>
        <p:xfrm rot="0">
          <a:off x="406675" y="575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92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262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9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Enqueue F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88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544052366" name="Google Shape;146;p19"/>
          <p:cNvPicPr/>
          <p:nvPr/>
        </p:nvPicPr>
        <p:blipFill rotWithShape="1">
          <a:blip r:embed="rId3">
            <a:alphaModFix/>
          </a:blip>
          <a:srcRect l="16067" t="0" r="16479" b="0"/>
          <a:stretch/>
        </p:blipFill>
        <p:spPr bwMode="auto">
          <a:xfrm rot="5400000">
            <a:off x="1123462" y="1757364"/>
            <a:ext cx="2055552" cy="17141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1884133" name="Google Shape;147;p19"/>
          <p:cNvGraphicFramePr>
            <a:graphicFrameLocks xmlns:a="http://schemas.openxmlformats.org/drawingml/2006/main"/>
          </p:cNvGraphicFramePr>
          <p:nvPr/>
        </p:nvGraphicFramePr>
        <p:xfrm rot="0">
          <a:off x="3293025" y="17475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B</a:t>
                      </a:r>
                      <a:endParaRPr b="1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C</a:t>
                      </a:r>
                      <a:endParaRPr b="1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D</a:t>
                      </a:r>
                      <a:endParaRPr b="1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02304572" name="Google Shape;148;p19"/>
          <p:cNvPicPr/>
          <p:nvPr/>
        </p:nvPicPr>
        <p:blipFill rotWithShape="1">
          <a:blip r:embed="rId4">
            <a:alphaModFix/>
          </a:blip>
          <a:srcRect l="15593" t="0" r="20027" b="0"/>
          <a:stretch/>
        </p:blipFill>
        <p:spPr bwMode="auto">
          <a:xfrm rot="5400000">
            <a:off x="1160812" y="5004938"/>
            <a:ext cx="1980851" cy="17306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0581321" name="Google Shape;149;p19"/>
          <p:cNvGraphicFramePr>
            <a:graphicFrameLocks xmlns:a="http://schemas.openxmlformats.org/drawingml/2006/main"/>
          </p:cNvGraphicFramePr>
          <p:nvPr/>
        </p:nvGraphicFramePr>
        <p:xfrm rot="0">
          <a:off x="3293025" y="49997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26361206" name="Google Shape;150;p19"/>
          <p:cNvPicPr/>
          <p:nvPr/>
        </p:nvPicPr>
        <p:blipFill rotWithShape="1">
          <a:blip r:embed="rId5">
            <a:alphaModFix/>
          </a:blip>
          <a:srcRect l="18406" t="0" r="15170" b="0"/>
          <a:stretch/>
        </p:blipFill>
        <p:spPr bwMode="auto">
          <a:xfrm rot="-5400000">
            <a:off x="1133274" y="8259249"/>
            <a:ext cx="2100751" cy="17789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0695034" name="Google Shape;151;p19"/>
          <p:cNvGraphicFramePr>
            <a:graphicFrameLocks xmlns:a="http://schemas.openxmlformats.org/drawingml/2006/main"/>
          </p:cNvGraphicFramePr>
          <p:nvPr/>
        </p:nvGraphicFramePr>
        <p:xfrm rot="0">
          <a:off x="3293025" y="82518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B</a:t>
                      </a:r>
                      <a:endParaRPr b="1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C</a:t>
                      </a:r>
                      <a:endParaRPr b="1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D</a:t>
                      </a:r>
                      <a:endParaRPr b="1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/>
                        <a:t>E</a:t>
                      </a:r>
                      <a:endParaRPr b="1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555997" name="Google Shape;156;p20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5229637" name="Google Shape;157;p20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one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15745185" name="Google Shape;158;p20"/>
          <p:cNvGraphicFramePr>
            <a:graphicFrameLocks xmlns:a="http://schemas.openxmlformats.org/drawingml/2006/main"/>
          </p:cNvGraphicFramePr>
          <p:nvPr/>
        </p:nvGraphicFramePr>
        <p:xfrm rot="0">
          <a:off x="406675" y="38084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887500"/>
                <a:gridCol w="1852975"/>
                <a:gridCol w="2924975"/>
                <a:gridCol w="1078400"/>
              </a:tblGrid>
              <a:tr h="4694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0212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13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considered. Dequeue. Set G to be the current vertex. Add G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1954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ABCDEFG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434395634" name="Google Shape;159;p20"/>
          <p:cNvGraphicFramePr>
            <a:graphicFrameLocks xmlns:a="http://schemas.openxmlformats.org/drawingml/2006/main"/>
          </p:cNvGraphicFramePr>
          <p:nvPr/>
        </p:nvGraphicFramePr>
        <p:xfrm rot="0">
          <a:off x="406675" y="6977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887500"/>
                <a:gridCol w="185297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14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visited considered. Dequeue. The queue is empty. Algorithm complete.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ABCDEFG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58747228" name="Google Shape;160;p20"/>
          <p:cNvGraphicFramePr>
            <a:graphicFrameLocks xmlns:a="http://schemas.openxmlformats.org/drawingml/2006/main"/>
          </p:cNvGraphicFramePr>
          <p:nvPr/>
        </p:nvGraphicFramePr>
        <p:xfrm rot="0">
          <a:off x="406675" y="575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887500"/>
                <a:gridCol w="1852975"/>
                <a:gridCol w="2924975"/>
                <a:gridCol w="1078400"/>
              </a:tblGrid>
              <a:tr h="492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262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12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considered. Dequeue. Set F to be the current vertex. Add F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88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ABCDEF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778944147" name="Google Shape;161;p20"/>
          <p:cNvPicPr/>
          <p:nvPr/>
        </p:nvPicPr>
        <p:blipFill rotWithShape="1">
          <a:blip r:embed="rId3">
            <a:alphaModFix/>
          </a:blip>
          <a:srcRect l="23297" t="0" r="18620" b="18989"/>
          <a:stretch/>
        </p:blipFill>
        <p:spPr bwMode="auto">
          <a:xfrm rot="-5400000">
            <a:off x="1186175" y="1886199"/>
            <a:ext cx="2015826" cy="15815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756156" name="Google Shape;162;p20"/>
          <p:cNvGraphicFramePr>
            <a:graphicFrameLocks xmlns:a="http://schemas.openxmlformats.org/drawingml/2006/main"/>
          </p:cNvGraphicFramePr>
          <p:nvPr/>
        </p:nvGraphicFramePr>
        <p:xfrm rot="0">
          <a:off x="3270750" y="19035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21562778" name="Google Shape;163;p20"/>
          <p:cNvPicPr/>
          <p:nvPr/>
        </p:nvPicPr>
        <p:blipFill rotWithShape="1">
          <a:blip r:embed="rId3">
            <a:alphaModFix/>
          </a:blip>
          <a:srcRect l="25689" t="0" r="18622" b="13516"/>
          <a:stretch/>
        </p:blipFill>
        <p:spPr bwMode="auto">
          <a:xfrm rot="-5400000">
            <a:off x="1250424" y="4999163"/>
            <a:ext cx="1887324" cy="1648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577912" name="Google Shape;164;p20"/>
          <p:cNvGraphicFramePr>
            <a:graphicFrameLocks xmlns:a="http://schemas.openxmlformats.org/drawingml/2006/main"/>
          </p:cNvGraphicFramePr>
          <p:nvPr/>
        </p:nvGraphicFramePr>
        <p:xfrm rot="0">
          <a:off x="3270750" y="50665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37327847" name="Google Shape;165;p20"/>
          <p:cNvPicPr/>
          <p:nvPr/>
        </p:nvPicPr>
        <p:blipFill rotWithShape="1">
          <a:blip r:embed="rId4">
            <a:alphaModFix/>
          </a:blip>
          <a:srcRect l="24586" t="14030" r="19510" b="17961"/>
          <a:stretch/>
        </p:blipFill>
        <p:spPr bwMode="auto">
          <a:xfrm rot="-5400000">
            <a:off x="1152475" y="8456212"/>
            <a:ext cx="2083226" cy="1425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6794338" name="Google Shape;166;p20"/>
          <p:cNvGraphicFramePr>
            <a:graphicFrameLocks xmlns:a="http://schemas.openxmlformats.org/drawingml/2006/main"/>
          </p:cNvGraphicFramePr>
          <p:nvPr/>
        </p:nvGraphicFramePr>
        <p:xfrm rot="0">
          <a:off x="3270750" y="83374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181757" name="Google Shape;171;p21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58464144" name="Google Shape;172;p21"/>
          <p:cNvSpPr txBox="1"/>
          <p:nvPr/>
        </p:nvSpPr>
        <p:spPr bwMode="auto">
          <a:xfrm>
            <a:off x="293850" y="232125"/>
            <a:ext cx="6972300" cy="3599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one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It is worth noting that there is more than one valid output from a breadth-first search. This implementation examined the edges from A in the order B,C,D, from left to right. However , it would be perfectly valid to examine them in reverse order too, from right to left. To achieve this , the edges would need to be enqueued in reverse order.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Valid output 1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ABCDEFG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Valid output 2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ADCBFEG -</a:t>
            </a:r>
            <a:r>
              <a:rPr lang="en-GB"/>
              <a:t>Reversal traversal</a:t>
            </a:r>
            <a:endParaRPr/>
          </a:p>
        </p:txBody>
      </p:sp>
      <p:sp>
        <p:nvSpPr>
          <p:cNvPr id="238933998" name="Google Shape;173;p21"/>
          <p:cNvSpPr txBox="1"/>
          <p:nvPr/>
        </p:nvSpPr>
        <p:spPr bwMode="auto">
          <a:xfrm>
            <a:off x="293850" y="3950100"/>
            <a:ext cx="6972300" cy="6407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Code used</a:t>
            </a:r>
            <a:endParaRPr/>
          </a:p>
        </p:txBody>
      </p:sp>
      <p:pic>
        <p:nvPicPr>
          <p:cNvPr id="85391828" name="Google Shape;174;p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214538" y="4365900"/>
            <a:ext cx="5130925" cy="585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553637" name="Google Shape;179;p22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2686804" name="Google Shape;180;p22"/>
          <p:cNvSpPr txBox="1"/>
          <p:nvPr/>
        </p:nvSpPr>
        <p:spPr bwMode="auto">
          <a:xfrm>
            <a:off x="204750" y="185625"/>
            <a:ext cx="7253700" cy="5337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Code used</a:t>
            </a:r>
            <a:endParaRPr/>
          </a:p>
        </p:txBody>
      </p:sp>
      <p:pic>
        <p:nvPicPr>
          <p:cNvPr id="1942415997" name="Google Shape;181;p22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87350" y="617725"/>
            <a:ext cx="7253699" cy="1787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487382" name="Google Shape;182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379775" y="2609062"/>
            <a:ext cx="35242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847523" name="Google Shape;183;p22"/>
          <p:cNvSpPr txBox="1"/>
          <p:nvPr/>
        </p:nvSpPr>
        <p:spPr bwMode="auto">
          <a:xfrm>
            <a:off x="289575" y="3697650"/>
            <a:ext cx="7038900" cy="164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Notes</a:t>
            </a:r>
            <a:endParaRPr/>
          </a:p>
        </p:txBody>
      </p:sp>
      <p:sp>
        <p:nvSpPr>
          <p:cNvPr id="1215928603" name="Google Shape;184;p22"/>
          <p:cNvSpPr txBox="1"/>
          <p:nvPr/>
        </p:nvSpPr>
        <p:spPr bwMode="auto">
          <a:xfrm>
            <a:off x="204750" y="5684024"/>
            <a:ext cx="7253700" cy="4298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Alter the code given to you so that it can search the graph shown below. Write the visited list in the box below.</a:t>
            </a:r>
            <a:endParaRPr/>
          </a:p>
        </p:txBody>
      </p:sp>
      <p:pic>
        <p:nvPicPr>
          <p:cNvPr id="2049825918" name="Google Shape;185;p22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238650" y="6801596"/>
            <a:ext cx="2892025" cy="28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507315" name="Google Shape;186;p22"/>
          <p:cNvSpPr txBox="1"/>
          <p:nvPr/>
        </p:nvSpPr>
        <p:spPr bwMode="auto">
          <a:xfrm>
            <a:off x="379775" y="7009125"/>
            <a:ext cx="3524400" cy="164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Answer box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246962" name="Google Shape;191;p23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32387" name="Google Shape;192;p23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two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704342134" name="Google Shape;193;p23"/>
          <p:cNvGraphicFramePr>
            <a:graphicFrameLocks xmlns:a="http://schemas.openxmlformats.org/drawingml/2006/main"/>
          </p:cNvGraphicFramePr>
          <p:nvPr/>
        </p:nvGraphicFramePr>
        <p:xfrm rot="0">
          <a:off x="406675" y="3318449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Start at a root vertex. Add A to the list of the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19380562" name="Google Shape;194;p23"/>
          <p:cNvGraphicFramePr>
            <a:graphicFrameLocks xmlns:a="http://schemas.openxmlformats.org/drawingml/2006/main"/>
          </p:cNvGraphicFramePr>
          <p:nvPr/>
        </p:nvGraphicFramePr>
        <p:xfrm rot="0">
          <a:off x="3258525" y="47797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1190071" name="Google Shape;195;p23"/>
          <p:cNvGraphicFramePr>
            <a:graphicFrameLocks xmlns:a="http://schemas.openxmlformats.org/drawingml/2006/main"/>
          </p:cNvGraphicFramePr>
          <p:nvPr/>
        </p:nvGraphicFramePr>
        <p:xfrm rot="0">
          <a:off x="406675" y="6901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2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Enqueue B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46631559" name="Google Shape;196;p23"/>
          <p:cNvGraphicFramePr>
            <a:graphicFrameLocks xmlns:a="http://schemas.openxmlformats.org/drawingml/2006/main"/>
          </p:cNvGraphicFramePr>
          <p:nvPr/>
        </p:nvGraphicFramePr>
        <p:xfrm rot="0">
          <a:off x="3258525" y="82741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980690403" name="Google Shape;197;p23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2232413" y="329375"/>
            <a:ext cx="3095174" cy="2530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8907" name="Google Shape;198;p23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4605100"/>
            <a:ext cx="2088775" cy="17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038821" name="Google Shape;199;p23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8057950"/>
            <a:ext cx="2088775" cy="170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374267" name="Google Shape;204;p24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5744009" name="Google Shape;205;p24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two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375569309" name="Google Shape;206;p24"/>
          <p:cNvGraphicFramePr>
            <a:graphicFrameLocks xmlns:a="http://schemas.openxmlformats.org/drawingml/2006/main"/>
          </p:cNvGraphicFramePr>
          <p:nvPr/>
        </p:nvGraphicFramePr>
        <p:xfrm rot="0">
          <a:off x="406675" y="38084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694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0212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4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Enqueue D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1954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506992499" name="Google Shape;207;p24"/>
          <p:cNvGraphicFramePr>
            <a:graphicFrameLocks xmlns:a="http://schemas.openxmlformats.org/drawingml/2006/main"/>
          </p:cNvGraphicFramePr>
          <p:nvPr/>
        </p:nvGraphicFramePr>
        <p:xfrm rot="0">
          <a:off x="406675" y="6901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5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endParaRPr lang="en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64567160" name="Google Shape;208;p24"/>
          <p:cNvGraphicFramePr>
            <a:graphicFrameLocks xmlns:a="http://schemas.openxmlformats.org/drawingml/2006/main"/>
          </p:cNvGraphicFramePr>
          <p:nvPr/>
        </p:nvGraphicFramePr>
        <p:xfrm rot="0">
          <a:off x="406675" y="575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92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262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3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Enqueue C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88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3582797" name="Google Shape;209;p24"/>
          <p:cNvGraphicFramePr>
            <a:graphicFrameLocks xmlns:a="http://schemas.openxmlformats.org/drawingml/2006/main"/>
          </p:cNvGraphicFramePr>
          <p:nvPr/>
        </p:nvGraphicFramePr>
        <p:xfrm rot="0">
          <a:off x="3239775" y="1814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4297540" name="Google Shape;210;p24"/>
          <p:cNvGraphicFramePr>
            <a:graphicFrameLocks xmlns:a="http://schemas.openxmlformats.org/drawingml/2006/main"/>
          </p:cNvGraphicFramePr>
          <p:nvPr/>
        </p:nvGraphicFramePr>
        <p:xfrm rot="0">
          <a:off x="3239775" y="50442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5127297" name="Google Shape;211;p24"/>
          <p:cNvGraphicFramePr>
            <a:graphicFrameLocks xmlns:a="http://schemas.openxmlformats.org/drawingml/2006/main"/>
          </p:cNvGraphicFramePr>
          <p:nvPr/>
        </p:nvGraphicFramePr>
        <p:xfrm rot="0">
          <a:off x="3239775" y="82741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210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39457012" name="Google Shape;212;p24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8057950"/>
            <a:ext cx="2088775" cy="17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419182" name="Google Shape;213;p24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4784650"/>
            <a:ext cx="2088775" cy="17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631928" name="Google Shape;214;p24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1699250"/>
            <a:ext cx="2088775" cy="170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157674" name="Google Shape;219;p25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0734512" name="Google Shape;220;p25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two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826572570" name="Google Shape;221;p25"/>
          <p:cNvGraphicFramePr>
            <a:graphicFrameLocks xmlns:a="http://schemas.openxmlformats.org/drawingml/2006/main"/>
          </p:cNvGraphicFramePr>
          <p:nvPr/>
        </p:nvGraphicFramePr>
        <p:xfrm rot="0">
          <a:off x="406675" y="38084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694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0212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7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Visit C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1954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98579560" name="Google Shape;222;p25"/>
          <p:cNvGraphicFramePr>
            <a:graphicFrameLocks xmlns:a="http://schemas.openxmlformats.org/drawingml/2006/main"/>
          </p:cNvGraphicFramePr>
          <p:nvPr/>
        </p:nvGraphicFramePr>
        <p:xfrm rot="0">
          <a:off x="406675" y="6901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8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Visit D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br>
                        <a:rPr lang="en"/>
                      </a:br>
                      <a:r>
                        <a:rPr lang="en"/>
                        <a:t>D</a:t>
                      </a:r>
                      <a:endParaRPr lang="en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491851243" name="Google Shape;223;p25"/>
          <p:cNvGraphicFramePr>
            <a:graphicFrameLocks xmlns:a="http://schemas.openxmlformats.org/drawingml/2006/main"/>
          </p:cNvGraphicFramePr>
          <p:nvPr/>
        </p:nvGraphicFramePr>
        <p:xfrm rot="0">
          <a:off x="406675" y="575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92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262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6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Enqueue 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88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41019436" name="Google Shape;224;p25"/>
          <p:cNvGraphicFramePr>
            <a:graphicFrameLocks xmlns:a="http://schemas.openxmlformats.org/drawingml/2006/main"/>
          </p:cNvGraphicFramePr>
          <p:nvPr/>
        </p:nvGraphicFramePr>
        <p:xfrm rot="0">
          <a:off x="3270750" y="17698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75"/>
                <a:gridCol w="382875"/>
                <a:gridCol w="382875"/>
                <a:gridCol w="382875"/>
                <a:gridCol w="382875"/>
                <a:gridCol w="382875"/>
                <a:gridCol w="382875"/>
              </a:tblGrid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8944024" name="Google Shape;225;p25"/>
          <p:cNvGraphicFramePr>
            <a:graphicFrameLocks xmlns:a="http://schemas.openxmlformats.org/drawingml/2006/main"/>
          </p:cNvGraphicFramePr>
          <p:nvPr/>
        </p:nvGraphicFramePr>
        <p:xfrm rot="0">
          <a:off x="3270750" y="49997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75"/>
                <a:gridCol w="382875"/>
                <a:gridCol w="382875"/>
                <a:gridCol w="382875"/>
                <a:gridCol w="382875"/>
                <a:gridCol w="382875"/>
                <a:gridCol w="382875"/>
              </a:tblGrid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7324404" name="Google Shape;226;p25"/>
          <p:cNvGraphicFramePr>
            <a:graphicFrameLocks xmlns:a="http://schemas.openxmlformats.org/drawingml/2006/main"/>
          </p:cNvGraphicFramePr>
          <p:nvPr/>
        </p:nvGraphicFramePr>
        <p:xfrm rot="0">
          <a:off x="3270750" y="83309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75"/>
                <a:gridCol w="382875"/>
                <a:gridCol w="382875"/>
                <a:gridCol w="382875"/>
                <a:gridCol w="382875"/>
                <a:gridCol w="382875"/>
                <a:gridCol w="382875"/>
              </a:tblGrid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989997068" name="Google Shape;227;p25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4784650"/>
            <a:ext cx="2088775" cy="17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951761" name="Google Shape;228;p25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1769850"/>
            <a:ext cx="2088775" cy="17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116648" name="Google Shape;229;p25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8205850"/>
            <a:ext cx="2088775" cy="170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443336" name="Google Shape;234;p26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212723" name="Google Shape;235;p26"/>
          <p:cNvSpPr txBox="1"/>
          <p:nvPr/>
        </p:nvSpPr>
        <p:spPr bwMode="auto">
          <a:xfrm>
            <a:off x="293850" y="165300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two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531152283" name="Google Shape;236;p26"/>
          <p:cNvGraphicFramePr>
            <a:graphicFrameLocks xmlns:a="http://schemas.openxmlformats.org/drawingml/2006/main"/>
          </p:cNvGraphicFramePr>
          <p:nvPr/>
        </p:nvGraphicFramePr>
        <p:xfrm rot="0">
          <a:off x="406675" y="38084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887500"/>
                <a:gridCol w="1852975"/>
                <a:gridCol w="2924975"/>
                <a:gridCol w="1078400"/>
              </a:tblGrid>
              <a:tr h="4694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0212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10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1954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 lang="en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03166325" name="Google Shape;237;p26"/>
          <p:cNvGraphicFramePr>
            <a:graphicFrameLocks xmlns:a="http://schemas.openxmlformats.org/drawingml/2006/main"/>
          </p:cNvGraphicFramePr>
          <p:nvPr/>
        </p:nvGraphicFramePr>
        <p:xfrm rot="0">
          <a:off x="406675" y="6977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887500"/>
                <a:gridCol w="1852975"/>
                <a:gridCol w="2924975"/>
                <a:gridCol w="1078400"/>
              </a:tblGrid>
              <a:tr h="5480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8620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8222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64928470" name="Google Shape;238;p26"/>
          <p:cNvGraphicFramePr>
            <a:graphicFrameLocks xmlns:a="http://schemas.openxmlformats.org/drawingml/2006/main"/>
          </p:cNvGraphicFramePr>
          <p:nvPr/>
        </p:nvGraphicFramePr>
        <p:xfrm rot="0">
          <a:off x="406675" y="575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53850"/>
                <a:gridCol w="1986625"/>
                <a:gridCol w="2924975"/>
                <a:gridCol w="1078400"/>
              </a:tblGrid>
              <a:tr h="492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Queue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262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9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Visit 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88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549874763" name="Google Shape;239;p26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1769850"/>
            <a:ext cx="2088775" cy="17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917767" name="Google Shape;240;p26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294171" y="4780025"/>
            <a:ext cx="2088775" cy="17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992900" name="Google Shape;241;p26"/>
          <p:cNvPicPr/>
          <p:nvPr/>
        </p:nvPicPr>
        <p:blipFill rotWithShape="1">
          <a:blip r:embed="rId3">
            <a:alphaModFix/>
          </a:blip>
          <a:srcRect l="20174" t="7366" r="22852" b="30525"/>
          <a:stretch/>
        </p:blipFill>
        <p:spPr bwMode="auto">
          <a:xfrm>
            <a:off x="1155821" y="8251875"/>
            <a:ext cx="2088775" cy="1707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30308" name="Google Shape;242;p26"/>
          <p:cNvGraphicFramePr>
            <a:graphicFrameLocks xmlns:a="http://schemas.openxmlformats.org/drawingml/2006/main"/>
          </p:cNvGraphicFramePr>
          <p:nvPr/>
        </p:nvGraphicFramePr>
        <p:xfrm rot="0">
          <a:off x="3270750" y="49997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75"/>
                <a:gridCol w="382875"/>
                <a:gridCol w="382875"/>
                <a:gridCol w="382875"/>
                <a:gridCol w="382875"/>
                <a:gridCol w="382875"/>
                <a:gridCol w="382875"/>
              </a:tblGrid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5897955" name="Google Shape;243;p26"/>
          <p:cNvGraphicFramePr>
            <a:graphicFrameLocks xmlns:a="http://schemas.openxmlformats.org/drawingml/2006/main"/>
          </p:cNvGraphicFramePr>
          <p:nvPr/>
        </p:nvGraphicFramePr>
        <p:xfrm rot="0">
          <a:off x="3270750" y="17698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75"/>
                <a:gridCol w="382875"/>
                <a:gridCol w="382875"/>
                <a:gridCol w="382875"/>
                <a:gridCol w="382875"/>
                <a:gridCol w="382875"/>
                <a:gridCol w="382875"/>
              </a:tblGrid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699756" name="Google Shape;244;p26"/>
          <p:cNvGraphicFramePr>
            <a:graphicFrameLocks xmlns:a="http://schemas.openxmlformats.org/drawingml/2006/main"/>
          </p:cNvGraphicFramePr>
          <p:nvPr/>
        </p:nvGraphicFramePr>
        <p:xfrm rot="0">
          <a:off x="3270750" y="83094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382875"/>
                <a:gridCol w="382875"/>
                <a:gridCol w="382875"/>
                <a:gridCol w="382875"/>
                <a:gridCol w="382875"/>
                <a:gridCol w="382875"/>
                <a:gridCol w="382875"/>
              </a:tblGrid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12268" name="Google Shape;249;p27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4156447" name="Google Shape;250;p27"/>
          <p:cNvSpPr txBox="1"/>
          <p:nvPr/>
        </p:nvSpPr>
        <p:spPr bwMode="auto">
          <a:xfrm>
            <a:off x="293850" y="232125"/>
            <a:ext cx="6972300" cy="10155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Questions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Hand trace the breadth-first algorithm shown below for the the graph under the algorithm. The starting vertex is A. Assume that all the vertices except A and B have been marked unvisited. When presented with a choice of vertices, the one whose label is alphabetically smaller is chosen. The first two entries have been completed.</a:t>
            </a:r>
            <a:endParaRPr/>
          </a:p>
        </p:txBody>
      </p:sp>
      <p:sp>
        <p:nvSpPr>
          <p:cNvPr id="1259625769" name="Google Shape;251;p27"/>
          <p:cNvSpPr txBox="1"/>
          <p:nvPr/>
        </p:nvSpPr>
        <p:spPr bwMode="auto">
          <a:xfrm>
            <a:off x="371850" y="1811600"/>
            <a:ext cx="6816300" cy="27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Visit StartingVertex and mark as visited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Enqueue StartingVertex in queue Q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While Q not empty</a:t>
            </a:r>
            <a:endParaRPr sz="1200">
              <a:solidFill>
                <a:schemeClr val="dk2"/>
              </a:solidFill>
            </a:endParaRPr>
          </a:p>
          <a:p>
            <a:pPr marL="914400" lvl="1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  <a:defRPr/>
            </a:pPr>
            <a:r>
              <a:rPr lang="en-GB" sz="1200">
                <a:solidFill>
                  <a:schemeClr val="dk2"/>
                </a:solidFill>
              </a:rPr>
              <a:t>CurrentVertex ← REmove vertex from front of Q</a:t>
            </a:r>
            <a:endParaRPr sz="1200">
              <a:solidFill>
                <a:schemeClr val="dk2"/>
              </a:solidFill>
            </a:endParaRPr>
          </a:p>
          <a:p>
            <a:pPr marL="914400" lvl="1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  <a:defRPr/>
            </a:pPr>
            <a:r>
              <a:rPr lang="en-GB" sz="1200">
                <a:solidFill>
                  <a:schemeClr val="dk2"/>
                </a:solidFill>
              </a:rPr>
              <a:t>For each neighbouring vertex Neighbour of CurrentVertex</a:t>
            </a:r>
            <a:endParaRPr sz="1200">
              <a:solidFill>
                <a:schemeClr val="dk2"/>
              </a:solidFill>
            </a:endParaRPr>
          </a:p>
          <a:p>
            <a:pPr marL="1371600" lvl="2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romanLcPeriod"/>
              <a:defRPr/>
            </a:pPr>
            <a:r>
              <a:rPr lang="en-GB" sz="1200">
                <a:solidFill>
                  <a:schemeClr val="dk2"/>
                </a:solidFill>
              </a:rPr>
              <a:t>If Neighbour not visited Then</a:t>
            </a:r>
            <a:endParaRPr sz="1200">
              <a:solidFill>
                <a:schemeClr val="dk2"/>
              </a:solidFill>
            </a:endParaRPr>
          </a:p>
          <a:p>
            <a:pPr marL="1828800" lvl="3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Visit Neighbour and mark as visited</a:t>
            </a:r>
            <a:endParaRPr sz="1200">
              <a:solidFill>
                <a:schemeClr val="dk2"/>
              </a:solidFill>
            </a:endParaRPr>
          </a:p>
          <a:p>
            <a:pPr marL="1828800" lvl="3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Enqueue Neighbour in Q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None/>
              <a:defRPr/>
            </a:pPr>
            <a:r>
              <a:rPr lang="en-GB" sz="1200">
                <a:solidFill>
                  <a:schemeClr val="dk2"/>
                </a:solidFill>
              </a:rPr>
              <a:t>			ENDIF</a:t>
            </a:r>
            <a:br>
              <a:rPr lang="en-GB" sz="1200">
                <a:solidFill>
                  <a:schemeClr val="dk2"/>
                </a:solidFill>
              </a:rPr>
            </a:br>
            <a:r>
              <a:rPr lang="en-GB" sz="1200">
                <a:solidFill>
                  <a:schemeClr val="dk2"/>
                </a:solidFill>
              </a:rPr>
              <a:t>		ENDFOR</a:t>
            </a:r>
            <a:br>
              <a:rPr lang="en-GB" sz="1200">
                <a:solidFill>
                  <a:schemeClr val="dk2"/>
                </a:solidFill>
              </a:rPr>
            </a:br>
            <a:r>
              <a:rPr lang="en-GB" sz="1200">
                <a:solidFill>
                  <a:schemeClr val="dk2"/>
                </a:solidFill>
              </a:rPr>
              <a:t>	ENDWHILE</a:t>
            </a:r>
            <a:r>
              <a:rPr lang="en-GB" sz="1700">
                <a:solidFill>
                  <a:schemeClr val="dk2"/>
                </a:solidFill>
              </a:rPr>
              <a:t>	</a:t>
            </a:r>
            <a:endParaRPr sz="1700">
              <a:solidFill>
                <a:schemeClr val="dk2"/>
              </a:solidFill>
            </a:endParaRPr>
          </a:p>
        </p:txBody>
      </p:sp>
      <p:graphicFrame>
        <p:nvGraphicFramePr>
          <p:cNvPr id="1902109104" name="Google Shape;252;p27"/>
          <p:cNvGraphicFramePr>
            <a:graphicFrameLocks xmlns:a="http://schemas.openxmlformats.org/drawingml/2006/main"/>
          </p:cNvGraphicFramePr>
          <p:nvPr/>
        </p:nvGraphicFramePr>
        <p:xfrm rot="0">
          <a:off x="-8394575" y="49317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1704075"/>
                <a:gridCol w="1704075"/>
                <a:gridCol w="1704075"/>
                <a:gridCol w="1704075"/>
              </a:tblGrid>
              <a:tr h="53325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300"/>
                        <a:t>CurrentVertex</a:t>
                      </a:r>
                      <a:endParaRPr sz="13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300"/>
                        <a:t>Neighbours</a:t>
                      </a:r>
                      <a:endParaRPr sz="13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300"/>
                        <a:t>Visited </a:t>
                      </a:r>
                      <a:endParaRPr sz="13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300"/>
                        <a:t>Queue Q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300"/>
                        <a:t>  R                    F</a:t>
                      </a:r>
                      <a:endParaRPr sz="13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A,B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61000331" name="Google Shape;253;p27"/>
          <p:cNvPicPr/>
          <p:nvPr/>
        </p:nvPicPr>
        <p:blipFill rotWithShape="1">
          <a:blip r:embed="rId3">
            <a:alphaModFix/>
          </a:blip>
          <a:srcRect l="21651" t="3719" r="14442" b="19453"/>
          <a:stretch/>
        </p:blipFill>
        <p:spPr bwMode="auto">
          <a:xfrm>
            <a:off x="1596200" y="5048550"/>
            <a:ext cx="4636574" cy="41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099230" name="Google Shape;258;p28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900748" name="Google Shape;259;p28"/>
          <p:cNvSpPr txBox="1"/>
          <p:nvPr/>
        </p:nvSpPr>
        <p:spPr bwMode="auto">
          <a:xfrm>
            <a:off x="293850" y="232125"/>
            <a:ext cx="6972300" cy="10155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Questions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0570607" name="Google Shape;260;p28"/>
          <p:cNvSpPr txBox="1"/>
          <p:nvPr/>
        </p:nvSpPr>
        <p:spPr bwMode="auto">
          <a:xfrm>
            <a:off x="371850" y="722125"/>
            <a:ext cx="6816300" cy="27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Visit StartingVertex and mark as visited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Enqueue StartingVertex in queue Q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While Q not empty</a:t>
            </a:r>
            <a:endParaRPr sz="1200">
              <a:solidFill>
                <a:schemeClr val="dk2"/>
              </a:solidFill>
            </a:endParaRPr>
          </a:p>
          <a:p>
            <a:pPr marL="914400" lvl="1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  <a:defRPr/>
            </a:pPr>
            <a:r>
              <a:rPr lang="en-GB" sz="1200">
                <a:solidFill>
                  <a:schemeClr val="dk2"/>
                </a:solidFill>
              </a:rPr>
              <a:t>CurrentVertex ← REmove vertex from front of Q</a:t>
            </a:r>
            <a:endParaRPr sz="1200">
              <a:solidFill>
                <a:schemeClr val="dk2"/>
              </a:solidFill>
            </a:endParaRPr>
          </a:p>
          <a:p>
            <a:pPr marL="914400" lvl="1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  <a:defRPr/>
            </a:pPr>
            <a:r>
              <a:rPr lang="en-GB" sz="1200">
                <a:solidFill>
                  <a:schemeClr val="dk2"/>
                </a:solidFill>
              </a:rPr>
              <a:t>For each neighbouring vertex Neighbour of CurrentVertex</a:t>
            </a:r>
            <a:endParaRPr sz="1200">
              <a:solidFill>
                <a:schemeClr val="dk2"/>
              </a:solidFill>
            </a:endParaRPr>
          </a:p>
          <a:p>
            <a:pPr marL="1371600" lvl="2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romanLcPeriod"/>
              <a:defRPr/>
            </a:pPr>
            <a:r>
              <a:rPr lang="en-GB" sz="1200">
                <a:solidFill>
                  <a:schemeClr val="dk2"/>
                </a:solidFill>
              </a:rPr>
              <a:t>If Neighbour not visited Then</a:t>
            </a:r>
            <a:endParaRPr sz="1200">
              <a:solidFill>
                <a:schemeClr val="dk2"/>
              </a:solidFill>
            </a:endParaRPr>
          </a:p>
          <a:p>
            <a:pPr marL="1828800" lvl="3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Visit Neighbour and mark as visited</a:t>
            </a:r>
            <a:endParaRPr sz="1200">
              <a:solidFill>
                <a:schemeClr val="dk2"/>
              </a:solidFill>
            </a:endParaRPr>
          </a:p>
          <a:p>
            <a:pPr marL="1828800" lvl="3" indent="-3048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pPr>
            <a:r>
              <a:rPr lang="en-GB" sz="1200">
                <a:solidFill>
                  <a:schemeClr val="dk2"/>
                </a:solidFill>
              </a:rPr>
              <a:t>Enqueue Neighbour in Q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None/>
              <a:defRPr/>
            </a:pPr>
            <a:r>
              <a:rPr lang="en-GB" sz="1200">
                <a:solidFill>
                  <a:schemeClr val="dk2"/>
                </a:solidFill>
              </a:rPr>
              <a:t>			ENDIF</a:t>
            </a:r>
            <a:br>
              <a:rPr lang="en-GB" sz="1200">
                <a:solidFill>
                  <a:schemeClr val="dk2"/>
                </a:solidFill>
              </a:rPr>
            </a:br>
            <a:r>
              <a:rPr lang="en-GB" sz="1200">
                <a:solidFill>
                  <a:schemeClr val="dk2"/>
                </a:solidFill>
              </a:rPr>
              <a:t>		ENDFOR</a:t>
            </a:r>
            <a:br>
              <a:rPr lang="en-GB" sz="1200">
                <a:solidFill>
                  <a:schemeClr val="dk2"/>
                </a:solidFill>
              </a:rPr>
            </a:br>
            <a:r>
              <a:rPr lang="en-GB" sz="1200">
                <a:solidFill>
                  <a:schemeClr val="dk2"/>
                </a:solidFill>
              </a:rPr>
              <a:t>	ENDWHILE</a:t>
            </a:r>
            <a:r>
              <a:rPr lang="en-GB" sz="1700">
                <a:solidFill>
                  <a:schemeClr val="dk2"/>
                </a:solidFill>
              </a:rPr>
              <a:t>	</a:t>
            </a:r>
            <a:endParaRPr sz="1700">
              <a:solidFill>
                <a:schemeClr val="dk2"/>
              </a:solidFill>
            </a:endParaRPr>
          </a:p>
        </p:txBody>
      </p:sp>
      <p:graphicFrame>
        <p:nvGraphicFramePr>
          <p:cNvPr id="1472695060" name="Google Shape;261;p28"/>
          <p:cNvGraphicFramePr>
            <a:graphicFrameLocks xmlns:a="http://schemas.openxmlformats.org/drawingml/2006/main"/>
          </p:cNvGraphicFramePr>
          <p:nvPr/>
        </p:nvGraphicFramePr>
        <p:xfrm rot="0">
          <a:off x="371850" y="3639338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1704075"/>
                <a:gridCol w="1704075"/>
                <a:gridCol w="1704075"/>
                <a:gridCol w="1704075"/>
              </a:tblGrid>
              <a:tr h="53325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500"/>
                        <a:t>CurrentVertex</a:t>
                      </a:r>
                      <a:endParaRPr sz="15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500"/>
                        <a:t>Neighbours</a:t>
                      </a:r>
                      <a:endParaRPr sz="15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500"/>
                        <a:t>Visited </a:t>
                      </a:r>
                      <a:endParaRPr sz="15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500"/>
                        <a:t>Queue Q</a:t>
                      </a:r>
                      <a:endParaRPr sz="15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500"/>
                        <a:t>  R                    F</a:t>
                      </a:r>
                      <a:endParaRPr sz="15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A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B,C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A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A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A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B,C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A,B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D,E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D,E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D,E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F,G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A,B,C,D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E,F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F,G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A,B,C,D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E,F,G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A,B,C,D,E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F,G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D,G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A,B,C,D,E,F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D,F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A,B,C,D,E,F,G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46600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chemeClr val="dk1"/>
                      </a:solidFill>
                    </a:lnL>
                    <a:lnR w="9525" algn="ctr">
                      <a:solidFill>
                        <a:schemeClr val="dk1"/>
                      </a:solidFill>
                    </a:lnR>
                    <a:lnT w="9525" algn="ctr">
                      <a:solidFill>
                        <a:schemeClr val="dk1"/>
                      </a:solidFill>
                    </a:lnT>
                    <a:lnB w="9525" algn="ctr">
                      <a:solidFill>
                        <a:schemeClr val="dk1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327739" name="Google Shape;266;p29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4571303" name="Google Shape;267;p29"/>
          <p:cNvSpPr txBox="1"/>
          <p:nvPr/>
        </p:nvSpPr>
        <p:spPr bwMode="auto">
          <a:xfrm>
            <a:off x="293850" y="232125"/>
            <a:ext cx="6972300" cy="5392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Questions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If the algorithm is altered to output the current vertex, what is the sequence of letters that is output for the graph?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What would be the output for the graph below using the same algorithm</a:t>
            </a:r>
            <a:endParaRPr/>
          </a:p>
        </p:txBody>
      </p:sp>
      <p:sp>
        <p:nvSpPr>
          <p:cNvPr id="2049156942" name="Google Shape;268;p29"/>
          <p:cNvSpPr txBox="1"/>
          <p:nvPr/>
        </p:nvSpPr>
        <p:spPr bwMode="auto">
          <a:xfrm>
            <a:off x="380049" y="1368175"/>
            <a:ext cx="6624900" cy="124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AEDBFCG</a:t>
            </a:r>
            <a:endParaRPr/>
          </a:p>
        </p:txBody>
      </p:sp>
      <p:pic>
        <p:nvPicPr>
          <p:cNvPr id="448549158" name="Google Shape;269;p29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3780000" y="3471449"/>
            <a:ext cx="2983875" cy="1747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589264" name="Google Shape;270;p29"/>
          <p:cNvSpPr txBox="1"/>
          <p:nvPr/>
        </p:nvSpPr>
        <p:spPr bwMode="auto">
          <a:xfrm>
            <a:off x="518225" y="3724600"/>
            <a:ext cx="2983800" cy="124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506241" name="Google Shape;275;p30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797390" name="Google Shape;276;p30"/>
          <p:cNvSpPr txBox="1"/>
          <p:nvPr/>
        </p:nvSpPr>
        <p:spPr bwMode="auto">
          <a:xfrm>
            <a:off x="293850" y="231375"/>
            <a:ext cx="6972300" cy="1693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Key concept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Depth-first search (DFS)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Traverses the graph, starting at the root vertex, visiting each vertex and exploring each branch as far as possible before backtracking.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18907715" name="Google Shape;277;p30"/>
          <p:cNvSpPr txBox="1"/>
          <p:nvPr/>
        </p:nvSpPr>
        <p:spPr bwMode="auto">
          <a:xfrm>
            <a:off x="293850" y="1991850"/>
            <a:ext cx="6972300" cy="8043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Depth</a:t>
            </a:r>
            <a:r>
              <a:rPr lang="en-GB" b="1"/>
              <a:t>- first search on a graph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Depth-first searches are used for pathfinding algorithms, operating system instruction scheduling, the order of formula recalculation in a spreadsheet, linkers and maze solution algorithms.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D</a:t>
            </a:r>
            <a:r>
              <a:rPr lang="en-GB" b="1"/>
              <a:t>FS in simple-structured English</a:t>
            </a:r>
            <a:endParaRPr b="1"/>
          </a:p>
        </p:txBody>
      </p:sp>
      <p:sp>
        <p:nvSpPr>
          <p:cNvPr id="518598060" name="Google Shape;278;p30"/>
          <p:cNvSpPr txBox="1"/>
          <p:nvPr/>
        </p:nvSpPr>
        <p:spPr bwMode="auto">
          <a:xfrm>
            <a:off x="410400" y="3775500"/>
            <a:ext cx="6739200" cy="240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/>
            </a:pPr>
            <a:r>
              <a:rPr lang="en-GB">
                <a:solidFill>
                  <a:schemeClr val="dk2"/>
                </a:solidFill>
              </a:rPr>
              <a:t>Set a root vertex as the current vertex.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/>
            </a:pPr>
            <a:r>
              <a:rPr lang="en-GB">
                <a:solidFill>
                  <a:schemeClr val="dk2"/>
                </a:solidFill>
              </a:rPr>
              <a:t>If the vertex has an edge that has not been visited.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  <a:defRPr/>
            </a:pPr>
            <a:r>
              <a:rPr lang="en-GB">
                <a:solidFill>
                  <a:schemeClr val="dk2"/>
                </a:solidFill>
              </a:rPr>
              <a:t>Push the linked vertex to the stack.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  <a:defRPr/>
            </a:pPr>
            <a:r>
              <a:rPr lang="en-GB">
                <a:solidFill>
                  <a:schemeClr val="dk2"/>
                </a:solidFill>
              </a:rPr>
              <a:t>Repeat from step 2 until all edges have been visited.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>
                <a:solidFill>
                  <a:schemeClr val="dk2"/>
                </a:solidFill>
              </a:rPr>
              <a:t>Add the current vertex to the list of visited vertices.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>
                <a:solidFill>
                  <a:schemeClr val="dk2"/>
                </a:solidFill>
              </a:rPr>
              <a:t>Pop the stack and set the item removed as the current vertex.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>
                <a:solidFill>
                  <a:schemeClr val="dk2"/>
                </a:solidFill>
              </a:rPr>
              <a:t>Repeat from step 2 until there are no vertices to visit.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>
                <a:solidFill>
                  <a:schemeClr val="dk2"/>
                </a:solidFill>
              </a:rPr>
              <a:t>Output all the visited vertices.</a:t>
            </a:r>
            <a:endParaRPr/>
          </a:p>
        </p:txBody>
      </p:sp>
      <p:sp>
        <p:nvSpPr>
          <p:cNvPr id="730569733" name="Google Shape;279;p30"/>
          <p:cNvSpPr txBox="1"/>
          <p:nvPr/>
        </p:nvSpPr>
        <p:spPr bwMode="auto">
          <a:xfrm>
            <a:off x="3705700" y="6524675"/>
            <a:ext cx="3299100" cy="83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The graph on the left shows the order the nodes would be visited using the DFS traversal.</a:t>
            </a:r>
            <a:endParaRPr/>
          </a:p>
        </p:txBody>
      </p:sp>
      <p:pic>
        <p:nvPicPr>
          <p:cNvPr id="60733067" name="Google Shape;280;p30"/>
          <p:cNvPicPr/>
          <p:nvPr/>
        </p:nvPicPr>
        <p:blipFill rotWithShape="1">
          <a:blip r:embed="rId3">
            <a:alphaModFix/>
          </a:blip>
          <a:srcRect l="50360" t="0" r="0" b="0"/>
          <a:stretch/>
        </p:blipFill>
        <p:spPr bwMode="auto">
          <a:xfrm>
            <a:off x="564600" y="6524675"/>
            <a:ext cx="2847148" cy="24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766372" name="Google Shape;285;p31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7198927" name="Google Shape;286;p31"/>
          <p:cNvSpPr txBox="1"/>
          <p:nvPr/>
        </p:nvSpPr>
        <p:spPr bwMode="auto">
          <a:xfrm>
            <a:off x="293850" y="165288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pic>
        <p:nvPicPr>
          <p:cNvPr id="1583788488" name="Google Shape;287;p31"/>
          <p:cNvPicPr/>
          <p:nvPr/>
        </p:nvPicPr>
        <p:blipFill rotWithShape="1">
          <a:blip r:embed="rId3">
            <a:alphaModFix/>
          </a:blip>
          <a:srcRect l="0" t="16231" r="0" b="12110"/>
          <a:stretch/>
        </p:blipFill>
        <p:spPr bwMode="auto">
          <a:xfrm>
            <a:off x="2786100" y="608475"/>
            <a:ext cx="1780301" cy="2267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8530047" name="Google Shape;288;p31"/>
          <p:cNvGraphicFramePr>
            <a:graphicFrameLocks xmlns:a="http://schemas.openxmlformats.org/drawingml/2006/main"/>
          </p:cNvGraphicFramePr>
          <p:nvPr/>
        </p:nvGraphicFramePr>
        <p:xfrm rot="0">
          <a:off x="461250" y="30143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Start at a root vertex. Add A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>
                          <a:solidFill>
                            <a:srgbClr val="000000"/>
                          </a:solidFill>
                        </a:rPr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21753498" name="Google Shape;289;p31"/>
          <p:cNvPicPr/>
          <p:nvPr/>
        </p:nvPicPr>
        <p:blipFill rotWithShape="1">
          <a:blip r:embed="rId4">
            <a:alphaModFix/>
          </a:blip>
          <a:srcRect l="19743" t="0" r="15293" b="0"/>
          <a:stretch/>
        </p:blipFill>
        <p:spPr bwMode="auto">
          <a:xfrm rot="5400000">
            <a:off x="1186844" y="4427320"/>
            <a:ext cx="2104673" cy="18223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2073085" name="Google Shape;290;p31"/>
          <p:cNvGraphicFramePr>
            <a:graphicFrameLocks xmlns:a="http://schemas.openxmlformats.org/drawingml/2006/main"/>
          </p:cNvGraphicFramePr>
          <p:nvPr/>
        </p:nvGraphicFramePr>
        <p:xfrm rot="0">
          <a:off x="377550" y="68997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2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D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>
                          <a:solidFill>
                            <a:srgbClr val="000000"/>
                          </a:solidFill>
                        </a:rPr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996468361" name="Google Shape;291;p31"/>
          <p:cNvPicPr/>
          <p:nvPr/>
        </p:nvPicPr>
        <p:blipFill rotWithShape="1">
          <a:blip r:embed="rId5">
            <a:alphaModFix/>
          </a:blip>
          <a:srcRect l="0" t="16234" r="0" b="14947"/>
          <a:stretch/>
        </p:blipFill>
        <p:spPr bwMode="auto">
          <a:xfrm>
            <a:off x="1221925" y="8056163"/>
            <a:ext cx="1838376" cy="22491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1873926" name="Google Shape;292;p31"/>
          <p:cNvGraphicFramePr>
            <a:graphicFrameLocks xmlns:a="http://schemas.openxmlformats.org/drawingml/2006/main"/>
          </p:cNvGraphicFramePr>
          <p:nvPr/>
        </p:nvGraphicFramePr>
        <p:xfrm rot="0">
          <a:off x="3583925" y="79265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→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15270141" name="Google Shape;293;p31"/>
          <p:cNvGraphicFramePr>
            <a:graphicFrameLocks xmlns:a="http://schemas.openxmlformats.org/drawingml/2006/main"/>
          </p:cNvGraphicFramePr>
          <p:nvPr/>
        </p:nvGraphicFramePr>
        <p:xfrm rot="0">
          <a:off x="3583925" y="4172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59887" name="Google Shape;298;p32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9607858" name="Google Shape;299;p32"/>
          <p:cNvSpPr txBox="1"/>
          <p:nvPr/>
        </p:nvSpPr>
        <p:spPr bwMode="auto">
          <a:xfrm>
            <a:off x="293850" y="165288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 -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2066089555" name="Google Shape;300;p32"/>
          <p:cNvGraphicFramePr>
            <a:graphicFrameLocks xmlns:a="http://schemas.openxmlformats.org/drawingml/2006/main"/>
          </p:cNvGraphicFramePr>
          <p:nvPr/>
        </p:nvGraphicFramePr>
        <p:xfrm rot="0">
          <a:off x="377550" y="6580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3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.Push C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986290955" name="Google Shape;301;p32"/>
          <p:cNvGraphicFramePr>
            <a:graphicFrameLocks xmlns:a="http://schemas.openxmlformats.org/drawingml/2006/main"/>
          </p:cNvGraphicFramePr>
          <p:nvPr/>
        </p:nvGraphicFramePr>
        <p:xfrm rot="0">
          <a:off x="377550" y="4644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4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B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56307267" name="Google Shape;302;p32"/>
          <p:cNvGraphicFramePr>
            <a:graphicFrameLocks xmlns:a="http://schemas.openxmlformats.org/drawingml/2006/main"/>
          </p:cNvGraphicFramePr>
          <p:nvPr/>
        </p:nvGraphicFramePr>
        <p:xfrm rot="0">
          <a:off x="3659925" y="19482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52600205" name="Google Shape;303;p32"/>
          <p:cNvGraphicFramePr>
            <a:graphicFrameLocks xmlns:a="http://schemas.openxmlformats.org/drawingml/2006/main"/>
          </p:cNvGraphicFramePr>
          <p:nvPr/>
        </p:nvGraphicFramePr>
        <p:xfrm rot="0">
          <a:off x="3659925" y="56716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170767151" name="Google Shape;304;p32"/>
          <p:cNvPicPr/>
          <p:nvPr/>
        </p:nvPicPr>
        <p:blipFill rotWithShape="1">
          <a:blip r:embed="rId3">
            <a:alphaModFix/>
          </a:blip>
          <a:srcRect l="0" t="9608" r="0" b="16197"/>
          <a:stretch/>
        </p:blipFill>
        <p:spPr bwMode="auto">
          <a:xfrm>
            <a:off x="1274100" y="1944450"/>
            <a:ext cx="1868754" cy="246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935290" name="Google Shape;305;p32"/>
          <p:cNvPicPr/>
          <p:nvPr/>
        </p:nvPicPr>
        <p:blipFill rotWithShape="1">
          <a:blip r:embed="rId4">
            <a:alphaModFix/>
          </a:blip>
          <a:srcRect l="0" t="11932" r="0" b="11334"/>
          <a:stretch/>
        </p:blipFill>
        <p:spPr bwMode="auto">
          <a:xfrm>
            <a:off x="1138225" y="5686875"/>
            <a:ext cx="1778999" cy="2426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457091" name="Google Shape;310;p33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6650496" name="Google Shape;311;p33"/>
          <p:cNvSpPr txBox="1"/>
          <p:nvPr/>
        </p:nvSpPr>
        <p:spPr bwMode="auto">
          <a:xfrm>
            <a:off x="293850" y="165288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894425225" name="Google Shape;312;p33"/>
          <p:cNvGraphicFramePr>
            <a:graphicFrameLocks xmlns:a="http://schemas.openxmlformats.org/drawingml/2006/main"/>
          </p:cNvGraphicFramePr>
          <p:nvPr/>
        </p:nvGraphicFramePr>
        <p:xfrm rot="0">
          <a:off x="377550" y="6580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5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.All edges visited considered. Pop the stack. Set B to be the current vertex. Add B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7680424" name="Google Shape;313;p33"/>
          <p:cNvGraphicFramePr>
            <a:graphicFrameLocks xmlns:a="http://schemas.openxmlformats.org/drawingml/2006/main"/>
          </p:cNvGraphicFramePr>
          <p:nvPr/>
        </p:nvGraphicFramePr>
        <p:xfrm rot="0">
          <a:off x="377550" y="4644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6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E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18117422" name="Google Shape;314;p33"/>
          <p:cNvGraphicFramePr>
            <a:graphicFrameLocks xmlns:a="http://schemas.openxmlformats.org/drawingml/2006/main"/>
          </p:cNvGraphicFramePr>
          <p:nvPr/>
        </p:nvGraphicFramePr>
        <p:xfrm rot="0">
          <a:off x="3635375" y="19482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40127438" name="Google Shape;315;p33"/>
          <p:cNvGraphicFramePr>
            <a:graphicFrameLocks xmlns:a="http://schemas.openxmlformats.org/drawingml/2006/main"/>
          </p:cNvGraphicFramePr>
          <p:nvPr/>
        </p:nvGraphicFramePr>
        <p:xfrm rot="0">
          <a:off x="3635375" y="56716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20873119" name="Google Shape;316;p33"/>
          <p:cNvPicPr/>
          <p:nvPr/>
        </p:nvPicPr>
        <p:blipFill rotWithShape="1">
          <a:blip r:embed="rId3">
            <a:alphaModFix/>
          </a:blip>
          <a:srcRect l="0" t="21436" r="0" b="14403"/>
          <a:stretch/>
        </p:blipFill>
        <p:spPr bwMode="auto">
          <a:xfrm>
            <a:off x="1340650" y="1948249"/>
            <a:ext cx="1802200" cy="205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152242" name="Google Shape;317;p33"/>
          <p:cNvPicPr/>
          <p:nvPr/>
        </p:nvPicPr>
        <p:blipFill rotWithShape="1">
          <a:blip r:embed="rId4">
            <a:alphaModFix/>
          </a:blip>
          <a:srcRect l="8293" t="0" r="21664" b="0"/>
          <a:stretch/>
        </p:blipFill>
        <p:spPr bwMode="auto">
          <a:xfrm rot="5400000">
            <a:off x="889555" y="5886154"/>
            <a:ext cx="2525599" cy="202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619217" name="Google Shape;322;p34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91314439" name="Google Shape;323;p34"/>
          <p:cNvSpPr txBox="1"/>
          <p:nvPr/>
        </p:nvSpPr>
        <p:spPr bwMode="auto">
          <a:xfrm>
            <a:off x="293850" y="165288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723880881" name="Google Shape;324;p34"/>
          <p:cNvGraphicFramePr>
            <a:graphicFrameLocks xmlns:a="http://schemas.openxmlformats.org/drawingml/2006/main"/>
          </p:cNvGraphicFramePr>
          <p:nvPr/>
        </p:nvGraphicFramePr>
        <p:xfrm rot="0">
          <a:off x="377550" y="6580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7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.All edges visited considered. Pop the stack. Set E to be the current vertex. Add E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672968393" name="Google Shape;325;p34"/>
          <p:cNvGraphicFramePr>
            <a:graphicFrameLocks xmlns:a="http://schemas.openxmlformats.org/drawingml/2006/main"/>
          </p:cNvGraphicFramePr>
          <p:nvPr/>
        </p:nvGraphicFramePr>
        <p:xfrm rot="0">
          <a:off x="377550" y="4644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8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G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65073604" name="Google Shape;326;p34"/>
          <p:cNvGraphicFramePr>
            <a:graphicFrameLocks xmlns:a="http://schemas.openxmlformats.org/drawingml/2006/main"/>
          </p:cNvGraphicFramePr>
          <p:nvPr/>
        </p:nvGraphicFramePr>
        <p:xfrm rot="0">
          <a:off x="3660700" y="19482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06401437" name="Google Shape;327;p34"/>
          <p:cNvGraphicFramePr>
            <a:graphicFrameLocks xmlns:a="http://schemas.openxmlformats.org/drawingml/2006/main"/>
          </p:cNvGraphicFramePr>
          <p:nvPr/>
        </p:nvGraphicFramePr>
        <p:xfrm rot="0">
          <a:off x="3660700" y="56716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G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770217962" name="Google Shape;328;p34"/>
          <p:cNvPicPr/>
          <p:nvPr/>
        </p:nvPicPr>
        <p:blipFill rotWithShape="1">
          <a:blip r:embed="rId3">
            <a:alphaModFix/>
          </a:blip>
          <a:srcRect l="8238" t="-390" r="8037" b="390"/>
          <a:stretch/>
        </p:blipFill>
        <p:spPr bwMode="auto">
          <a:xfrm rot="5400000">
            <a:off x="843761" y="2206389"/>
            <a:ext cx="2536852" cy="170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193833" name="Google Shape;329;p34"/>
          <p:cNvPicPr/>
          <p:nvPr/>
        </p:nvPicPr>
        <p:blipFill rotWithShape="1">
          <a:blip r:embed="rId4">
            <a:alphaModFix/>
          </a:blip>
          <a:srcRect l="14573" t="0" r="19724" b="0"/>
          <a:stretch/>
        </p:blipFill>
        <p:spPr bwMode="auto">
          <a:xfrm rot="5400000">
            <a:off x="960674" y="5914427"/>
            <a:ext cx="2303027" cy="19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413073" name="Google Shape;334;p35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1289770" name="Google Shape;335;p35"/>
          <p:cNvSpPr txBox="1"/>
          <p:nvPr/>
        </p:nvSpPr>
        <p:spPr bwMode="auto">
          <a:xfrm>
            <a:off x="293850" y="165288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361289122" name="Google Shape;336;p35"/>
          <p:cNvGraphicFramePr>
            <a:graphicFrameLocks xmlns:a="http://schemas.openxmlformats.org/drawingml/2006/main"/>
          </p:cNvGraphicFramePr>
          <p:nvPr/>
        </p:nvGraphicFramePr>
        <p:xfrm rot="0">
          <a:off x="377550" y="6580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9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.All edges visited considered. Pop the stack. Set G to be the current vertex. Add G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54406763" name="Google Shape;337;p35"/>
          <p:cNvGraphicFramePr>
            <a:graphicFrameLocks xmlns:a="http://schemas.openxmlformats.org/drawingml/2006/main"/>
          </p:cNvGraphicFramePr>
          <p:nvPr/>
        </p:nvGraphicFramePr>
        <p:xfrm rot="0">
          <a:off x="377550" y="4644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938025"/>
                <a:gridCol w="182727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10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No edges to consider. Pop the stack. Set C to be the current vertex. Add C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110227030" name="Google Shape;338;p35"/>
          <p:cNvGraphicFramePr>
            <a:graphicFrameLocks xmlns:a="http://schemas.openxmlformats.org/drawingml/2006/main"/>
          </p:cNvGraphicFramePr>
          <p:nvPr/>
        </p:nvGraphicFramePr>
        <p:xfrm rot="0">
          <a:off x="3780000" y="19482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15407915" name="Google Shape;339;p35"/>
          <p:cNvGraphicFramePr>
            <a:graphicFrameLocks xmlns:a="http://schemas.openxmlformats.org/drawingml/2006/main"/>
          </p:cNvGraphicFramePr>
          <p:nvPr/>
        </p:nvGraphicFramePr>
        <p:xfrm rot="0">
          <a:off x="3780000" y="56716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780555674" name="Google Shape;340;p35"/>
          <p:cNvPicPr/>
          <p:nvPr/>
        </p:nvPicPr>
        <p:blipFill rotWithShape="1">
          <a:blip r:embed="rId3">
            <a:alphaModFix/>
          </a:blip>
          <a:srcRect l="10137" t="0" r="11823" b="0"/>
          <a:stretch/>
        </p:blipFill>
        <p:spPr bwMode="auto">
          <a:xfrm rot="5400000">
            <a:off x="976537" y="2129188"/>
            <a:ext cx="2428227" cy="175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881913" name="Google Shape;341;p35"/>
          <p:cNvPicPr/>
          <p:nvPr/>
        </p:nvPicPr>
        <p:blipFill rotWithShape="1">
          <a:blip r:embed="rId4">
            <a:alphaModFix/>
          </a:blip>
          <a:srcRect l="-12953" t="0" r="10557" b="0"/>
          <a:stretch/>
        </p:blipFill>
        <p:spPr bwMode="auto">
          <a:xfrm rot="5400000">
            <a:off x="895121" y="6029519"/>
            <a:ext cx="2591048" cy="160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957336" name="Google Shape;346;p36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31122274" name="Google Shape;347;p36"/>
          <p:cNvSpPr txBox="1"/>
          <p:nvPr/>
        </p:nvSpPr>
        <p:spPr bwMode="auto">
          <a:xfrm>
            <a:off x="293850" y="165288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866745128" name="Google Shape;348;p36"/>
          <p:cNvGraphicFramePr>
            <a:graphicFrameLocks xmlns:a="http://schemas.openxmlformats.org/drawingml/2006/main"/>
          </p:cNvGraphicFramePr>
          <p:nvPr/>
        </p:nvGraphicFramePr>
        <p:xfrm rot="0">
          <a:off x="377550" y="6580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938025"/>
                <a:gridCol w="182727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.Push D. Although D is already on the stack , it has not been visited. This is resolved in the final step.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28616914" name="Google Shape;349;p36"/>
          <p:cNvGraphicFramePr>
            <a:graphicFrameLocks xmlns:a="http://schemas.openxmlformats.org/drawingml/2006/main"/>
          </p:cNvGraphicFramePr>
          <p:nvPr/>
        </p:nvGraphicFramePr>
        <p:xfrm rot="0">
          <a:off x="377550" y="4644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938025"/>
                <a:gridCol w="182727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12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visited considered. Pop the stack. Set D to be the current vertex. Add D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br>
                        <a:rPr lang="en"/>
                      </a:b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54288284" name="Google Shape;350;p36"/>
          <p:cNvGraphicFramePr>
            <a:graphicFrameLocks xmlns:a="http://schemas.openxmlformats.org/drawingml/2006/main"/>
          </p:cNvGraphicFramePr>
          <p:nvPr/>
        </p:nvGraphicFramePr>
        <p:xfrm rot="0">
          <a:off x="3780000" y="19482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34192265" name="Google Shape;351;p36"/>
          <p:cNvGraphicFramePr>
            <a:graphicFrameLocks xmlns:a="http://schemas.openxmlformats.org/drawingml/2006/main"/>
          </p:cNvGraphicFramePr>
          <p:nvPr/>
        </p:nvGraphicFramePr>
        <p:xfrm rot="0">
          <a:off x="3780000" y="56716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2100343414" name="Google Shape;352;p36"/>
          <p:cNvPicPr/>
          <p:nvPr/>
        </p:nvPicPr>
        <p:blipFill rotWithShape="1">
          <a:blip r:embed="rId3">
            <a:alphaModFix/>
          </a:blip>
          <a:srcRect l="22805" t="10889" r="13387" b="0"/>
          <a:stretch/>
        </p:blipFill>
        <p:spPr bwMode="auto">
          <a:xfrm rot="5400007">
            <a:off x="1073174" y="2190652"/>
            <a:ext cx="2260275" cy="177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786952" name="Google Shape;353;p36"/>
          <p:cNvPicPr/>
          <p:nvPr/>
        </p:nvPicPr>
        <p:blipFill rotWithShape="1">
          <a:blip r:embed="rId3">
            <a:alphaModFix/>
          </a:blip>
          <a:srcRect l="22805" t="9617" r="13387" b="0"/>
          <a:stretch/>
        </p:blipFill>
        <p:spPr bwMode="auto">
          <a:xfrm rot="5400007">
            <a:off x="1085836" y="5999865"/>
            <a:ext cx="2260301" cy="180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393385" name="Google Shape;358;p37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2675606" name="Google Shape;359;p37"/>
          <p:cNvSpPr txBox="1"/>
          <p:nvPr/>
        </p:nvSpPr>
        <p:spPr bwMode="auto">
          <a:xfrm>
            <a:off x="293850" y="165288"/>
            <a:ext cx="6972300" cy="103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935070523" name="Google Shape;360;p37"/>
          <p:cNvGraphicFramePr>
            <a:graphicFrameLocks xmlns:a="http://schemas.openxmlformats.org/drawingml/2006/main"/>
          </p:cNvGraphicFramePr>
          <p:nvPr/>
        </p:nvGraphicFramePr>
        <p:xfrm rot="0">
          <a:off x="377550" y="6580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938025"/>
                <a:gridCol w="182727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13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.Push F.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br>
                        <a:rPr lang="en"/>
                      </a:b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9913226" name="Google Shape;361;p37"/>
          <p:cNvGraphicFramePr>
            <a:graphicFrameLocks xmlns:a="http://schemas.openxmlformats.org/drawingml/2006/main"/>
          </p:cNvGraphicFramePr>
          <p:nvPr/>
        </p:nvGraphicFramePr>
        <p:xfrm rot="0">
          <a:off x="377550" y="4644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938025"/>
                <a:gridCol w="1827275"/>
                <a:gridCol w="2516275"/>
                <a:gridCol w="1523325"/>
              </a:tblGrid>
              <a:tr h="547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6637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14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All edges visited considered. Pop the stack. Set F to be the current vertex. Add F to the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7346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br>
                        <a:rPr lang="en"/>
                      </a:br>
                      <a:r>
                        <a:rPr lang="en"/>
                        <a:t>D</a:t>
                      </a:r>
                      <a:br>
                        <a:rPr lang="en"/>
                      </a:br>
                      <a:r>
                        <a:rPr lang="en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14985362" name="Google Shape;362;p37"/>
          <p:cNvGraphicFramePr>
            <a:graphicFrameLocks xmlns:a="http://schemas.openxmlformats.org/drawingml/2006/main"/>
          </p:cNvGraphicFramePr>
          <p:nvPr/>
        </p:nvGraphicFramePr>
        <p:xfrm rot="0">
          <a:off x="3780000" y="19482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F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164701076" name="Google Shape;363;p37"/>
          <p:cNvGraphicFramePr>
            <a:graphicFrameLocks xmlns:a="http://schemas.openxmlformats.org/drawingml/2006/main"/>
          </p:cNvGraphicFramePr>
          <p:nvPr/>
        </p:nvGraphicFramePr>
        <p:xfrm rot="0">
          <a:off x="3780000" y="59715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884750562" name="Google Shape;364;p37"/>
          <p:cNvPicPr/>
          <p:nvPr/>
        </p:nvPicPr>
        <p:blipFill rotWithShape="1">
          <a:blip r:embed="rId3">
            <a:alphaModFix/>
          </a:blip>
          <a:srcRect l="15273" t="0" r="16938" b="0"/>
          <a:stretch/>
        </p:blipFill>
        <p:spPr bwMode="auto">
          <a:xfrm rot="5400000">
            <a:off x="1131592" y="2132233"/>
            <a:ext cx="2161777" cy="179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5712347" name="Google Shape;365;p37"/>
          <p:cNvPicPr/>
          <p:nvPr/>
        </p:nvPicPr>
        <p:blipFill rotWithShape="1">
          <a:blip r:embed="rId4">
            <a:alphaModFix/>
          </a:blip>
          <a:srcRect l="10416" t="0" r="16335" b="0"/>
          <a:stretch/>
        </p:blipFill>
        <p:spPr bwMode="auto">
          <a:xfrm rot="5400000">
            <a:off x="1016075" y="6132988"/>
            <a:ext cx="2580977" cy="198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553637" name="Google Shape;370;p38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2790291" name="Google Shape;371;p38"/>
          <p:cNvSpPr txBox="1"/>
          <p:nvPr/>
        </p:nvSpPr>
        <p:spPr bwMode="auto">
          <a:xfrm>
            <a:off x="293850" y="165294"/>
            <a:ext cx="6972300" cy="5003399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three - worked example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graphicFrame>
        <p:nvGraphicFramePr>
          <p:cNvPr id="1372464033" name="Google Shape;372;p38"/>
          <p:cNvGraphicFramePr>
            <a:graphicFrameLocks xmlns:a="http://schemas.openxmlformats.org/drawingml/2006/main"/>
          </p:cNvGraphicFramePr>
          <p:nvPr/>
        </p:nvGraphicFramePr>
        <p:xfrm rot="0">
          <a:off x="377550" y="6580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938025"/>
                <a:gridCol w="1827275"/>
                <a:gridCol w="2516275"/>
                <a:gridCol w="1523325"/>
              </a:tblGrid>
              <a:tr h="56552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8655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15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No edges to consider. Pop the stack. Set D to be the current vertex.D is already in the list of visited vertices. Stack is empty. Algorithm complete.</a:t>
                      </a:r>
                      <a:r>
                        <a:rPr lang="en-GB"/>
                        <a:t>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82690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26309229" name="Google Shape;373;p38"/>
          <p:cNvGraphicFramePr>
            <a:graphicFrameLocks xmlns:a="http://schemas.openxmlformats.org/drawingml/2006/main"/>
          </p:cNvGraphicFramePr>
          <p:nvPr/>
        </p:nvGraphicFramePr>
        <p:xfrm rot="0">
          <a:off x="3780000" y="2178263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868755710" name="Google Shape;374;p38"/>
          <p:cNvPicPr/>
          <p:nvPr/>
        </p:nvPicPr>
        <p:blipFill rotWithShape="1">
          <a:blip r:embed="rId3">
            <a:alphaModFix/>
          </a:blip>
          <a:srcRect l="11108" t="0" r="16006" b="0"/>
          <a:stretch/>
        </p:blipFill>
        <p:spPr bwMode="auto">
          <a:xfrm rot="5400000">
            <a:off x="1205174" y="2412942"/>
            <a:ext cx="2208727" cy="1987926"/>
          </a:xfrm>
          <a:prstGeom prst="rect">
            <a:avLst/>
          </a:prstGeom>
          <a:noFill/>
          <a:ln>
            <a:noFill/>
          </a:ln>
        </p:spPr>
      </p:pic>
      <p:sp>
        <p:nvSpPr>
          <p:cNvPr id="240566774" name="Google Shape;375;p38"/>
          <p:cNvSpPr txBox="1"/>
          <p:nvPr/>
        </p:nvSpPr>
        <p:spPr bwMode="auto">
          <a:xfrm>
            <a:off x="293850" y="5168700"/>
            <a:ext cx="6972300" cy="5189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Code used</a:t>
            </a:r>
            <a:endParaRPr/>
          </a:p>
        </p:txBody>
      </p:sp>
      <p:pic>
        <p:nvPicPr>
          <p:cNvPr id="467075010" name="Google Shape;376;p3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1479461" y="5191500"/>
            <a:ext cx="542152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083455" name="Google Shape;381;p39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6634415" name="Google Shape;382;p39"/>
          <p:cNvSpPr txBox="1"/>
          <p:nvPr/>
        </p:nvSpPr>
        <p:spPr bwMode="auto">
          <a:xfrm>
            <a:off x="293850" y="156900"/>
            <a:ext cx="6972300" cy="5189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Code used</a:t>
            </a:r>
            <a:endParaRPr/>
          </a:p>
        </p:txBody>
      </p:sp>
      <p:pic>
        <p:nvPicPr>
          <p:cNvPr id="627847876" name="Google Shape;383;p39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514725" y="674950"/>
            <a:ext cx="6490074" cy="1649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383132" name="Google Shape;384;p39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14725" y="2694913"/>
            <a:ext cx="38862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9592164" name="Google Shape;385;p39"/>
          <p:cNvSpPr txBox="1"/>
          <p:nvPr/>
        </p:nvSpPr>
        <p:spPr bwMode="auto">
          <a:xfrm>
            <a:off x="204750" y="5684024"/>
            <a:ext cx="7253700" cy="4298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Alter the code given to you so that it can search the graph shown below. Write the visited list in the box below.</a:t>
            </a:r>
            <a:endParaRPr/>
          </a:p>
        </p:txBody>
      </p:sp>
      <p:pic>
        <p:nvPicPr>
          <p:cNvPr id="989458017" name="Google Shape;386;p39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238650" y="6801596"/>
            <a:ext cx="2892025" cy="28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4705344" name="Google Shape;387;p39"/>
          <p:cNvSpPr txBox="1"/>
          <p:nvPr/>
        </p:nvSpPr>
        <p:spPr bwMode="auto">
          <a:xfrm>
            <a:off x="379775" y="7009125"/>
            <a:ext cx="3524400" cy="164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Answer box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811655" name="Google Shape;392;p40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9662127" name="Google Shape;393;p40"/>
          <p:cNvSpPr txBox="1"/>
          <p:nvPr/>
        </p:nvSpPr>
        <p:spPr bwMode="auto">
          <a:xfrm>
            <a:off x="293850" y="167625"/>
            <a:ext cx="6972300" cy="3151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Depth- first search on a graph (recursion)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DFS in simple-structured English</a:t>
            </a:r>
            <a:endParaRPr b="1"/>
          </a:p>
        </p:txBody>
      </p:sp>
      <p:sp>
        <p:nvSpPr>
          <p:cNvPr id="2138173074" name="Google Shape;394;p40"/>
          <p:cNvSpPr txBox="1"/>
          <p:nvPr/>
        </p:nvSpPr>
        <p:spPr bwMode="auto">
          <a:xfrm>
            <a:off x="384900" y="1140125"/>
            <a:ext cx="6790200" cy="19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Set a root vertex as the current vertex.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Output the vertex.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Add the current vertex to the list of visited vertices.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  <a:defRPr/>
            </a:pPr>
            <a:r>
              <a:rPr lang="en-GB" sz="1800">
                <a:solidFill>
                  <a:schemeClr val="dk2"/>
                </a:solidFill>
              </a:rPr>
              <a:t>If the vertex has an edge that has not been visited</a:t>
            </a:r>
            <a:endParaRPr sz="1800"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  <a:defRPr/>
            </a:pPr>
            <a:r>
              <a:rPr lang="en-GB">
                <a:solidFill>
                  <a:schemeClr val="dk2"/>
                </a:solidFill>
              </a:rPr>
              <a:t>Follow the edge. The vertex becomes the current vertex.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  <a:defRPr/>
            </a:pPr>
            <a:r>
              <a:rPr lang="en-GB">
                <a:solidFill>
                  <a:schemeClr val="dk2"/>
                </a:solidFill>
              </a:rPr>
              <a:t>Repeat from step 2. </a:t>
            </a:r>
            <a:endParaRPr/>
          </a:p>
        </p:txBody>
      </p:sp>
      <p:sp>
        <p:nvSpPr>
          <p:cNvPr id="2020526779" name="Google Shape;395;p40"/>
          <p:cNvSpPr txBox="1"/>
          <p:nvPr/>
        </p:nvSpPr>
        <p:spPr bwMode="auto">
          <a:xfrm>
            <a:off x="293850" y="3496425"/>
            <a:ext cx="6972300" cy="701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four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pic>
        <p:nvPicPr>
          <p:cNvPr id="1502016573" name="Google Shape;396;p40"/>
          <p:cNvPicPr/>
          <p:nvPr/>
        </p:nvPicPr>
        <p:blipFill rotWithShape="1">
          <a:blip r:embed="rId3">
            <a:alphaModFix/>
          </a:blip>
          <a:srcRect l="0" t="16231" r="0" b="12110"/>
          <a:stretch/>
        </p:blipFill>
        <p:spPr bwMode="auto">
          <a:xfrm>
            <a:off x="2889850" y="3699525"/>
            <a:ext cx="1780301" cy="2267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2028722" name="Google Shape;397;p40"/>
          <p:cNvGraphicFramePr>
            <a:graphicFrameLocks xmlns:a="http://schemas.openxmlformats.org/drawingml/2006/main"/>
          </p:cNvGraphicFramePr>
          <p:nvPr/>
        </p:nvGraphicFramePr>
        <p:xfrm rot="0">
          <a:off x="377550" y="63478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5302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67075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Start at a root vertex. Push A to the stack and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650275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>
                          <a:solidFill>
                            <a:srgbClr val="000000"/>
                          </a:solidFill>
                        </a:rPr>
                        <a:t>A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839893928" name="Google Shape;398;p40"/>
          <p:cNvPicPr/>
          <p:nvPr/>
        </p:nvPicPr>
        <p:blipFill rotWithShape="1">
          <a:blip r:embed="rId4">
            <a:alphaModFix/>
          </a:blip>
          <a:srcRect l="19743" t="0" r="15293" b="0"/>
          <a:stretch/>
        </p:blipFill>
        <p:spPr bwMode="auto">
          <a:xfrm rot="5400000">
            <a:off x="1103144" y="7760845"/>
            <a:ext cx="2104673" cy="18223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0749263" name="Google Shape;399;p40"/>
          <p:cNvGraphicFramePr>
            <a:graphicFrameLocks xmlns:a="http://schemas.openxmlformats.org/drawingml/2006/main"/>
          </p:cNvGraphicFramePr>
          <p:nvPr/>
        </p:nvGraphicFramePr>
        <p:xfrm rot="0">
          <a:off x="3500225" y="75063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A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438498" name="Google Shape;404;p41"/>
          <p:cNvSpPr txBox="1"/>
          <p:nvPr/>
        </p:nvSpPr>
        <p:spPr bwMode="auto">
          <a:xfrm>
            <a:off x="210150" y="0"/>
            <a:ext cx="6972300" cy="10283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four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sp>
        <p:nvSpPr>
          <p:cNvPr id="1836333287" name="Google Shape;405;p41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693688499" name="Google Shape;406;p41"/>
          <p:cNvGraphicFramePr>
            <a:graphicFrameLocks xmlns:a="http://schemas.openxmlformats.org/drawingml/2006/main"/>
          </p:cNvGraphicFramePr>
          <p:nvPr/>
        </p:nvGraphicFramePr>
        <p:xfrm rot="0">
          <a:off x="301350" y="557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2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B to the stack and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06666462" name="Google Shape;407;p41"/>
          <p:cNvGraphicFramePr>
            <a:graphicFrameLocks xmlns:a="http://schemas.openxmlformats.org/drawingml/2006/main"/>
          </p:cNvGraphicFramePr>
          <p:nvPr/>
        </p:nvGraphicFramePr>
        <p:xfrm rot="0">
          <a:off x="3583925" y="1584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B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A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88032728" name="Google Shape;408;p41"/>
          <p:cNvGraphicFramePr>
            <a:graphicFrameLocks xmlns:a="http://schemas.openxmlformats.org/drawingml/2006/main"/>
          </p:cNvGraphicFramePr>
          <p:nvPr/>
        </p:nvGraphicFramePr>
        <p:xfrm rot="0">
          <a:off x="293850" y="45102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3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E to the stack and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76121494" name="Google Shape;409;p41"/>
          <p:cNvGraphicFramePr>
            <a:graphicFrameLocks xmlns:a="http://schemas.openxmlformats.org/drawingml/2006/main"/>
          </p:cNvGraphicFramePr>
          <p:nvPr/>
        </p:nvGraphicFramePr>
        <p:xfrm rot="0">
          <a:off x="3583925" y="55370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E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B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A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116247008" name="Google Shape;410;p41"/>
          <p:cNvPicPr/>
          <p:nvPr/>
        </p:nvPicPr>
        <p:blipFill rotWithShape="1">
          <a:blip r:embed="rId3">
            <a:alphaModFix/>
          </a:blip>
          <a:srcRect l="18665" t="0" r="17412" b="0"/>
          <a:stretch/>
        </p:blipFill>
        <p:spPr bwMode="auto">
          <a:xfrm rot="5400000">
            <a:off x="919100" y="1787638"/>
            <a:ext cx="2381952" cy="209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280255" name="Google Shape;411;p41"/>
          <p:cNvPicPr/>
          <p:nvPr/>
        </p:nvPicPr>
        <p:blipFill rotWithShape="1">
          <a:blip r:embed="rId4">
            <a:alphaModFix/>
          </a:blip>
          <a:srcRect l="19246" t="0" r="18631" b="0"/>
          <a:stretch/>
        </p:blipFill>
        <p:spPr bwMode="auto">
          <a:xfrm rot="5400000">
            <a:off x="951826" y="5805050"/>
            <a:ext cx="2172452" cy="196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866302" name="Google Shape;416;p42"/>
          <p:cNvSpPr txBox="1"/>
          <p:nvPr/>
        </p:nvSpPr>
        <p:spPr bwMode="auto">
          <a:xfrm>
            <a:off x="210150" y="0"/>
            <a:ext cx="6972300" cy="10283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four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sp>
        <p:nvSpPr>
          <p:cNvPr id="1500895564" name="Google Shape;417;p42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052410010" name="Google Shape;418;p42"/>
          <p:cNvGraphicFramePr>
            <a:graphicFrameLocks xmlns:a="http://schemas.openxmlformats.org/drawingml/2006/main"/>
          </p:cNvGraphicFramePr>
          <p:nvPr/>
        </p:nvGraphicFramePr>
        <p:xfrm rot="0">
          <a:off x="301350" y="557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4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G to the stack and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441329103" name="Google Shape;419;p42"/>
          <p:cNvGraphicFramePr>
            <a:graphicFrameLocks xmlns:a="http://schemas.openxmlformats.org/drawingml/2006/main"/>
          </p:cNvGraphicFramePr>
          <p:nvPr/>
        </p:nvGraphicFramePr>
        <p:xfrm rot="0">
          <a:off x="3583925" y="1584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G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E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B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A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98755252" name="Google Shape;420;p42"/>
          <p:cNvGraphicFramePr>
            <a:graphicFrameLocks xmlns:a="http://schemas.openxmlformats.org/drawingml/2006/main"/>
          </p:cNvGraphicFramePr>
          <p:nvPr/>
        </p:nvGraphicFramePr>
        <p:xfrm rot="0">
          <a:off x="293850" y="45102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5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 has no unvisited edges. Pop the stack. E has no unvisited edges. Pop the stack. B has no unvisited edges. Pop the stack. B has no unvisited edges. Pop the stack. Push C to the stack and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G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76269735" name="Google Shape;421;p42"/>
          <p:cNvGraphicFramePr>
            <a:graphicFrameLocks xmlns:a="http://schemas.openxmlformats.org/drawingml/2006/main"/>
          </p:cNvGraphicFramePr>
          <p:nvPr/>
        </p:nvGraphicFramePr>
        <p:xfrm rot="0">
          <a:off x="3583925" y="57949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A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871270292" name="Google Shape;422;p42"/>
          <p:cNvPicPr/>
          <p:nvPr/>
        </p:nvPicPr>
        <p:blipFill rotWithShape="1">
          <a:blip r:embed="rId3">
            <a:alphaModFix/>
          </a:blip>
          <a:srcRect l="17748" t="0" r="11031" b="0"/>
          <a:stretch/>
        </p:blipFill>
        <p:spPr bwMode="auto">
          <a:xfrm rot="5400000">
            <a:off x="1028241" y="1997462"/>
            <a:ext cx="2122783" cy="167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175041" name="Google Shape;423;p42"/>
          <p:cNvPicPr/>
          <p:nvPr/>
        </p:nvPicPr>
        <p:blipFill rotWithShape="1">
          <a:blip r:embed="rId4">
            <a:alphaModFix/>
          </a:blip>
          <a:srcRect l="19595" t="0" r="6209" b="0"/>
          <a:stretch/>
        </p:blipFill>
        <p:spPr bwMode="auto">
          <a:xfrm rot="5400000">
            <a:off x="913337" y="6154638"/>
            <a:ext cx="2352625" cy="17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276681" name="Google Shape;428;p43"/>
          <p:cNvSpPr txBox="1"/>
          <p:nvPr/>
        </p:nvSpPr>
        <p:spPr bwMode="auto">
          <a:xfrm>
            <a:off x="210150" y="0"/>
            <a:ext cx="6972300" cy="10283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four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sp>
        <p:nvSpPr>
          <p:cNvPr id="1521873017" name="Google Shape;429;p43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937730298" name="Google Shape;430;p43"/>
          <p:cNvGraphicFramePr>
            <a:graphicFrameLocks xmlns:a="http://schemas.openxmlformats.org/drawingml/2006/main"/>
          </p:cNvGraphicFramePr>
          <p:nvPr/>
        </p:nvGraphicFramePr>
        <p:xfrm rot="0">
          <a:off x="301350" y="5574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6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D to the stack and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br>
                        <a:rPr lang="en"/>
                      </a:br>
                      <a:r>
                        <a:rPr lang="en"/>
                        <a:t>B</a:t>
                      </a:r>
                      <a:br>
                        <a:rPr lang="en"/>
                      </a:b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br>
                        <a:rPr lang="en"/>
                      </a:br>
                      <a:r>
                        <a:rPr lang="en"/>
                        <a:t>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172319373" name="Google Shape;431;p43"/>
          <p:cNvGraphicFramePr>
            <a:graphicFrameLocks xmlns:a="http://schemas.openxmlformats.org/drawingml/2006/main"/>
          </p:cNvGraphicFramePr>
          <p:nvPr/>
        </p:nvGraphicFramePr>
        <p:xfrm rot="0">
          <a:off x="3583925" y="15842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A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38016627" name="Google Shape;432;p43"/>
          <p:cNvGraphicFramePr>
            <a:graphicFrameLocks xmlns:a="http://schemas.openxmlformats.org/drawingml/2006/main"/>
          </p:cNvGraphicFramePr>
          <p:nvPr/>
        </p:nvGraphicFramePr>
        <p:xfrm rot="0">
          <a:off x="293850" y="45102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7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Push F to the stack and list of visited vertices.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br>
                        <a:rPr lang="en"/>
                      </a:br>
                      <a:r>
                        <a:rPr lang="en"/>
                        <a:t>G</a:t>
                      </a:r>
                      <a:br>
                        <a:rPr lang="en"/>
                      </a:br>
                      <a:r>
                        <a:rPr lang="en"/>
                        <a:t>C</a:t>
                      </a:r>
                      <a:br>
                        <a:rPr lang="en"/>
                      </a:br>
                      <a:r>
                        <a:rPr lang="en"/>
                        <a:t>D</a:t>
                      </a:r>
                      <a:br>
                        <a:rPr lang="en"/>
                      </a:br>
                      <a:r>
                        <a:rPr lang="en"/>
                        <a:t>F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6932194" name="Google Shape;433;p43"/>
          <p:cNvGraphicFramePr>
            <a:graphicFrameLocks xmlns:a="http://schemas.openxmlformats.org/drawingml/2006/main"/>
          </p:cNvGraphicFramePr>
          <p:nvPr/>
        </p:nvGraphicFramePr>
        <p:xfrm rot="0">
          <a:off x="3583925" y="553707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F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D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C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1100"/>
                        <a:t>A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816841757" name="Google Shape;434;p43"/>
          <p:cNvPicPr/>
          <p:nvPr/>
        </p:nvPicPr>
        <p:blipFill rotWithShape="1">
          <a:blip r:embed="rId3">
            <a:alphaModFix/>
          </a:blip>
          <a:srcRect l="0" t="11576" r="0" b="19882"/>
          <a:stretch/>
        </p:blipFill>
        <p:spPr bwMode="auto">
          <a:xfrm>
            <a:off x="1062025" y="1584200"/>
            <a:ext cx="1881300" cy="22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307744" name="Google Shape;435;p43"/>
          <p:cNvPicPr/>
          <p:nvPr/>
        </p:nvPicPr>
        <p:blipFill rotWithShape="1">
          <a:blip r:embed="rId4">
            <a:alphaModFix/>
          </a:blip>
          <a:srcRect l="0" t="16774" r="0" b="13510"/>
          <a:stretch/>
        </p:blipFill>
        <p:spPr bwMode="auto">
          <a:xfrm>
            <a:off x="1086162" y="5652687"/>
            <a:ext cx="1833031" cy="22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266" name="Google Shape;440;p44"/>
          <p:cNvSpPr txBox="1"/>
          <p:nvPr/>
        </p:nvSpPr>
        <p:spPr bwMode="auto">
          <a:xfrm>
            <a:off x="210150" y="0"/>
            <a:ext cx="6972300" cy="4636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Example four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</p:txBody>
      </p:sp>
      <p:sp>
        <p:nvSpPr>
          <p:cNvPr id="764723039" name="Google Shape;441;p44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239724534" name="Google Shape;442;p44"/>
          <p:cNvGraphicFramePr>
            <a:graphicFrameLocks xmlns:a="http://schemas.openxmlformats.org/drawingml/2006/main"/>
          </p:cNvGraphicFramePr>
          <p:nvPr/>
        </p:nvGraphicFramePr>
        <p:xfrm rot="0">
          <a:off x="377550" y="5324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760675"/>
                <a:gridCol w="2004625"/>
                <a:gridCol w="2516275"/>
                <a:gridCol w="1523325"/>
              </a:tblGrid>
              <a:tr h="4961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Stack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Visited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530650">
                <a:tc rowSpan="2"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Step 8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gridSpan="3"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F has no unvisited edges. Pop the stack. D has no unvisited edges. Pop the stack. C has no unvisited edges. Pop the stack. A has no unvisited edges. Pop the stack. Algorithm complete.</a:t>
                      </a:r>
                      <a:endParaRPr/>
                    </a:p>
                  </a:txBody>
                  <a:tcPr marL="91425" marR="91425" marT="91425" marB="91425" anchor="ctr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480050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A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B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E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G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C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D</a:t>
                      </a:r>
                      <a:endParaRPr lang="en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/>
                        <a:t>F</a:t>
                      </a:r>
                      <a:endParaRPr lang="en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969572469" name="Google Shape;443;p44"/>
          <p:cNvGraphicFramePr>
            <a:graphicFrameLocks xmlns:a="http://schemas.openxmlformats.org/drawingml/2006/main"/>
          </p:cNvGraphicFramePr>
          <p:nvPr/>
        </p:nvGraphicFramePr>
        <p:xfrm rot="0">
          <a:off x="3609275" y="18401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405300"/>
                <a:gridCol w="1143575"/>
              </a:tblGrid>
              <a:tr h="28215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3505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100"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778471482" name="Google Shape;444;p44"/>
          <p:cNvPicPr/>
          <p:nvPr/>
        </p:nvPicPr>
        <p:blipFill rotWithShape="1">
          <a:blip r:embed="rId3">
            <a:alphaModFix/>
          </a:blip>
          <a:srcRect l="0" t="16231" r="0" b="12110"/>
          <a:stretch/>
        </p:blipFill>
        <p:spPr bwMode="auto">
          <a:xfrm>
            <a:off x="1249850" y="1957650"/>
            <a:ext cx="1780301" cy="226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056465" name="Google Shape;445;p44"/>
          <p:cNvSpPr txBox="1"/>
          <p:nvPr/>
        </p:nvSpPr>
        <p:spPr bwMode="auto">
          <a:xfrm>
            <a:off x="210150" y="4894825"/>
            <a:ext cx="6972300" cy="5189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Code used</a:t>
            </a:r>
            <a:endParaRPr/>
          </a:p>
        </p:txBody>
      </p:sp>
      <p:pic>
        <p:nvPicPr>
          <p:cNvPr id="1443934964" name="Google Shape;446;p44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377538" y="5346000"/>
            <a:ext cx="40100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379508" name="Google Shape;447;p44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77550" y="6891900"/>
            <a:ext cx="6804899" cy="978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3671038" name="Google Shape;448;p44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368350" y="8273163"/>
            <a:ext cx="3543300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340213" name="Google Shape;453;p45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03247544" name="Google Shape;454;p45"/>
          <p:cNvSpPr txBox="1"/>
          <p:nvPr/>
        </p:nvSpPr>
        <p:spPr bwMode="auto">
          <a:xfrm>
            <a:off x="153150" y="211350"/>
            <a:ext cx="7253700" cy="4298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Alter the code given to you so that it can search the graph shown below. Write the visited list in the box below.</a:t>
            </a:r>
            <a:endParaRPr/>
          </a:p>
        </p:txBody>
      </p:sp>
      <p:pic>
        <p:nvPicPr>
          <p:cNvPr id="119327414" name="Google Shape;455;p4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187050" y="1328921"/>
            <a:ext cx="2892025" cy="28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602010934" name="Google Shape;456;p45"/>
          <p:cNvSpPr txBox="1"/>
          <p:nvPr/>
        </p:nvSpPr>
        <p:spPr bwMode="auto">
          <a:xfrm>
            <a:off x="328175" y="1536450"/>
            <a:ext cx="3524400" cy="164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Answer box</a:t>
            </a:r>
            <a:br>
              <a:rPr/>
            </a:br>
            <a:br>
              <a:rPr/>
            </a:b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'A', 'B', 'E', 'F', 'C', 'D', 'G']</a:t>
            </a:r>
            <a:endParaRPr/>
          </a:p>
        </p:txBody>
      </p:sp>
      <p:sp>
        <p:nvSpPr>
          <p:cNvPr id="1714744629" name="Google Shape;457;p45"/>
          <p:cNvSpPr txBox="1"/>
          <p:nvPr/>
        </p:nvSpPr>
        <p:spPr bwMode="auto">
          <a:xfrm>
            <a:off x="153150" y="4807952"/>
            <a:ext cx="7253700" cy="5022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Use the below link to watch the video on Breadth First Search. The code for the example in the video has also been given.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u="sng">
                <a:solidFill>
                  <a:schemeClr val="hlink"/>
                </a:solidFill>
                <a:hlinkClick r:id="rId4" tooltip=""/>
              </a:rPr>
              <a:t>Video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File name SilconValleyBFS will be posted by your teacher in Teams.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551122678" name="Google Shape;458;p45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852575" y="7474625"/>
            <a:ext cx="2983875" cy="1747698"/>
          </a:xfrm>
          <a:prstGeom prst="rect">
            <a:avLst/>
          </a:prstGeom>
          <a:noFill/>
          <a:ln>
            <a:noFill/>
          </a:ln>
        </p:spPr>
      </p:pic>
      <p:sp>
        <p:nvSpPr>
          <p:cNvPr id="447291278" name="Google Shape;459;p45"/>
          <p:cNvSpPr txBox="1"/>
          <p:nvPr/>
        </p:nvSpPr>
        <p:spPr bwMode="auto">
          <a:xfrm>
            <a:off x="304050" y="7347575"/>
            <a:ext cx="331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Now try the graph on the right. Write the order in the box below.</a:t>
            </a:r>
            <a:endParaRPr/>
          </a:p>
        </p:txBody>
      </p:sp>
      <p:sp>
        <p:nvSpPr>
          <p:cNvPr id="770801975" name="Google Shape;460;p45"/>
          <p:cNvSpPr txBox="1"/>
          <p:nvPr/>
        </p:nvSpPr>
        <p:spPr bwMode="auto">
          <a:xfrm>
            <a:off x="328175" y="8115200"/>
            <a:ext cx="33192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Answer box</a:t>
            </a:r>
            <a:endParaRPr/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A['B', 'D', 'E']  0</a:t>
            </a:r>
            <a:endParaRPr lang="en-US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B['A', 'C', 'D']  1</a:t>
            </a:r>
            <a:endParaRPr lang="en-US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C['B', 'G']  2</a:t>
            </a:r>
            <a:endParaRPr lang="en-US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D['A', 'B', 'E', 'F']  1</a:t>
            </a:r>
            <a:endParaRPr lang="en-US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E['A', 'D']  1</a:t>
            </a:r>
            <a:endParaRPr lang="en-US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F['D']  2</a:t>
            </a:r>
            <a:endParaRPr lang="en-US" sz="1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G['C']  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693162" name="Google Shape;465;p46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27959318" name="Google Shape;466;p46"/>
          <p:cNvSpPr txBox="1"/>
          <p:nvPr/>
        </p:nvSpPr>
        <p:spPr bwMode="auto">
          <a:xfrm>
            <a:off x="153150" y="196727"/>
            <a:ext cx="7253700" cy="5022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Use the below link to watch the video on Depth First Search. The code for the example in the video has also been given.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u="sng">
                <a:solidFill>
                  <a:schemeClr val="hlink"/>
                </a:solidFill>
                <a:hlinkClick r:id="rId3" tooltip=""/>
              </a:rPr>
              <a:t>Video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GB">
                <a:solidFill>
                  <a:schemeClr val="dk1"/>
                </a:solidFill>
              </a:rPr>
              <a:t>File name SilconValleyDFS will be posted by your teacher in Teams.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351583473" name="Google Shape;467;p46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128400" y="2313649"/>
            <a:ext cx="2983875" cy="1747698"/>
          </a:xfrm>
          <a:prstGeom prst="rect">
            <a:avLst/>
          </a:prstGeom>
          <a:noFill/>
          <a:ln>
            <a:noFill/>
          </a:ln>
        </p:spPr>
      </p:pic>
      <p:sp>
        <p:nvSpPr>
          <p:cNvPr id="2047790141" name="Google Shape;468;p46"/>
          <p:cNvSpPr txBox="1"/>
          <p:nvPr/>
        </p:nvSpPr>
        <p:spPr bwMode="auto">
          <a:xfrm>
            <a:off x="460800" y="3445750"/>
            <a:ext cx="331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Now try the graph on the right. Write the order in the box below.</a:t>
            </a:r>
            <a:endParaRPr/>
          </a:p>
        </p:txBody>
      </p:sp>
      <p:sp>
        <p:nvSpPr>
          <p:cNvPr id="1814203389" name="Google Shape;469;p46"/>
          <p:cNvSpPr txBox="1"/>
          <p:nvPr/>
        </p:nvSpPr>
        <p:spPr bwMode="auto">
          <a:xfrm>
            <a:off x="353525" y="4162725"/>
            <a:ext cx="6651300" cy="95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Answer box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A,B,C,G,D,E,F</a:t>
            </a:r>
            <a:endParaRPr/>
          </a:p>
        </p:txBody>
      </p:sp>
      <p:sp>
        <p:nvSpPr>
          <p:cNvPr id="1393430216" name="Google Shape;470;p46"/>
          <p:cNvSpPr txBox="1"/>
          <p:nvPr/>
        </p:nvSpPr>
        <p:spPr bwMode="auto">
          <a:xfrm>
            <a:off x="153150" y="5346000"/>
            <a:ext cx="7253700" cy="448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 - Maze algorithm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Use the below link to watch the video on a BFS maze solving program.. The code for the example in the video has also been given.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u="sng">
                <a:solidFill>
                  <a:schemeClr val="hlink"/>
                </a:solidFill>
                <a:hlinkClick r:id="rId5" tooltip=""/>
              </a:rPr>
              <a:t>Video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GB">
                <a:solidFill>
                  <a:schemeClr val="dk1"/>
                </a:solidFill>
              </a:rPr>
              <a:t>File name BFSMaze will be posted by your teacher in Teams.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795234496" name="Google Shape;471;p46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511400" y="7955650"/>
            <a:ext cx="270510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624780" name="Google Shape;472;p46"/>
          <p:cNvSpPr txBox="1"/>
          <p:nvPr/>
        </p:nvSpPr>
        <p:spPr bwMode="auto">
          <a:xfrm>
            <a:off x="634538" y="8386750"/>
            <a:ext cx="331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Now try the maze on the right.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725606" name="Google Shape;477;p47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2024378" name="Google Shape;478;p47"/>
          <p:cNvSpPr txBox="1"/>
          <p:nvPr/>
        </p:nvSpPr>
        <p:spPr bwMode="auto">
          <a:xfrm>
            <a:off x="204700" y="126675"/>
            <a:ext cx="7253700" cy="448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 - Maze algorithm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Use the below link to watch the video on a DFS maze solving program.. The code for the example in the video has also been given.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u="sng">
                <a:solidFill>
                  <a:schemeClr val="hlink"/>
                </a:solidFill>
                <a:hlinkClick r:id="rId3" tooltip=""/>
              </a:rPr>
              <a:t>Video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GB">
                <a:solidFill>
                  <a:schemeClr val="dk1"/>
                </a:solidFill>
              </a:rPr>
              <a:t>File name DFSMaze will be posted by your teacher in Teams.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541380836" name="Google Shape;479;p4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587400" y="2584325"/>
            <a:ext cx="270510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540783" name="Google Shape;480;p47"/>
          <p:cNvSpPr txBox="1"/>
          <p:nvPr/>
        </p:nvSpPr>
        <p:spPr bwMode="auto">
          <a:xfrm>
            <a:off x="583888" y="3040750"/>
            <a:ext cx="331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Now try the maze on the right.</a:t>
            </a:r>
            <a:endParaRPr/>
          </a:p>
        </p:txBody>
      </p:sp>
      <p:sp>
        <p:nvSpPr>
          <p:cNvPr id="1822270902" name="Google Shape;481;p47"/>
          <p:cNvSpPr txBox="1"/>
          <p:nvPr/>
        </p:nvSpPr>
        <p:spPr bwMode="auto">
          <a:xfrm>
            <a:off x="153150" y="5346000"/>
            <a:ext cx="7253700" cy="448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 - Maze algorithm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Now try these other mazes using the BFS and DFS.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348015301" name="Google Shape;482;p47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39571" y="6407250"/>
            <a:ext cx="1702287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491917" name="Google Shape;483;p47"/>
          <p:cNvPicPr/>
          <p:nvPr/>
        </p:nvPicPr>
        <p:blipFill rotWithShape="1">
          <a:blip r:embed="rId6">
            <a:alphaModFix/>
          </a:blip>
          <a:srcRect l="0" t="22106" r="0" b="0"/>
          <a:stretch/>
        </p:blipFill>
        <p:spPr bwMode="auto">
          <a:xfrm>
            <a:off x="4764899" y="5546600"/>
            <a:ext cx="2350101" cy="212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996148" name="Google Shape;484;p47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2349450" y="7050150"/>
            <a:ext cx="2415449" cy="241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66126" name="Google Shape;489;p48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9310930" name="Google Shape;490;p48"/>
          <p:cNvSpPr txBox="1"/>
          <p:nvPr/>
        </p:nvSpPr>
        <p:spPr bwMode="auto">
          <a:xfrm>
            <a:off x="153150" y="126675"/>
            <a:ext cx="7253700" cy="5979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Practical - Robotics Vex Vr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Now click on the below link and select the </a:t>
            </a:r>
            <a:r>
              <a:rPr lang="en-GB" b="1"/>
              <a:t>wall maze</a:t>
            </a:r>
            <a:r>
              <a:rPr lang="en-GB"/>
              <a:t> playground.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u="sng">
                <a:solidFill>
                  <a:schemeClr val="hlink"/>
                </a:solidFill>
                <a:hlinkClick r:id="rId3" tooltip=""/>
              </a:rPr>
              <a:t>VexCode Vr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Write DFS and BFS solutions to get the robot to start on the green square and finish on the chequered square at the top of the maze.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/>
              <a:t>Once you have completed this select the </a:t>
            </a:r>
            <a:r>
              <a:rPr lang="en-GB" b="1"/>
              <a:t>dynamic wall maze </a:t>
            </a:r>
            <a:r>
              <a:rPr lang="en-GB"/>
              <a:t>and attempt to do the samething.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353299489" name="Google Shape;491;p4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164075" y="1216675"/>
            <a:ext cx="3231851" cy="329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80766" name="Google Shape;496;p49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7830240" name="Google Shape;497;p49"/>
          <p:cNvSpPr txBox="1"/>
          <p:nvPr/>
        </p:nvSpPr>
        <p:spPr bwMode="auto">
          <a:xfrm>
            <a:off x="261100" y="250950"/>
            <a:ext cx="6924600" cy="9556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Question - Exam style questions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51951670" name="Google Shape;498;p49"/>
          <p:cNvSpPr/>
          <p:nvPr/>
        </p:nvSpPr>
        <p:spPr bwMode="auto">
          <a:xfrm>
            <a:off x="480250" y="3987388"/>
            <a:ext cx="6524700" cy="559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Stack</a:t>
            </a: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Queue</a:t>
            </a: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ABCGDEFH</a:t>
            </a: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ABDECGFH</a:t>
            </a: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440181390" name="Google Shape;499;p49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80250" y="710276"/>
            <a:ext cx="6524700" cy="311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329609" name="Google Shape;504;p50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5280930" name="Google Shape;505;p50"/>
          <p:cNvSpPr txBox="1"/>
          <p:nvPr/>
        </p:nvSpPr>
        <p:spPr bwMode="auto">
          <a:xfrm>
            <a:off x="261100" y="250950"/>
            <a:ext cx="6924600" cy="9556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Question - Exam style questions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70472960" name="Google Shape;506;p50"/>
          <p:cNvSpPr/>
          <p:nvPr/>
        </p:nvSpPr>
        <p:spPr bwMode="auto">
          <a:xfrm>
            <a:off x="480250" y="689100"/>
            <a:ext cx="6524700" cy="889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38622" name="Google Shape;511;p51"/>
          <p:cNvSpPr txBox="1"/>
          <p:nvPr>
            <p:ph type="sldNum" idx="12"/>
          </p:nvPr>
        </p:nvSpPr>
        <p:spPr bwMode="auto"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2814145" name="Google Shape;512;p51"/>
          <p:cNvSpPr txBox="1"/>
          <p:nvPr/>
        </p:nvSpPr>
        <p:spPr bwMode="auto">
          <a:xfrm>
            <a:off x="375450" y="240300"/>
            <a:ext cx="6809100" cy="5029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64650" tIns="64650" rIns="64650" bIns="64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/>
              <a:t>Useful links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 u="sng">
                <a:solidFill>
                  <a:schemeClr val="hlink"/>
                </a:solidFill>
                <a:hlinkClick r:id="rId3" tooltip=""/>
              </a:rPr>
              <a:t>Video 1 </a:t>
            </a:r>
            <a:r>
              <a:rPr lang="en-GB" b="1"/>
              <a:t>- Craig N Dave  Graph-traversal  Youtube video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 u="sng">
                <a:solidFill>
                  <a:schemeClr val="hlink"/>
                </a:solidFill>
                <a:hlinkClick r:id="rId4" tooltip=""/>
              </a:rPr>
              <a:t>Video</a:t>
            </a:r>
            <a:r>
              <a:rPr lang="en-GB" b="1" u="sng">
                <a:solidFill>
                  <a:schemeClr val="hlink"/>
                </a:solidFill>
                <a:hlinkClick r:id="rId4" tooltip=""/>
              </a:rPr>
              <a:t> 2</a:t>
            </a:r>
            <a:r>
              <a:rPr lang="en-GB" b="1"/>
              <a:t> - Computer Science Graph-traversal </a:t>
            </a:r>
            <a:r>
              <a:rPr lang="en-GB" b="1">
                <a:solidFill>
                  <a:srgbClr val="000000"/>
                </a:solidFill>
              </a:rPr>
              <a:t> Youtube </a:t>
            </a:r>
            <a:r>
              <a:rPr lang="en-GB" b="1"/>
              <a:t>video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 u="sng">
                <a:solidFill>
                  <a:schemeClr val="hlink"/>
                </a:solidFill>
                <a:hlinkClick r:id="rId5" tooltip=""/>
              </a:rPr>
              <a:t>Playlist 1</a:t>
            </a:r>
            <a:r>
              <a:rPr lang="en-GB" b="1"/>
              <a:t> - William Fiest Graph Theory Youtube playlist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b="1" u="sng">
                <a:solidFill>
                  <a:schemeClr val="hlink"/>
                </a:solidFill>
                <a:hlinkClick r:id="rId6" tooltip=""/>
              </a:rPr>
              <a:t>Website 1</a:t>
            </a:r>
            <a:r>
              <a:rPr lang="en-GB" b="1"/>
              <a:t> - Isaac Computer Science website -  section on Graph traversal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</p:txBody>
      </p:sp>
      <p:graphicFrame>
        <p:nvGraphicFramePr>
          <p:cNvPr id="697346879" name="Google Shape;513;p51"/>
          <p:cNvGraphicFramePr>
            <a:graphicFrameLocks xmlns:a="http://schemas.openxmlformats.org/drawingml/2006/main"/>
          </p:cNvGraphicFramePr>
          <p:nvPr/>
        </p:nvGraphicFramePr>
        <p:xfrm rot="0">
          <a:off x="1203850" y="27286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{25C90975-67F4-4F81-8D25-20D473D5BB89}</a:tableStyleId>
                <a:noFill/>
              </a:tblPr>
              <a:tblGrid>
                <a:gridCol w="1225925"/>
                <a:gridCol w="1225925"/>
                <a:gridCol w="1225925"/>
                <a:gridCol w="1225925"/>
              </a:tblGrid>
              <a:tr h="453275"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Video</a:t>
                      </a:r>
                      <a:r>
                        <a:rPr lang="en-GB"/>
                        <a:t> 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Video</a:t>
                      </a:r>
                      <a:r>
                        <a:rPr lang="en-GB"/>
                        <a:t> 2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Playlist 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GB"/>
                        <a:t>Website 1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12308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000000"/>
                      </a:solidFill>
                    </a:lnL>
                    <a:lnR w="9525" algn="ctr">
                      <a:solidFill>
                        <a:srgbClr val="000000"/>
                      </a:solidFill>
                    </a:lnR>
                    <a:lnT w="9525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97197440" name="Google Shape;514;p51"/>
          <p:cNvSpPr txBox="1"/>
          <p:nvPr/>
        </p:nvSpPr>
        <p:spPr bwMode="auto">
          <a:xfrm>
            <a:off x="375450" y="5797113"/>
            <a:ext cx="6809100" cy="3074100"/>
          </a:xfrm>
          <a:prstGeom prst="rect">
            <a:avLst/>
          </a:prstGeom>
          <a:solidFill>
            <a:srgbClr val="FFFFFF"/>
          </a:solidFill>
          <a:ln w="76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650" tIns="64650" rIns="64650" bIns="64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000" b="1"/>
              <a:t>Action Plan</a:t>
            </a:r>
            <a:endParaRPr sz="1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/>
          </a:p>
        </p:txBody>
      </p:sp>
      <p:pic>
        <p:nvPicPr>
          <p:cNvPr id="623031267" name="Google Shape;515;p51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1203850" y="3181875"/>
            <a:ext cx="1225925" cy="117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021421" name="Google Shape;516;p51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2429771" y="3181875"/>
            <a:ext cx="1225925" cy="121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860315" name="Google Shape;517;p51"/>
          <p:cNvPicPr/>
          <p:nvPr/>
        </p:nvPicPr>
        <p:blipFill rotWithShape="1">
          <a:blip r:embed="rId9">
            <a:alphaModFix/>
          </a:blip>
          <a:stretch/>
        </p:blipFill>
        <p:spPr bwMode="auto">
          <a:xfrm>
            <a:off x="3655695" y="3181875"/>
            <a:ext cx="1225925" cy="1244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4578919" name="Google Shape;518;p51"/>
          <p:cNvPicPr/>
          <p:nvPr/>
        </p:nvPicPr>
        <p:blipFill rotWithShape="1">
          <a:blip r:embed="rId10">
            <a:alphaModFix/>
          </a:blip>
          <a:stretch/>
        </p:blipFill>
        <p:spPr bwMode="auto">
          <a:xfrm>
            <a:off x="4881625" y="3181875"/>
            <a:ext cx="1225925" cy="1237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7F294950C7884E8FE4B76F01B4BA6B" ma:contentTypeVersion="11" ma:contentTypeDescription="Create a new document." ma:contentTypeScope="" ma:versionID="8365bd8d0a391930816543019944d6a6">
  <xsd:schema xmlns:xsd="http://www.w3.org/2001/XMLSchema" xmlns:xs="http://www.w3.org/2001/XMLSchema" xmlns:p="http://schemas.microsoft.com/office/2006/metadata/properties" xmlns:ns2="20b0890a-fba0-492d-b60c-f556a549982e" xmlns:ns3="a89d9e9c-ee92-411a-8d95-187c9d227507" targetNamespace="http://schemas.microsoft.com/office/2006/metadata/properties" ma:root="true" ma:fieldsID="99d4def2894b940b56ff66f83499826c" ns2:_="" ns3:_="">
    <xsd:import namespace="20b0890a-fba0-492d-b60c-f556a549982e"/>
    <xsd:import namespace="a89d9e9c-ee92-411a-8d95-187c9d22750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0890a-fba0-492d-b60c-f556a549982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14d2c0e-eedf-4631-bc1a-62436814b3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d9e9c-ee92-411a-8d95-187c9d22750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dbb42c4-5597-4b5c-a98f-459a7307402e}" ma:internalName="TaxCatchAll" ma:showField="CatchAllData" ma:web="a89d9e9c-ee92-411a-8d95-187c9d2275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20b0890a-fba0-492d-b60c-f556a549982e" xsi:nil="true"/>
    <TaxCatchAll xmlns="a89d9e9c-ee92-411a-8d95-187c9d227507" xsi:nil="true"/>
    <lcf76f155ced4ddcb4097134ff3c332f xmlns="20b0890a-fba0-492d-b60c-f556a54998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BB17D677-5765-4ED5-B6A3-EA02BB5E055E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b0890a-fba0-492d-b60c-f556a549982e"/>
    <ds:schemaRef ds:uri="a89d9e9c-ee92-411a-8d95-187c9d2275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2001/XMLSchema-instance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20B1F96F-329B-4BEC-B601-97FBE6DDC921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52454662-5A2D-4C80-9743-CF2EA07B6E02">
  <ds:schemaRefs>
    <ds:schemaRef ds:uri="http://schemas.microsoft.com/office/2006/metadata/properties"/>
    <ds:schemaRef ds:uri="http://www.w3.org/2001/XMLSchema-instance"/>
    <ds:schemaRef ds:uri="http://schemas.microsoft.com/office/infopath/2007/PartnerControls"/>
    <ds:schemaRef ds:uri="20b0890a-fba0-492d-b60c-f556a549982e"/>
    <ds:schemaRef ds:uri="a89d9e9c-ee92-411a-8d95-187c9d22750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39</Slides>
  <Notes>39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2026-09-30T13:52:11Z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0x010100E67F294950C7884E8FE4B76F01B4BA6B</vt:lpwstr>
  </property>
</Properties>
</file>