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6.xml" ContentType="application/vnd.openxmlformats-officedocument.presentationml.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Layouts/slideLayout3.xml" ContentType="application/vnd.openxmlformats-officedocument.presentationml.slideLayout+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theme/theme3.xml" ContentType="application/vnd.openxmlformats-officedocument.theme+xml"/>
  <Override PartName="/ppt/theme/theme1.xml" ContentType="application/vnd.openxmlformats-officedocument.theme+xml"/>
  <Override PartName="/ppt/slideLayouts/slideLayout9.xml" ContentType="application/vnd.openxmlformats-officedocument.presentationml.slideLayout+xml"/>
  <Override PartName="/ppt/slides/slide3.xml" ContentType="application/vnd.openxmlformats-officedocument.presentationml.slide+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s/slide12.xml" ContentType="application/vnd.openxmlformats-officedocument.presentationml.slide+xml"/>
  <Override PartName="/customXml/itemProps2.xml" ContentType="application/vnd.openxmlformats-officedocument.customXmlProperties+xml"/>
  <Override PartName="/ppt/viewProps.xml" ContentType="application/vnd.openxmlformats-officedocument.presentationml.viewProps+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notesSlides/notesSlide19.xml" ContentType="application/vnd.openxmlformats-officedocument.presentationml.notesSlide+xml"/>
  <Override PartName="/customXml/itemProps3.xml" ContentType="application/vnd.openxmlformats-officedocument.customXmlProperties+xml"/>
  <Override PartName="/ppt/notesSlides/notesSlide11.xml" ContentType="application/vnd.openxmlformats-officedocument.presentationml.notesSlide+xml"/>
  <Override PartName="/ppt/slides/slide10.xml" ContentType="application/vnd.openxmlformats-officedocument.presentationml.slide+xml"/>
  <Override PartName="/docProps/app.xml" ContentType="application/vnd.openxmlformats-officedocument.extended-properties+xml"/>
  <Override PartName="/ppt/notesSlides/notesSlide4.xml" ContentType="application/vnd.openxmlformats-officedocument.presentationml.notesSlide+xml"/>
  <Override PartName="/ppt/tableStyles.xml" ContentType="application/vnd.openxmlformats-officedocument.presentationml.tableStyles+xml"/>
  <Override PartName="/ppt/slideLayouts/slideLayout8.xml" ContentType="application/vnd.openxmlformats-officedocument.presentationml.slideLayout+xml"/>
  <Override PartName="/docProps/custom.xml" ContentType="application/vnd.openxmlformats-officedocument.custom-properties+xml"/>
  <Override PartName="/ppt/slides/slide17.xml" ContentType="application/vnd.openxmlformats-officedocument.presentationml.slide+xml"/>
  <Override PartName="/customXml/itemProps1.xml" ContentType="application/vnd.openxmlformats-officedocument.customXmlProperties+xml"/>
  <Override PartName="/ppt/notesSlides/notesSlide6.xml" ContentType="application/vnd.openxmlformats-officedocument.presentationml.notesSlide+xml"/>
  <Override PartName="/ppt/slides/slide4.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theme/theme2.xml" ContentType="application/vnd.openxmlformats-officedocument.theme+xml"/>
  <Override PartName="/ppt/slides/slide13.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slides/slide6.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29.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handoutMasters/handoutMaster1.xml" ContentType="application/vnd.openxmlformats-officedocument.presentationml.handoutMaster+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trictFirstAndLastChars="0">
  <p:sldMasterIdLst>
    <p:sldMasterId id="2147483648" r:id="rId4"/>
  </p:sldMasterIdLst>
  <p:notesMasterIdLst>
    <p:notesMasterId r:id="rId37"/>
  </p:notesMasterIdLst>
  <p:handoutMasterIdLst>
    <p:handoutMasterId r:id="rId38"/>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7560000" cy="10692000"/>
  <p:notesSz cx="6858000" cy="9144000"/>
  <p:custDataLst>
    <p:custData r:id="rId1"/>
    <p:custData r:id="rId2"/>
    <p:custData r:id="rId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CCEABCB7-2212-49B3-83A6-2720F6DABF57}">
  <a:tblStyle styleId="{CCEABCB7-2212-49B3-83A6-2720F6DABF57}" styleName="Table_0">
    <a:wholeTbl>
      <a:tcTxStyle>
        <a:srgbClr val="000000"/>
      </a:tcTxStyle>
      <a:tcStyle>
        <a:tcBdr>
          <a:left>
            <a:ln w="12700">
              <a:noFill/>
            </a:ln>
          </a:left>
          <a:right>
            <a:ln w="12700">
              <a:noFill/>
            </a:ln>
          </a:right>
          <a:top>
            <a:ln w="12700">
              <a:noFill/>
            </a:ln>
          </a:top>
          <a:bottom>
            <a:ln w="12700">
              <a:noFill/>
            </a:ln>
          </a:bottom>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F24CB3B6-2E02-4EE8-BA16-628833C20289}" styleName="Table_1">
    <a:wholeTbl>
      <a:tcTxStyle>
        <a:srgbClr val="000000"/>
      </a:tcTxStyle>
      <a:tcStyle>
        <a:tcBdr>
          <a:left>
            <a:ln w="9525">
              <a:solidFill>
                <a:srgbClr val="9E9E9E"/>
              </a:solidFill>
            </a:ln>
          </a:left>
          <a:right>
            <a:ln w="9525">
              <a:solidFill>
                <a:srgbClr val="9E9E9E"/>
              </a:solidFill>
            </a:ln>
          </a:right>
          <a:top>
            <a:ln w="9525">
              <a:solidFill>
                <a:srgbClr val="9E9E9E"/>
              </a:solidFill>
            </a:ln>
          </a:top>
          <a:bottom>
            <a:ln w="9525">
              <a:solidFill>
                <a:srgbClr val="9E9E9E"/>
              </a:solidFill>
            </a:ln>
          </a:bottom>
          <a:insideH>
            <a:ln w="9525">
              <a:solidFill>
                <a:srgbClr val="9E9E9E"/>
              </a:solidFill>
            </a:ln>
          </a:insideH>
          <a:insideV>
            <a:ln w="9525">
              <a:solidFill>
                <a:srgbClr val="9E9E9E"/>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theme" Target="theme/them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notesMaster" Target="notesMasters/notesMaster1.xml"/><Relationship Id="rId38" Type="http://schemas.openxmlformats.org/officeDocument/2006/relationships/handoutMaster" Target="handoutMasters/handoutMaster1.xml"/><Relationship Id="rId39" Type="http://schemas.openxmlformats.org/officeDocument/2006/relationships/presProps" Target="presProps.xml" /><Relationship Id="rId40" Type="http://schemas.openxmlformats.org/officeDocument/2006/relationships/tableStyles" Target="tableStyles.xml" /><Relationship Id="rId41"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40000179"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384809311"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026DFF4B-8823-CB6D-E9A9-9EABB4CE1520}" type="datetimeFigureOut">
              <a:rPr lang="en-US"/>
              <a:t/>
            </a:fld>
            <a:endParaRPr/>
          </a:p>
        </p:txBody>
      </p:sp>
      <p:sp>
        <p:nvSpPr>
          <p:cNvPr id="1186650644"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931640561"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A30F8F22-24B2-7A35-99E9-9EE974D05906}"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940730369" name="Google Shape;3;n"/>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2798849"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90953731" name="Google Shape;51;p: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44043357" name="Google Shape;52;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66110074" name="Google Shape;64;g119d85e8fad_0_3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71755875" name="Google Shape;65;g119d85e8fad_0_3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15936357" name="Google Shape;74;g152ba9139c3_1_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8654926" name="Google Shape;75;g152ba9139c3_1_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85816962" name="Google Shape;83;g152ba9139c3_1_2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20526341" name="Google Shape;84;g152ba9139c3_1_2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68117596" name="Google Shape;92;g152ba9139c3_1_31: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74058073" name="Google Shape;93;g152ba9139c3_1_3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0904432" name="Google Shape;101;g152ba9139c3_1_4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79600245" name="Google Shape;102;g152ba9139c3_1_4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77921100" name="Google Shape;110;g152ba9139c3_1_5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00511240" name="Google Shape;111;g152ba9139c3_1_5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73073856" name="Google Shape;118;g11d22cee656_0_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99444551" name="Google Shape;119;g11d22cee656_0_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90678167" name="Google Shape;129;g152ba9139c3_1_6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07744352" name="Google Shape;130;g152ba9139c3_1_6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53733249" name="Google Shape;138;g152ba9139c3_1_7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920068274" name="Google Shape;139;g152ba9139c3_1_7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63127220" name="Google Shape;147;g152b9222e87_0_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66166302" name="Google Shape;148;g152b9222e87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26241178" name="Google Shape;156;g152ba9139c3_1_8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47281639" name="Google Shape;157;g152ba9139c3_1_8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83303160" name="Google Shape;164;g152ba9139c3_1_6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54870436" name="Google Shape;165;g152ba9139c3_1_6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07555597" name="Google Shape;173;g152b9222e87_0_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01284285" name="Google Shape;174;g152b9222e87_0_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19722566" name="Google Shape;182;g152b9222e87_0_21: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93202932" name="Google Shape;183;g152b9222e87_0_2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86778976" name="Google Shape;192;g152b9222e87_0_3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62131396" name="Google Shape;193;g152b9222e87_0_3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92642440" name="Google Shape;202;g152b9222e87_0_4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22323661" name="Google Shape;203;g152b9222e87_0_4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56170529" name="Google Shape;212;g152b9222e87_0_55: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99165397" name="Google Shape;213;g152b9222e87_0_5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4467088" name="Google Shape;222;g152b9222e87_0_6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11736338" name="Google Shape;223;g152b9222e87_0_6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75645107" name="Google Shape;233;g152b9222e87_0_76: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723059578" name="Google Shape;234;g152b9222e87_0_7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52818520" name="Google Shape;242;g152b9222e87_0_8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17704935" name="Google Shape;243;g152b9222e87_0_8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46615594" name="Google Shape;251;g152b9222e87_0_9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01992006" name="Google Shape;252;g152b9222e87_0_9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13261348" name="Google Shape;260;g152b9222e87_0_105: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11926696" name="Google Shape;261;g152b9222e87_0_10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26977043" name="Google Shape;269;g152b9222e87_0_1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54241204" name="Google Shape;270;g152b9222e87_0_1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8372174" name="Google Shape;278;g15bbaf9c156_0_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28589813" name="Google Shape;279;g15bbaf9c156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4666798" name="Google Shape;287;g133daa6f9a8_0_1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4062428" name="Google Shape;288;g133daa6f9a8_0_1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96724673" name="Google Shape;294;g152b9222e87_0_12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01572546" name="Google Shape;295;g152b9222e87_0_12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16400502" name="Google Shape;301;gf57273276f_0_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34808266" name="Google Shape;302;gf57273276f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72358551" name="Google Shape;307;gf57273276f_0_6: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77411073" name="Google Shape;308;gf57273276f_0_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040329348" name="Google Shape;10;p2"/>
          <p:cNvSpPr txBox="1"/>
          <p:nvPr>
            <p:ph type="ctrTitle"/>
          </p:nvPr>
        </p:nvSpPr>
        <p:spPr bwMode="auto">
          <a:xfrm>
            <a:off x="257712" y="1547778"/>
            <a:ext cx="7044600" cy="426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1012384287" name="Google Shape;11;p2"/>
          <p:cNvSpPr txBox="1"/>
          <p:nvPr>
            <p:ph type="subTitle" idx="1"/>
          </p:nvPr>
        </p:nvSpPr>
        <p:spPr bwMode="auto">
          <a:xfrm>
            <a:off x="257705" y="5891409"/>
            <a:ext cx="7044600" cy="1647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457620370" name="Google Shape;12;p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485266576" name="Google Shape;14;p3"/>
          <p:cNvSpPr txBox="1"/>
          <p:nvPr>
            <p:ph type="title"/>
          </p:nvPr>
        </p:nvSpPr>
        <p:spPr bwMode="auto">
          <a:xfrm>
            <a:off x="257705" y="4471058"/>
            <a:ext cx="7044600" cy="1749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155459658" name="Google Shape;15;p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38005409" name="Google Shape;17;p4"/>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944753101" name="Google Shape;18;p4"/>
          <p:cNvSpPr txBox="1"/>
          <p:nvPr>
            <p:ph type="body" idx="1"/>
          </p:nvPr>
        </p:nvSpPr>
        <p:spPr bwMode="auto">
          <a:xfrm>
            <a:off x="257705" y="2395696"/>
            <a:ext cx="7044600" cy="7101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2126838359" name="Google Shape;19;p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896707223" name="Google Shape;21;p5"/>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837552982" name="Google Shape;22;p5"/>
          <p:cNvSpPr txBox="1"/>
          <p:nvPr>
            <p:ph type="body" idx="1"/>
          </p:nvPr>
        </p:nvSpPr>
        <p:spPr bwMode="auto">
          <a:xfrm>
            <a:off x="257705"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576969793" name="Google Shape;23;p5"/>
          <p:cNvSpPr txBox="1"/>
          <p:nvPr>
            <p:ph type="body" idx="2"/>
          </p:nvPr>
        </p:nvSpPr>
        <p:spPr bwMode="auto">
          <a:xfrm>
            <a:off x="3995291"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094070855" name="Google Shape;24;p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767646814" name="Google Shape;26;p6"/>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774152478" name="Google Shape;27;p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790667548" name="Google Shape;29;p7"/>
          <p:cNvSpPr txBox="1"/>
          <p:nvPr>
            <p:ph type="title"/>
          </p:nvPr>
        </p:nvSpPr>
        <p:spPr bwMode="auto">
          <a:xfrm>
            <a:off x="257705" y="1154948"/>
            <a:ext cx="2321699" cy="15708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103742228" name="Google Shape;30;p7"/>
          <p:cNvSpPr txBox="1"/>
          <p:nvPr>
            <p:ph type="body" idx="1"/>
          </p:nvPr>
        </p:nvSpPr>
        <p:spPr bwMode="auto">
          <a:xfrm>
            <a:off x="257705" y="2888617"/>
            <a:ext cx="2321699" cy="6609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961472678" name="Google Shape;31;p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814823026" name="Google Shape;33;p8"/>
          <p:cNvSpPr txBox="1"/>
          <p:nvPr>
            <p:ph type="title"/>
          </p:nvPr>
        </p:nvSpPr>
        <p:spPr bwMode="auto">
          <a:xfrm>
            <a:off x="405325" y="935745"/>
            <a:ext cx="5264700" cy="8503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1520679276" name="Google Shape;34;p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885295793" name="Google Shape;36;p9"/>
          <p:cNvSpPr/>
          <p:nvPr/>
        </p:nvSpPr>
        <p:spPr bwMode="auto">
          <a:xfrm>
            <a:off x="3780000" y="-260"/>
            <a:ext cx="3780000" cy="1069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49584304" name="Google Shape;37;p9"/>
          <p:cNvSpPr txBox="1"/>
          <p:nvPr>
            <p:ph type="title"/>
          </p:nvPr>
        </p:nvSpPr>
        <p:spPr bwMode="auto">
          <a:xfrm>
            <a:off x="219508" y="2563450"/>
            <a:ext cx="3344400" cy="3081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174802718" name="Google Shape;38;p9"/>
          <p:cNvSpPr txBox="1"/>
          <p:nvPr>
            <p:ph type="subTitle" idx="1"/>
          </p:nvPr>
        </p:nvSpPr>
        <p:spPr bwMode="auto">
          <a:xfrm>
            <a:off x="219508" y="5826865"/>
            <a:ext cx="3344400" cy="2567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845909826" name="Google Shape;39;p9"/>
          <p:cNvSpPr txBox="1"/>
          <p:nvPr>
            <p:ph type="body" idx="2"/>
          </p:nvPr>
        </p:nvSpPr>
        <p:spPr bwMode="auto">
          <a:xfrm>
            <a:off x="4083839" y="1505164"/>
            <a:ext cx="3172199" cy="76812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897091224" name="Google Shape;40;p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2062250777" name="Google Shape;42;p10"/>
          <p:cNvSpPr txBox="1"/>
          <p:nvPr>
            <p:ph type="body" idx="1"/>
          </p:nvPr>
        </p:nvSpPr>
        <p:spPr bwMode="auto">
          <a:xfrm>
            <a:off x="257705" y="8794266"/>
            <a:ext cx="4959600" cy="12579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1630343775" name="Google Shape;43;p1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1256168110" name="Google Shape;45;p11"/>
          <p:cNvSpPr txBox="1"/>
          <p:nvPr>
            <p:ph type="title" hasCustomPrompt="1"/>
          </p:nvPr>
        </p:nvSpPr>
        <p:spPr bwMode="auto">
          <a:xfrm>
            <a:off x="257705" y="2299346"/>
            <a:ext cx="7044600" cy="4081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2069980503" name="Google Shape;46;p11"/>
          <p:cNvSpPr txBox="1"/>
          <p:nvPr>
            <p:ph type="body" idx="1"/>
          </p:nvPr>
        </p:nvSpPr>
        <p:spPr bwMode="auto">
          <a:xfrm>
            <a:off x="257705" y="6552657"/>
            <a:ext cx="7044600" cy="2703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1569025901" name="Google Shape;47;p1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950929898" name="Google Shape;49;p1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1349697634" name="Google Shape;6;p1"/>
          <p:cNvSpPr txBox="1"/>
          <p:nvPr>
            <p:ph type="title"/>
          </p:nvPr>
        </p:nvSpPr>
        <p:spPr bwMode="auto">
          <a:xfrm>
            <a:off x="257705" y="925091"/>
            <a:ext cx="7044600" cy="119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385707505" name="Google Shape;7;p1"/>
          <p:cNvSpPr txBox="1"/>
          <p:nvPr>
            <p:ph type="body" idx="1"/>
          </p:nvPr>
        </p:nvSpPr>
        <p:spPr bwMode="auto">
          <a:xfrm>
            <a:off x="257705" y="2395696"/>
            <a:ext cx="7044600" cy="7101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pPr>
              <a:defRPr/>
            </a:pPr>
            <a:endParaRPr/>
          </a:p>
        </p:txBody>
      </p:sp>
      <p:sp>
        <p:nvSpPr>
          <p:cNvPr id="1444429800" name="Google Shape;8;p1"/>
          <p:cNvSpPr txBox="1"/>
          <p:nvPr>
            <p:ph type="sldNum" idx="12"/>
          </p:nvPr>
        </p:nvSpPr>
        <p:spPr bwMode="auto">
          <a:xfrm>
            <a:off x="7004788" y="9693616"/>
            <a:ext cx="453600" cy="8181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hyperlink" Target="https://youtu.be/XgteJLurvB4" TargetMode="External"/><Relationship Id="rId4" Type="http://schemas.openxmlformats.org/officeDocument/2006/relationships/hyperlink" Target="https://youtu.be/X3xRQ-j_sOI" TargetMode="Externa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4.jpg"/><Relationship Id="rId4" Type="http://schemas.openxmlformats.org/officeDocument/2006/relationships/image" Target="../media/image1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9.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0.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1.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23.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hyperlink" Target="https://youtu.be/K2UD7H8m13w" TargetMode="External"/><Relationship Id="rId4" Type="http://schemas.openxmlformats.org/officeDocument/2006/relationships/hyperlink" Target="https://youtu.be/ao3iCcmTa10" TargetMode="External"/><Relationship Id="rId5" Type="http://schemas.openxmlformats.org/officeDocument/2006/relationships/hyperlink" Target="https://youtu.be/psKZEdvfaCE" TargetMode="External"/><Relationship Id="rId6" Type="http://schemas.openxmlformats.org/officeDocument/2006/relationships/hyperlink" Target="https://isaaccomputerscience.org/topics/a_level?examBoard=all&amp;stage=all#aqa" TargetMode="External"/><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7639579" name="Google Shape;54;p13"/>
          <p:cNvSpPr txBox="1"/>
          <p:nvPr/>
        </p:nvSpPr>
        <p:spPr bwMode="auto">
          <a:xfrm>
            <a:off x="257700" y="238271"/>
            <a:ext cx="7044600" cy="6405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2800"/>
              <a:t>4.3.4 Searching algorithms</a:t>
            </a:r>
            <a:endParaRPr sz="2800">
              <a:solidFill>
                <a:srgbClr val="000000"/>
              </a:solidFill>
            </a:endParaRPr>
          </a:p>
        </p:txBody>
      </p:sp>
      <p:sp>
        <p:nvSpPr>
          <p:cNvPr id="744801697" name="Google Shape;55;p13"/>
          <p:cNvSpPr txBox="1"/>
          <p:nvPr/>
        </p:nvSpPr>
        <p:spPr bwMode="auto">
          <a:xfrm>
            <a:off x="257700" y="972087"/>
            <a:ext cx="3742200" cy="461700"/>
          </a:xfrm>
          <a:prstGeom prst="rect">
            <a:avLst/>
          </a:prstGeom>
          <a:solidFill>
            <a:srgbClr val="EFEFEF"/>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sz="1800" b="1"/>
              <a:t>Syllabus Details</a:t>
            </a:r>
            <a:endParaRPr sz="1800" b="1"/>
          </a:p>
        </p:txBody>
      </p:sp>
      <p:sp>
        <p:nvSpPr>
          <p:cNvPr id="1131090171" name="Google Shape;56;p1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959959667" name="Google Shape;57;p13"/>
          <p:cNvSpPr txBox="1"/>
          <p:nvPr/>
        </p:nvSpPr>
        <p:spPr bwMode="auto">
          <a:xfrm>
            <a:off x="257700" y="5843495"/>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4.3.4.1 Linear Search</a:t>
            </a:r>
            <a:endParaRPr sz="1800" b="1">
              <a:solidFill>
                <a:srgbClr val="000000"/>
              </a:solidFill>
            </a:endParaRPr>
          </a:p>
        </p:txBody>
      </p:sp>
      <p:graphicFrame>
        <p:nvGraphicFramePr>
          <p:cNvPr id="865425771" name="Google Shape;58;p13"/>
          <p:cNvGraphicFramePr>
            <a:graphicFrameLocks xmlns:a="http://schemas.openxmlformats.org/drawingml/2006/main"/>
          </p:cNvGraphicFramePr>
          <p:nvPr/>
        </p:nvGraphicFramePr>
        <p:xfrm rot="0">
          <a:off x="233325" y="1705988"/>
          <a:ext cx="3000000" cy="3000000"/>
        </p:xfrm>
        <a:graphic>
          <a:graphicData uri="http://schemas.openxmlformats.org/drawingml/2006/table">
            <a:tbl>
              <a:tblPr firstRow="0" firstCol="0" lastRow="0" lastCol="0" bandRow="0" bandCol="0">
                <a:tableStyleId>{CCEABCB7-2212-49B3-83A6-2720F6DABF57}</a:tableStyleId>
                <a:noFill/>
              </a:tblPr>
              <a:tblGrid>
                <a:gridCol w="3790949"/>
              </a:tblGrid>
              <a:tr h="200025">
                <a:tc>
                  <a:txBody>
                    <a:bodyPr/>
                    <a:p>
                      <a:pPr marL="0" lvl="0" indent="0" algn="l" rtl="0">
                        <a:lnSpc>
                          <a:spcPct val="115000"/>
                        </a:lnSpc>
                        <a:spcBef>
                          <a:spcPts val="0"/>
                        </a:spcBef>
                        <a:spcAft>
                          <a:spcPts val="0"/>
                        </a:spcAft>
                        <a:buNone/>
                        <a:defRPr/>
                      </a:pPr>
                      <a:r>
                        <a:rPr lang="en-GB" sz="1000" b="1"/>
                        <a:t>4.3.4 Searching algorithms</a:t>
                      </a:r>
                      <a:endParaRPr sz="1000" b="1"/>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5000"/>
                        </a:lnSpc>
                        <a:spcBef>
                          <a:spcPts val="0"/>
                        </a:spcBef>
                        <a:spcAft>
                          <a:spcPts val="0"/>
                        </a:spcAft>
                        <a:buNone/>
                        <a:defRPr/>
                      </a:pPr>
                      <a:r>
                        <a:rPr lang="en-GB" sz="1000"/>
                        <a:t>4.3.4.1 Linear search</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5000"/>
                        </a:lnSpc>
                        <a:spcBef>
                          <a:spcPts val="0"/>
                        </a:spcBef>
                        <a:spcAft>
                          <a:spcPts val="0"/>
                        </a:spcAft>
                        <a:buNone/>
                        <a:defRPr/>
                      </a:pPr>
                      <a:r>
                        <a:rPr lang="en-GB" sz="1000"/>
                        <a:t>4.3.4.2 Binary search</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5000"/>
                        </a:lnSpc>
                        <a:spcBef>
                          <a:spcPts val="0"/>
                        </a:spcBef>
                        <a:spcAft>
                          <a:spcPts val="0"/>
                        </a:spcAft>
                        <a:buNone/>
                        <a:defRPr/>
                      </a:pPr>
                      <a:r>
                        <a:rPr lang="en-GB" sz="1000"/>
                        <a:t>4.3.4.3 Binary tree search</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bl>
          </a:graphicData>
        </a:graphic>
      </p:graphicFrame>
      <p:graphicFrame>
        <p:nvGraphicFramePr>
          <p:cNvPr id="812895587" name="Google Shape;59;p13"/>
          <p:cNvGraphicFramePr>
            <a:graphicFrameLocks xmlns:a="http://schemas.openxmlformats.org/drawingml/2006/main"/>
          </p:cNvGraphicFramePr>
          <p:nvPr/>
        </p:nvGraphicFramePr>
        <p:xfrm rot="0">
          <a:off x="233325" y="2816400"/>
          <a:ext cx="3000000" cy="3000000"/>
        </p:xfrm>
        <a:graphic>
          <a:graphicData uri="http://schemas.openxmlformats.org/drawingml/2006/table">
            <a:tbl>
              <a:tblPr firstRow="0" firstCol="0" lastRow="0" lastCol="0" bandRow="0" bandCol="0">
                <a:tableStyleId>{CCEABCB7-2212-49B3-83A6-2720F6DABF57}</a:tableStyleId>
                <a:noFill/>
              </a:tblPr>
              <a:tblGrid>
                <a:gridCol w="3790949"/>
              </a:tblGrid>
              <a:tr h="200025">
                <a:tc>
                  <a:txBody>
                    <a:bodyPr/>
                    <a:p>
                      <a:pPr marL="0" lvl="0" indent="0" algn="l" rtl="0">
                        <a:lnSpc>
                          <a:spcPct val="115000"/>
                        </a:lnSpc>
                        <a:spcBef>
                          <a:spcPts val="0"/>
                        </a:spcBef>
                        <a:spcAft>
                          <a:spcPts val="0"/>
                        </a:spcAft>
                        <a:buNone/>
                        <a:defRPr/>
                      </a:pPr>
                      <a:r>
                        <a:rPr lang="en-GB" sz="1000" b="1"/>
                        <a:t>4.2.6 Hash tables</a:t>
                      </a:r>
                      <a:endParaRPr sz="1000" b="1"/>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5000"/>
                        </a:lnSpc>
                        <a:spcBef>
                          <a:spcPts val="0"/>
                        </a:spcBef>
                        <a:spcAft>
                          <a:spcPts val="0"/>
                        </a:spcAft>
                        <a:buNone/>
                        <a:defRPr/>
                      </a:pPr>
                      <a:r>
                        <a:rPr lang="en-GB" sz="1000"/>
                        <a:t>4.2.6.1 Hash tables</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bl>
          </a:graphicData>
        </a:graphic>
      </p:graphicFrame>
      <p:sp>
        <p:nvSpPr>
          <p:cNvPr id="1670549851" name="Google Shape;60;p13"/>
          <p:cNvSpPr txBox="1"/>
          <p:nvPr/>
        </p:nvSpPr>
        <p:spPr bwMode="auto">
          <a:xfrm>
            <a:off x="228025" y="3597775"/>
            <a:ext cx="7068899" cy="20061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Preliminary Multiple Choice Questions</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a:t>Complete the Preliminary Multiple Choice questions posted by the teacher on Teams.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365193379" name="Google Shape;61;p13"/>
          <p:cNvSpPr txBox="1"/>
          <p:nvPr/>
        </p:nvSpPr>
        <p:spPr bwMode="auto">
          <a:xfrm>
            <a:off x="276325" y="6609025"/>
            <a:ext cx="6972300" cy="39027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point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Linear search</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Linear search scans each item or element in a collection of items, e.g. playing cards, in turn, starting from the beginning, until a match is found or the end of the collection is reached.</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Linear search doesn’t care whether the list is ordered or not.</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Watch the video posted on Teams.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2013357532" name="Google Shape;62;p13"/>
          <p:cNvPicPr/>
          <p:nvPr/>
        </p:nvPicPr>
        <p:blipFill rotWithShape="1">
          <a:blip r:embed="rId3">
            <a:alphaModFix/>
          </a:blip>
          <a:stretch/>
        </p:blipFill>
        <p:spPr bwMode="auto">
          <a:xfrm>
            <a:off x="3780000" y="8977400"/>
            <a:ext cx="3224800" cy="117704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5418646" name="Google Shape;67;p1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627989500" name="Google Shape;68;p14"/>
          <p:cNvSpPr txBox="1"/>
          <p:nvPr/>
        </p:nvSpPr>
        <p:spPr bwMode="auto">
          <a:xfrm>
            <a:off x="293850" y="276950"/>
            <a:ext cx="6972300" cy="77547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A pack of cards is shuffled to ensure that the cards are in no particular order and then placed face down on a table. Starting from the top of the pack, one playing card is turned over at a time until the Ace of Spades is found.</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Part A</a:t>
            </a:r>
            <a:endParaRPr/>
          </a:p>
          <a:p>
            <a:pPr marL="0" lvl="0" indent="0" algn="l" rtl="0">
              <a:spcBef>
                <a:spcPts val="0"/>
              </a:spcBef>
              <a:spcAft>
                <a:spcPts val="0"/>
              </a:spcAft>
              <a:buNone/>
              <a:defRPr/>
            </a:pPr>
            <a:r>
              <a:rPr lang="en-GB"/>
              <a:t>If the task was repeated many times, shuffling the pack of 52 cards before each new search, on average how many cards would need to be turned over to find the Ace of Spades?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Part B</a:t>
            </a:r>
            <a:endParaRPr/>
          </a:p>
          <a:p>
            <a:pPr marL="0" lvl="0" indent="0" algn="l" rtl="0">
              <a:spcBef>
                <a:spcPts val="0"/>
              </a:spcBef>
              <a:spcAft>
                <a:spcPts val="0"/>
              </a:spcAft>
              <a:buNone/>
              <a:defRPr/>
            </a:pPr>
            <a:r>
              <a:rPr lang="en-GB"/>
              <a:t>What is the maximum number of cards that need turning over to find a match?</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Part C</a:t>
            </a:r>
            <a:endParaRPr/>
          </a:p>
          <a:p>
            <a:pPr marL="0" lvl="0" indent="0" algn="l" rtl="0">
              <a:spcBef>
                <a:spcPts val="0"/>
              </a:spcBef>
              <a:spcAft>
                <a:spcPts val="0"/>
              </a:spcAft>
              <a:buNone/>
              <a:defRPr/>
            </a:pPr>
            <a:r>
              <a:rPr lang="en-GB"/>
              <a:t>Half of the pack is removed. Starting from the top of the pack, one playing card is turned over at a time until either the Ace of Spades is found or all the cards have been examined.</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What is the maximum number of cards that need turning over to find the Ace of Spades or to discover that the half pack doesn’t contain the Ace of Spades?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855922899" name="Google Shape;69;p14"/>
          <p:cNvSpPr txBox="1"/>
          <p:nvPr/>
        </p:nvSpPr>
        <p:spPr bwMode="auto">
          <a:xfrm>
            <a:off x="427650" y="2696800"/>
            <a:ext cx="6704700" cy="698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6877819" name="Google Shape;70;p14"/>
          <p:cNvSpPr txBox="1"/>
          <p:nvPr/>
        </p:nvSpPr>
        <p:spPr bwMode="auto">
          <a:xfrm>
            <a:off x="427650" y="4146350"/>
            <a:ext cx="6704700" cy="698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368273784" name="Google Shape;71;p14"/>
          <p:cNvSpPr txBox="1"/>
          <p:nvPr/>
        </p:nvSpPr>
        <p:spPr bwMode="auto">
          <a:xfrm>
            <a:off x="427650" y="6731049"/>
            <a:ext cx="6704700" cy="9984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882643445" name="Google Shape;72;p14"/>
          <p:cNvSpPr txBox="1"/>
          <p:nvPr/>
        </p:nvSpPr>
        <p:spPr bwMode="auto">
          <a:xfrm>
            <a:off x="293850" y="8310350"/>
            <a:ext cx="6972300" cy="1752000"/>
          </a:xfrm>
          <a:prstGeom prst="rect">
            <a:avLst/>
          </a:prstGeom>
          <a:solidFill>
            <a:srgbClr val="B7B7B7"/>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concept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Search length</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a:t>Search length = no of elements of the array or list which are examined before a match is found.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3645489" name="Google Shape;77;p15"/>
          <p:cNvSpPr txBox="1"/>
          <p:nvPr/>
        </p:nvSpPr>
        <p:spPr bwMode="auto">
          <a:xfrm>
            <a:off x="293850" y="1013450"/>
            <a:ext cx="6972300" cy="86802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Examples of the algorithm in different forms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749714165" name="Google Shape;78;p1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60068519" name="Google Shape;79;p15"/>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linear search</a:t>
            </a:r>
            <a:endParaRPr sz="1800" b="1">
              <a:solidFill>
                <a:srgbClr val="000000"/>
              </a:solidFill>
            </a:endParaRPr>
          </a:p>
        </p:txBody>
      </p:sp>
      <p:pic>
        <p:nvPicPr>
          <p:cNvPr id="1544524198" name="Google Shape;80;p15"/>
          <p:cNvPicPr/>
          <p:nvPr/>
        </p:nvPicPr>
        <p:blipFill rotWithShape="1">
          <a:blip r:embed="rId3">
            <a:alphaModFix/>
          </a:blip>
          <a:stretch/>
        </p:blipFill>
        <p:spPr bwMode="auto">
          <a:xfrm>
            <a:off x="808200" y="1594020"/>
            <a:ext cx="5943600" cy="3276600"/>
          </a:xfrm>
          <a:prstGeom prst="rect">
            <a:avLst/>
          </a:prstGeom>
          <a:noFill/>
          <a:ln>
            <a:noFill/>
          </a:ln>
        </p:spPr>
      </p:pic>
      <p:pic>
        <p:nvPicPr>
          <p:cNvPr id="706339569" name="Google Shape;81;p15"/>
          <p:cNvPicPr/>
          <p:nvPr/>
        </p:nvPicPr>
        <p:blipFill rotWithShape="1">
          <a:blip r:embed="rId4">
            <a:alphaModFix/>
          </a:blip>
          <a:srcRect l="13260" t="0" r="12704" b="0"/>
          <a:stretch/>
        </p:blipFill>
        <p:spPr bwMode="auto">
          <a:xfrm>
            <a:off x="1069375" y="5162175"/>
            <a:ext cx="5371350" cy="40810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4175936" name="Google Shape;86;p1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54282839" name="Google Shape;87;p16"/>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linear search</a:t>
            </a:r>
            <a:endParaRPr sz="1800" b="1">
              <a:solidFill>
                <a:srgbClr val="000000"/>
              </a:solidFill>
            </a:endParaRPr>
          </a:p>
        </p:txBody>
      </p:sp>
      <p:sp>
        <p:nvSpPr>
          <p:cNvPr id="1674315300" name="Google Shape;88;p16"/>
          <p:cNvSpPr txBox="1"/>
          <p:nvPr/>
        </p:nvSpPr>
        <p:spPr bwMode="auto">
          <a:xfrm>
            <a:off x="293850" y="1013450"/>
            <a:ext cx="6972300" cy="86802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Pseudocode example using a list.</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Python code for the above example.</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724525232" name="Google Shape;89;p16"/>
          <p:cNvPicPr/>
          <p:nvPr/>
        </p:nvPicPr>
        <p:blipFill rotWithShape="1">
          <a:blip r:embed="rId3">
            <a:alphaModFix/>
          </a:blip>
          <a:srcRect l="0" t="20223" r="38703" b="0"/>
          <a:stretch/>
        </p:blipFill>
        <p:spPr bwMode="auto">
          <a:xfrm>
            <a:off x="949375" y="1520175"/>
            <a:ext cx="5883427" cy="4307226"/>
          </a:xfrm>
          <a:prstGeom prst="rect">
            <a:avLst/>
          </a:prstGeom>
          <a:noFill/>
          <a:ln>
            <a:noFill/>
          </a:ln>
        </p:spPr>
      </p:pic>
      <p:pic>
        <p:nvPicPr>
          <p:cNvPr id="561348959" name="Google Shape;90;p16"/>
          <p:cNvPicPr/>
          <p:nvPr/>
        </p:nvPicPr>
        <p:blipFill rotWithShape="1">
          <a:blip r:embed="rId4">
            <a:alphaModFix/>
          </a:blip>
          <a:stretch/>
        </p:blipFill>
        <p:spPr bwMode="auto">
          <a:xfrm>
            <a:off x="514401" y="6526301"/>
            <a:ext cx="6490400" cy="288129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4302561" name="Google Shape;95;p1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353972663" name="Google Shape;96;p17"/>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linear search</a:t>
            </a:r>
            <a:endParaRPr sz="1800" b="1">
              <a:solidFill>
                <a:srgbClr val="000000"/>
              </a:solidFill>
            </a:endParaRPr>
          </a:p>
        </p:txBody>
      </p:sp>
      <p:sp>
        <p:nvSpPr>
          <p:cNvPr id="302832578" name="Google Shape;97;p17"/>
          <p:cNvSpPr txBox="1"/>
          <p:nvPr/>
        </p:nvSpPr>
        <p:spPr bwMode="auto">
          <a:xfrm>
            <a:off x="293850" y="1013450"/>
            <a:ext cx="6851100" cy="9498299"/>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Work out the time complexity for the algorithm below. Do it for best, average and worst scenario. To help you complete the step through table on the next page.</a:t>
            </a:r>
            <a:endParaRPr/>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499477461" name="Google Shape;98;p17"/>
          <p:cNvPicPr/>
          <p:nvPr/>
        </p:nvPicPr>
        <p:blipFill rotWithShape="1">
          <a:blip r:embed="rId3">
            <a:alphaModFix/>
          </a:blip>
          <a:srcRect l="0" t="20223" r="38703" b="0"/>
          <a:stretch/>
        </p:blipFill>
        <p:spPr bwMode="auto">
          <a:xfrm>
            <a:off x="721350" y="2178925"/>
            <a:ext cx="5883427" cy="4307226"/>
          </a:xfrm>
          <a:prstGeom prst="rect">
            <a:avLst/>
          </a:prstGeom>
          <a:noFill/>
          <a:ln>
            <a:noFill/>
          </a:ln>
        </p:spPr>
      </p:pic>
      <p:sp>
        <p:nvSpPr>
          <p:cNvPr id="444720803" name="Google Shape;99;p17"/>
          <p:cNvSpPr txBox="1"/>
          <p:nvPr/>
        </p:nvSpPr>
        <p:spPr bwMode="auto">
          <a:xfrm>
            <a:off x="481400" y="6663500"/>
            <a:ext cx="6511500" cy="36990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Best case = O(1)</a:t>
            </a:r>
            <a:endParaRPr lang="en"/>
          </a:p>
          <a:p>
            <a:pPr marL="0" lvl="0" indent="0" algn="l" rtl="0">
              <a:spcBef>
                <a:spcPts val="0"/>
              </a:spcBef>
              <a:spcAft>
                <a:spcPts val="0"/>
              </a:spcAft>
              <a:buNone/>
              <a:defRPr/>
            </a:pPr>
            <a:r>
              <a:rPr lang="en"/>
              <a:t>Average Case = O(n/2) -&gt; inf = O(n)</a:t>
            </a:r>
            <a:endParaRPr lang="en"/>
          </a:p>
          <a:p>
            <a:pPr marL="0" lvl="0" indent="0" algn="l" rtl="0">
              <a:spcBef>
                <a:spcPts val="0"/>
              </a:spcBef>
              <a:spcAft>
                <a:spcPts val="0"/>
              </a:spcAft>
              <a:buNone/>
              <a:defRPr/>
            </a:pPr>
            <a:r>
              <a:rPr lang="en"/>
              <a:t>Worst Case = 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0515208" name="Google Shape;104;p1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701554025" name="Google Shape;105;p18"/>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linear search</a:t>
            </a:r>
            <a:endParaRPr sz="1800" b="1">
              <a:solidFill>
                <a:srgbClr val="000000"/>
              </a:solidFill>
            </a:endParaRPr>
          </a:p>
        </p:txBody>
      </p:sp>
      <p:sp>
        <p:nvSpPr>
          <p:cNvPr id="1032783457" name="Google Shape;106;p18"/>
          <p:cNvSpPr txBox="1"/>
          <p:nvPr/>
        </p:nvSpPr>
        <p:spPr bwMode="auto">
          <a:xfrm>
            <a:off x="293850" y="1013450"/>
            <a:ext cx="6851100" cy="7752899"/>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graphicFrame>
        <p:nvGraphicFramePr>
          <p:cNvPr id="1616263054" name="Google Shape;107;p18"/>
          <p:cNvGraphicFramePr>
            <a:graphicFrameLocks xmlns:a="http://schemas.openxmlformats.org/drawingml/2006/main"/>
          </p:cNvGraphicFramePr>
          <p:nvPr/>
        </p:nvGraphicFramePr>
        <p:xfrm rot="0">
          <a:off x="775150" y="1565625"/>
          <a:ext cx="3000000" cy="3000000"/>
        </p:xfrm>
        <a:graphic>
          <a:graphicData uri="http://schemas.openxmlformats.org/drawingml/2006/table">
            <a:tbl>
              <a:tblPr firstRow="0" firstCol="0" lastRow="0" lastCol="0" bandRow="0" bandCol="0">
                <a:tableStyleId>{F24CB3B6-2E02-4EE8-BA16-628833C20289}</a:tableStyleId>
                <a:noFill/>
              </a:tblPr>
              <a:tblGrid>
                <a:gridCol w="1020625"/>
                <a:gridCol w="1020625"/>
                <a:gridCol w="1020625"/>
                <a:gridCol w="1020625"/>
                <a:gridCol w="1020625"/>
                <a:gridCol w="1020625"/>
              </a:tblGrid>
              <a:tr h="633450">
                <a:tc>
                  <a:txBody>
                    <a:bodyPr/>
                    <a:p>
                      <a:pPr marL="0" lvl="0" indent="0" algn="ctr" rtl="0">
                        <a:spcBef>
                          <a:spcPts val="0"/>
                        </a:spcBef>
                        <a:spcAft>
                          <a:spcPts val="0"/>
                        </a:spcAft>
                        <a:buNone/>
                        <a:defRPr/>
                      </a:pPr>
                      <a:r>
                        <a:rPr lang="en-GB" b="1"/>
                        <a:t>Index</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0</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1</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2</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3</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4</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1</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2</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3</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4</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95900">
                <a:tc rowSpan="2">
                  <a:txBody>
                    <a:bodyPr/>
                    <a:p>
                      <a:pPr marL="0" lvl="0" indent="0" algn="ctr" rtl="0">
                        <a:spcBef>
                          <a:spcPts val="0"/>
                        </a:spcBef>
                        <a:spcAft>
                          <a:spcPts val="0"/>
                        </a:spcAft>
                        <a:buNone/>
                        <a:defRPr/>
                      </a:pPr>
                      <a:r>
                        <a:rPr lang="en-GB" b="1"/>
                        <a:t>Step 5</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r>
                        <a:rPr lang="en"/>
                        <a:t>Found California</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sp>
        <p:nvSpPr>
          <p:cNvPr id="29442401" name="Google Shape;108;p18"/>
          <p:cNvSpPr txBox="1"/>
          <p:nvPr/>
        </p:nvSpPr>
        <p:spPr bwMode="auto">
          <a:xfrm>
            <a:off x="293850" y="8958525"/>
            <a:ext cx="6123899" cy="1311599"/>
          </a:xfrm>
          <a:prstGeom prst="rect">
            <a:avLst/>
          </a:prstGeom>
          <a:solidFill>
            <a:srgbClr val="99999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Support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solidFill>
                  <a:schemeClr val="lt1"/>
                </a:solidFill>
              </a:rPr>
              <a:t>PGonline - Section 8 p 235		LMC - Paper 1 theory p159</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a:solidFill>
                  <a:schemeClr val="lt1"/>
                </a:solidFill>
              </a:rPr>
              <a:t>Real Python	</a:t>
            </a:r>
            <a:r>
              <a:rPr lang="en-GB" b="1" u="sng">
                <a:solidFill>
                  <a:schemeClr val="hlink"/>
                </a:solidFill>
                <a:highlight>
                  <a:srgbClr val="000000"/>
                </a:highlight>
                <a:hlinkClick r:id="rId3" tooltip=""/>
              </a:rPr>
              <a:t>Video 1</a:t>
            </a:r>
            <a:r>
              <a:rPr lang="en-GB" b="1">
                <a:solidFill>
                  <a:schemeClr val="lt1"/>
                </a:solidFill>
                <a:highlight>
                  <a:srgbClr val="000000"/>
                </a:highlight>
              </a:rPr>
              <a:t>		</a:t>
            </a:r>
            <a:r>
              <a:rPr lang="en-GB" b="1">
                <a:solidFill>
                  <a:schemeClr val="lt1"/>
                </a:solidFill>
              </a:rPr>
              <a:t>Mr BrownCS</a:t>
            </a:r>
            <a:r>
              <a:rPr lang="en-GB" b="1">
                <a:solidFill>
                  <a:schemeClr val="lt1"/>
                </a:solidFill>
                <a:highlight>
                  <a:srgbClr val="000000"/>
                </a:highlight>
              </a:rPr>
              <a:t>	</a:t>
            </a:r>
            <a:r>
              <a:rPr lang="en-GB" b="1" u="sng">
                <a:solidFill>
                  <a:schemeClr val="hlink"/>
                </a:solidFill>
                <a:highlight>
                  <a:srgbClr val="000000"/>
                </a:highlight>
                <a:hlinkClick r:id="rId4" tooltip=""/>
              </a:rPr>
              <a:t>Video 1</a:t>
            </a:r>
            <a:endParaRPr b="1">
              <a:solidFill>
                <a:schemeClr val="lt1"/>
              </a:solidFill>
              <a:highlight>
                <a:srgbClr val="000000"/>
              </a:highlight>
            </a:endParaRPr>
          </a:p>
        </p:txBody>
      </p:sp>
      <p:sp>
        <p:nvSpPr>
          <p:cNvPr id="734317316" name="Ellipse 6"/>
          <p:cNvSpPr/>
          <p:nvPr/>
        </p:nvSpPr>
        <p:spPr bwMode="auto">
          <a:xfrm rot="0" flipH="0" flipV="0">
            <a:off x="1918123" y="2976562"/>
            <a:ext cx="845343" cy="3929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sp>
      <p:sp>
        <p:nvSpPr>
          <p:cNvPr id="1003825768" name="Ellipse 7"/>
          <p:cNvSpPr/>
          <p:nvPr/>
        </p:nvSpPr>
        <p:spPr bwMode="auto">
          <a:xfrm rot="0" flipH="0" flipV="0">
            <a:off x="2991681" y="4236243"/>
            <a:ext cx="845343" cy="39290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sp>
      <p:sp>
        <p:nvSpPr>
          <p:cNvPr id="2104544396" name="Ellipse 8"/>
          <p:cNvSpPr/>
          <p:nvPr/>
        </p:nvSpPr>
        <p:spPr bwMode="auto">
          <a:xfrm rot="0" flipH="0" flipV="0">
            <a:off x="3917988" y="5495924"/>
            <a:ext cx="845343" cy="3929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a:p>
        </p:txBody>
      </p:sp>
      <p:sp>
        <p:nvSpPr>
          <p:cNvPr id="1235871212" name="Ellipse 9"/>
          <p:cNvSpPr/>
          <p:nvPr/>
        </p:nvSpPr>
        <p:spPr bwMode="auto">
          <a:xfrm rot="0" flipH="0" flipV="0">
            <a:off x="4977644" y="6769892"/>
            <a:ext cx="845343" cy="3929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sp>
      <p:sp>
        <p:nvSpPr>
          <p:cNvPr id="1516094052" name="Ellipse 10"/>
          <p:cNvSpPr/>
          <p:nvPr/>
        </p:nvSpPr>
        <p:spPr bwMode="auto">
          <a:xfrm rot="0" flipH="0" flipV="0">
            <a:off x="5906331" y="8139111"/>
            <a:ext cx="845343" cy="3929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9161804" name="Google Shape;113;p1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99311415" name="Google Shape;114;p19"/>
          <p:cNvSpPr txBox="1"/>
          <p:nvPr/>
        </p:nvSpPr>
        <p:spPr bwMode="auto">
          <a:xfrm>
            <a:off x="257700" y="244145"/>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4.3.4.2 Binary Search</a:t>
            </a:r>
            <a:endParaRPr sz="1800" b="1">
              <a:solidFill>
                <a:srgbClr val="000000"/>
              </a:solidFill>
            </a:endParaRPr>
          </a:p>
        </p:txBody>
      </p:sp>
      <p:sp>
        <p:nvSpPr>
          <p:cNvPr id="1936927783" name="Google Shape;115;p19"/>
          <p:cNvSpPr txBox="1"/>
          <p:nvPr/>
        </p:nvSpPr>
        <p:spPr bwMode="auto">
          <a:xfrm>
            <a:off x="293850" y="1187000"/>
            <a:ext cx="6972300" cy="65265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point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Binary search</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Binary search uses a “divide and conquer” approach to search a list, chopping the list into smaller and smaller lists to search until the item is found or the list cannot be divided anymore.</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A binary search can only be done on a </a:t>
            </a:r>
            <a:r>
              <a:rPr lang="en-GB" b="1"/>
              <a:t>sorted list</a:t>
            </a:r>
            <a:r>
              <a:rPr lang="en-GB"/>
              <a:t>. It is best on a large data set.</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Watch the video posted on Teams.</a:t>
            </a:r>
            <a:endParaRPr/>
          </a:p>
          <a:p>
            <a:pPr marL="0" lvl="0" indent="0" algn="l" rtl="0">
              <a:spcBef>
                <a:spcPts val="0"/>
              </a:spcBef>
              <a:spcAft>
                <a:spcPts val="0"/>
              </a:spcAft>
              <a:buNone/>
              <a:defRPr/>
            </a:pPr>
            <a:endParaRPr/>
          </a:p>
        </p:txBody>
      </p:sp>
      <p:pic>
        <p:nvPicPr>
          <p:cNvPr id="1077674442" name="Google Shape;116;p19"/>
          <p:cNvPicPr/>
          <p:nvPr/>
        </p:nvPicPr>
        <p:blipFill rotWithShape="1">
          <a:blip r:embed="rId3">
            <a:alphaModFix/>
          </a:blip>
          <a:stretch/>
        </p:blipFill>
        <p:spPr bwMode="auto">
          <a:xfrm>
            <a:off x="780349" y="4135375"/>
            <a:ext cx="5803501" cy="32322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4016625" name="Google Shape;121;p2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412632812" name="Google Shape;122;p20"/>
          <p:cNvSpPr txBox="1"/>
          <p:nvPr/>
        </p:nvSpPr>
        <p:spPr bwMode="auto">
          <a:xfrm>
            <a:off x="293850" y="231325"/>
            <a:ext cx="6972300" cy="9462299"/>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Worked example</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You are searching for the word “pig”.</a:t>
            </a:r>
            <a:endParaRPr/>
          </a:p>
          <a:p>
            <a:pPr marL="0" lvl="0" indent="0" algn="l" rtl="0">
              <a:spcBef>
                <a:spcPts val="0"/>
              </a:spcBef>
              <a:spcAft>
                <a:spcPts val="0"/>
              </a:spcAft>
              <a:buNone/>
              <a:defRPr/>
            </a:pPr>
            <a:endParaRPr/>
          </a:p>
        </p:txBody>
      </p:sp>
      <p:graphicFrame>
        <p:nvGraphicFramePr>
          <p:cNvPr id="1722621316" name="Google Shape;123;p20"/>
          <p:cNvGraphicFramePr>
            <a:graphicFrameLocks xmlns:a="http://schemas.openxmlformats.org/drawingml/2006/main"/>
          </p:cNvGraphicFramePr>
          <p:nvPr/>
        </p:nvGraphicFramePr>
        <p:xfrm rot="0">
          <a:off x="420513" y="1456375"/>
          <a:ext cx="3000000" cy="3000000"/>
        </p:xfrm>
        <a:graphic>
          <a:graphicData uri="http://schemas.openxmlformats.org/drawingml/2006/table">
            <a:tbl>
              <a:tblPr firstRow="0" firstCol="0" lastRow="0" lastCol="0" bandRow="0" bandCol="0">
                <a:tableStyleId>{F24CB3B6-2E02-4EE8-BA16-628833C20289}</a:tableStyleId>
                <a:noFill/>
              </a:tblPr>
              <a:tblGrid>
                <a:gridCol w="746550"/>
                <a:gridCol w="746550"/>
                <a:gridCol w="746550"/>
                <a:gridCol w="746550"/>
                <a:gridCol w="746550"/>
                <a:gridCol w="746550"/>
                <a:gridCol w="746550"/>
                <a:gridCol w="746550"/>
                <a:gridCol w="746550"/>
              </a:tblGrid>
              <a:tr h="381000">
                <a:tc>
                  <a:txBody>
                    <a:bodyPr/>
                    <a:p>
                      <a:pPr marL="0" lvl="0" indent="0" algn="ctr" rtl="0">
                        <a:spcBef>
                          <a:spcPts val="0"/>
                        </a:spcBef>
                        <a:spcAft>
                          <a:spcPts val="0"/>
                        </a:spcAft>
                        <a:buNone/>
                        <a:defRPr/>
                      </a:pPr>
                      <a:r>
                        <a:rPr lang="en-GB"/>
                        <a:t>boy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car</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cat</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day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dog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pen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pig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graphicFrame>
        <p:nvGraphicFramePr>
          <p:cNvPr id="576058650" name="Google Shape;124;p20"/>
          <p:cNvGraphicFramePr>
            <a:graphicFrameLocks xmlns:a="http://schemas.openxmlformats.org/drawingml/2006/main"/>
          </p:cNvGraphicFramePr>
          <p:nvPr/>
        </p:nvGraphicFramePr>
        <p:xfrm rot="0">
          <a:off x="420513" y="3255650"/>
          <a:ext cx="3000000" cy="3000000"/>
        </p:xfrm>
        <a:graphic>
          <a:graphicData uri="http://schemas.openxmlformats.org/drawingml/2006/table">
            <a:tbl>
              <a:tblPr firstRow="0" firstCol="0" lastRow="0" lastCol="0" bandRow="0" bandCol="0">
                <a:tableStyleId>{F24CB3B6-2E02-4EE8-BA16-628833C20289}</a:tableStyleId>
                <a:noFill/>
              </a:tblPr>
              <a:tblGrid>
                <a:gridCol w="746550"/>
                <a:gridCol w="746550"/>
                <a:gridCol w="746550"/>
                <a:gridCol w="746550"/>
                <a:gridCol w="746550"/>
                <a:gridCol w="746550"/>
                <a:gridCol w="746550"/>
                <a:gridCol w="746550"/>
                <a:gridCol w="746550"/>
              </a:tblGrid>
              <a:tr h="381000">
                <a:tc>
                  <a:txBody>
                    <a:bodyPr/>
                    <a:p>
                      <a:pPr marL="0" lvl="0" indent="0" algn="ctr" rtl="0">
                        <a:spcBef>
                          <a:spcPts val="0"/>
                        </a:spcBef>
                        <a:spcAft>
                          <a:spcPts val="0"/>
                        </a:spcAft>
                        <a:buNone/>
                        <a:defRPr/>
                      </a:pPr>
                      <a:r>
                        <a:rPr lang="en-GB"/>
                        <a:t>boy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car</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cat</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day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dog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pen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pig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graphicFrame>
        <p:nvGraphicFramePr>
          <p:cNvPr id="887931831" name="Google Shape;125;p20"/>
          <p:cNvGraphicFramePr>
            <a:graphicFrameLocks xmlns:a="http://schemas.openxmlformats.org/drawingml/2006/main"/>
          </p:cNvGraphicFramePr>
          <p:nvPr/>
        </p:nvGraphicFramePr>
        <p:xfrm rot="0">
          <a:off x="420513" y="5092925"/>
          <a:ext cx="3000000" cy="3000000"/>
        </p:xfrm>
        <a:graphic>
          <a:graphicData uri="http://schemas.openxmlformats.org/drawingml/2006/table">
            <a:tbl>
              <a:tblPr firstRow="0" firstCol="0" lastRow="0" lastCol="0" bandRow="0" bandCol="0">
                <a:tableStyleId>{F24CB3B6-2E02-4EE8-BA16-628833C20289}</a:tableStyleId>
                <a:noFill/>
              </a:tblPr>
              <a:tblGrid>
                <a:gridCol w="746550"/>
                <a:gridCol w="746550"/>
                <a:gridCol w="746550"/>
                <a:gridCol w="746550"/>
                <a:gridCol w="746550"/>
                <a:gridCol w="746550"/>
                <a:gridCol w="746550"/>
                <a:gridCol w="746550"/>
                <a:gridCol w="746550"/>
              </a:tblGrid>
              <a:tr h="381000">
                <a:tc>
                  <a:txBody>
                    <a:bodyPr/>
                    <a:p>
                      <a:pPr marL="0" lvl="0" indent="0" algn="ctr" rtl="0">
                        <a:spcBef>
                          <a:spcPts val="0"/>
                        </a:spcBef>
                        <a:spcAft>
                          <a:spcPts val="0"/>
                        </a:spcAft>
                        <a:buNone/>
                        <a:defRPr/>
                      </a:pPr>
                      <a:r>
                        <a:rPr lang="en-GB"/>
                        <a:t>boy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car</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cat</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day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dog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pen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pig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graphicFrame>
        <p:nvGraphicFramePr>
          <p:cNvPr id="74259746" name="Google Shape;126;p20"/>
          <p:cNvGraphicFramePr>
            <a:graphicFrameLocks xmlns:a="http://schemas.openxmlformats.org/drawingml/2006/main"/>
          </p:cNvGraphicFramePr>
          <p:nvPr/>
        </p:nvGraphicFramePr>
        <p:xfrm rot="0">
          <a:off x="420513" y="6702175"/>
          <a:ext cx="3000000" cy="3000000"/>
        </p:xfrm>
        <a:graphic>
          <a:graphicData uri="http://schemas.openxmlformats.org/drawingml/2006/table">
            <a:tbl>
              <a:tblPr firstRow="0" firstCol="0" lastRow="0" lastCol="0" bandRow="0" bandCol="0">
                <a:tableStyleId>{F24CB3B6-2E02-4EE8-BA16-628833C20289}</a:tableStyleId>
                <a:noFill/>
              </a:tblPr>
              <a:tblGrid>
                <a:gridCol w="746550"/>
                <a:gridCol w="746550"/>
                <a:gridCol w="746550"/>
                <a:gridCol w="746550"/>
                <a:gridCol w="746550"/>
                <a:gridCol w="746550"/>
                <a:gridCol w="746550"/>
                <a:gridCol w="746550"/>
                <a:gridCol w="746550"/>
              </a:tblGrid>
              <a:tr h="381000">
                <a:tc>
                  <a:txBody>
                    <a:bodyPr/>
                    <a:p>
                      <a:pPr marL="0" lvl="0" indent="0" algn="ctr" rtl="0">
                        <a:spcBef>
                          <a:spcPts val="0"/>
                        </a:spcBef>
                        <a:spcAft>
                          <a:spcPts val="0"/>
                        </a:spcAft>
                        <a:buNone/>
                        <a:defRPr/>
                      </a:pPr>
                      <a:r>
                        <a:rPr lang="en-GB"/>
                        <a:t>boy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car</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cat</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day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dog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pen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pig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graphicFrame>
        <p:nvGraphicFramePr>
          <p:cNvPr id="594125968" name="Google Shape;127;p20"/>
          <p:cNvGraphicFramePr>
            <a:graphicFrameLocks xmlns:a="http://schemas.openxmlformats.org/drawingml/2006/main"/>
          </p:cNvGraphicFramePr>
          <p:nvPr/>
        </p:nvGraphicFramePr>
        <p:xfrm rot="0">
          <a:off x="420513" y="8311425"/>
          <a:ext cx="3000000" cy="3000000"/>
        </p:xfrm>
        <a:graphic>
          <a:graphicData uri="http://schemas.openxmlformats.org/drawingml/2006/table">
            <a:tbl>
              <a:tblPr firstRow="0" firstCol="0" lastRow="0" lastCol="0" bandRow="0" bandCol="0">
                <a:tableStyleId>{F24CB3B6-2E02-4EE8-BA16-628833C20289}</a:tableStyleId>
                <a:noFill/>
              </a:tblPr>
              <a:tblGrid>
                <a:gridCol w="746550"/>
                <a:gridCol w="746550"/>
                <a:gridCol w="746550"/>
                <a:gridCol w="746550"/>
                <a:gridCol w="746550"/>
                <a:gridCol w="746550"/>
                <a:gridCol w="746550"/>
                <a:gridCol w="746550"/>
                <a:gridCol w="746550"/>
              </a:tblGrid>
              <a:tr h="381000">
                <a:tc>
                  <a:txBody>
                    <a:bodyPr/>
                    <a:p>
                      <a:pPr marL="0" lvl="0" indent="0" algn="ctr" rtl="0">
                        <a:spcBef>
                          <a:spcPts val="0"/>
                        </a:spcBef>
                        <a:spcAft>
                          <a:spcPts val="0"/>
                        </a:spcAft>
                        <a:buNone/>
                        <a:defRPr/>
                      </a:pPr>
                      <a:r>
                        <a:rPr lang="en-GB"/>
                        <a:t>boy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car</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cat</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day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dog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pen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pig</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4337475" name="Google Shape;132;p21"/>
          <p:cNvSpPr txBox="1"/>
          <p:nvPr/>
        </p:nvSpPr>
        <p:spPr bwMode="auto">
          <a:xfrm>
            <a:off x="293850" y="1013450"/>
            <a:ext cx="6972300" cy="9498299"/>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Examples of the algorithm in different forms</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743606185" name="Google Shape;133;p2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959620969" name="Google Shape;134;p21"/>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binary search</a:t>
            </a:r>
            <a:endParaRPr sz="1800" b="1">
              <a:solidFill>
                <a:srgbClr val="000000"/>
              </a:solidFill>
            </a:endParaRPr>
          </a:p>
        </p:txBody>
      </p:sp>
      <p:pic>
        <p:nvPicPr>
          <p:cNvPr id="1829704098" name="Google Shape;135;p21"/>
          <p:cNvPicPr/>
          <p:nvPr/>
        </p:nvPicPr>
        <p:blipFill rotWithShape="1">
          <a:blip r:embed="rId3">
            <a:alphaModFix/>
          </a:blip>
          <a:srcRect l="8642" t="18347" r="38823" b="8903"/>
          <a:stretch/>
        </p:blipFill>
        <p:spPr bwMode="auto">
          <a:xfrm>
            <a:off x="2183800" y="1697550"/>
            <a:ext cx="3192400" cy="3319075"/>
          </a:xfrm>
          <a:prstGeom prst="rect">
            <a:avLst/>
          </a:prstGeom>
          <a:noFill/>
          <a:ln>
            <a:noFill/>
          </a:ln>
        </p:spPr>
      </p:pic>
      <p:pic>
        <p:nvPicPr>
          <p:cNvPr id="1133222849" name="Google Shape;136;p21"/>
          <p:cNvPicPr/>
          <p:nvPr/>
        </p:nvPicPr>
        <p:blipFill rotWithShape="1">
          <a:blip r:embed="rId4">
            <a:alphaModFix/>
          </a:blip>
          <a:stretch/>
        </p:blipFill>
        <p:spPr bwMode="auto">
          <a:xfrm>
            <a:off x="1824226" y="5346001"/>
            <a:ext cx="4175651" cy="503557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5373132" name="Google Shape;141;p22"/>
          <p:cNvSpPr txBox="1"/>
          <p:nvPr/>
        </p:nvSpPr>
        <p:spPr bwMode="auto">
          <a:xfrm>
            <a:off x="293850" y="1013450"/>
            <a:ext cx="6711000" cy="90771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Pseudocode example using a list.</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Python code for the above example.</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94234565" name="Google Shape;142;p2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916379253" name="Google Shape;143;p22"/>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binary search</a:t>
            </a:r>
            <a:endParaRPr sz="1800" b="1">
              <a:solidFill>
                <a:srgbClr val="000000"/>
              </a:solidFill>
            </a:endParaRPr>
          </a:p>
        </p:txBody>
      </p:sp>
      <p:pic>
        <p:nvPicPr>
          <p:cNvPr id="462130289" name="Google Shape;144;p22"/>
          <p:cNvPicPr/>
          <p:nvPr/>
        </p:nvPicPr>
        <p:blipFill rotWithShape="1">
          <a:blip r:embed="rId3">
            <a:alphaModFix/>
          </a:blip>
          <a:stretch/>
        </p:blipFill>
        <p:spPr bwMode="auto">
          <a:xfrm>
            <a:off x="1213000" y="1420325"/>
            <a:ext cx="5133975" cy="4686300"/>
          </a:xfrm>
          <a:prstGeom prst="rect">
            <a:avLst/>
          </a:prstGeom>
          <a:noFill/>
          <a:ln>
            <a:noFill/>
          </a:ln>
        </p:spPr>
      </p:pic>
      <p:pic>
        <p:nvPicPr>
          <p:cNvPr id="965377989" name="Google Shape;145;p22"/>
          <p:cNvPicPr/>
          <p:nvPr/>
        </p:nvPicPr>
        <p:blipFill rotWithShape="1">
          <a:blip r:embed="rId4">
            <a:alphaModFix/>
          </a:blip>
          <a:stretch/>
        </p:blipFill>
        <p:spPr bwMode="auto">
          <a:xfrm>
            <a:off x="973375" y="6543025"/>
            <a:ext cx="5613225" cy="34503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5311524" name="Google Shape;150;p2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264466942" name="Google Shape;151;p23"/>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binary search</a:t>
            </a:r>
            <a:endParaRPr sz="1800" b="1">
              <a:solidFill>
                <a:srgbClr val="000000"/>
              </a:solidFill>
            </a:endParaRPr>
          </a:p>
        </p:txBody>
      </p:sp>
      <p:sp>
        <p:nvSpPr>
          <p:cNvPr id="99582541" name="Google Shape;152;p23"/>
          <p:cNvSpPr txBox="1"/>
          <p:nvPr/>
        </p:nvSpPr>
        <p:spPr bwMode="auto">
          <a:xfrm>
            <a:off x="293850" y="1013450"/>
            <a:ext cx="6851100" cy="9498299"/>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Work out the time complexity for the algorithm below. Do it for best, average and worst scenario. To help you complete the step through table on the next page.</a:t>
            </a:r>
            <a:endParaRPr/>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144802681" name="Google Shape;153;p23"/>
          <p:cNvSpPr txBox="1"/>
          <p:nvPr/>
        </p:nvSpPr>
        <p:spPr bwMode="auto">
          <a:xfrm>
            <a:off x="481400" y="6840850"/>
            <a:ext cx="6511500" cy="3521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Best = O(1)</a:t>
            </a:r>
            <a:endParaRPr lang="en"/>
          </a:p>
          <a:p>
            <a:pPr marL="0" lvl="0" indent="0" algn="l" rtl="0">
              <a:spcBef>
                <a:spcPts val="0"/>
              </a:spcBef>
              <a:spcAft>
                <a:spcPts val="0"/>
              </a:spcAft>
              <a:buNone/>
              <a:defRPr/>
            </a:pPr>
            <a:r>
              <a:rPr lang="en"/>
              <a:t>Average = log</a:t>
            </a:r>
            <a:r>
              <a:rPr lang="en" baseline="-25000"/>
              <a:t>2</a:t>
            </a:r>
            <a:r>
              <a:rPr lang="en"/>
              <a:t>(n)</a:t>
            </a:r>
            <a:endParaRPr lang="en"/>
          </a:p>
          <a:p>
            <a:pPr marL="0" lvl="0" indent="0" algn="l" rtl="0">
              <a:spcBef>
                <a:spcPts val="0"/>
              </a:spcBef>
              <a:spcAft>
                <a:spcPts val="0"/>
              </a:spcAft>
              <a:buNone/>
              <a:defRPr/>
            </a:pPr>
            <a:r>
              <a:rPr lang="en"/>
              <a:t>Worst = </a:t>
            </a:r>
            <a:r>
              <a:rPr lang="en" sz="1400" b="0" i="0" u="none" strike="noStrike" cap="none" spc="0">
                <a:solidFill>
                  <a:srgbClr val="000000"/>
                </a:solidFill>
                <a:latin typeface="Arial"/>
                <a:ea typeface="Arial"/>
                <a:cs typeface="Arial"/>
              </a:rPr>
              <a:t> log</a:t>
            </a:r>
            <a:r>
              <a:rPr lang="en" sz="1400" b="0" i="0" u="none" strike="noStrike" cap="none" spc="0" baseline="-25000">
                <a:solidFill>
                  <a:srgbClr val="000000"/>
                </a:solidFill>
                <a:latin typeface="Arial"/>
                <a:ea typeface="Arial"/>
                <a:cs typeface="Arial"/>
              </a:rPr>
              <a:t>2</a:t>
            </a:r>
            <a:r>
              <a:rPr lang="en" sz="1400" b="0" i="0" u="none" strike="noStrike" cap="none" spc="0">
                <a:solidFill>
                  <a:srgbClr val="000000"/>
                </a:solidFill>
                <a:latin typeface="Arial"/>
                <a:ea typeface="Arial"/>
                <a:cs typeface="Arial"/>
              </a:rPr>
              <a:t>(n)</a:t>
            </a:r>
            <a:endParaRPr/>
          </a:p>
        </p:txBody>
      </p:sp>
      <p:pic>
        <p:nvPicPr>
          <p:cNvPr id="1592164388" name="Google Shape;154;p23"/>
          <p:cNvPicPr/>
          <p:nvPr/>
        </p:nvPicPr>
        <p:blipFill rotWithShape="1">
          <a:blip r:embed="rId3">
            <a:alphaModFix/>
          </a:blip>
          <a:stretch/>
        </p:blipFill>
        <p:spPr bwMode="auto">
          <a:xfrm>
            <a:off x="1152400" y="1977200"/>
            <a:ext cx="5133975" cy="46863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2237697" name="Google Shape;159;p2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067364270" name="Google Shape;160;p24"/>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binary search</a:t>
            </a:r>
            <a:endParaRPr sz="1800" b="1">
              <a:solidFill>
                <a:srgbClr val="000000"/>
              </a:solidFill>
            </a:endParaRPr>
          </a:p>
        </p:txBody>
      </p:sp>
      <p:sp>
        <p:nvSpPr>
          <p:cNvPr id="1537368333" name="Google Shape;161;p24"/>
          <p:cNvSpPr txBox="1"/>
          <p:nvPr/>
        </p:nvSpPr>
        <p:spPr bwMode="auto">
          <a:xfrm>
            <a:off x="293850" y="1013450"/>
            <a:ext cx="6851100" cy="84753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graphicFrame>
        <p:nvGraphicFramePr>
          <p:cNvPr id="1013287071" name="Google Shape;162;p24"/>
          <p:cNvGraphicFramePr>
            <a:graphicFrameLocks xmlns:a="http://schemas.openxmlformats.org/drawingml/2006/main"/>
          </p:cNvGraphicFramePr>
          <p:nvPr/>
        </p:nvGraphicFramePr>
        <p:xfrm rot="0">
          <a:off x="775150" y="1565625"/>
          <a:ext cx="3000000" cy="3000000"/>
        </p:xfrm>
        <a:graphic>
          <a:graphicData uri="http://schemas.openxmlformats.org/drawingml/2006/table">
            <a:tbl>
              <a:tblPr firstRow="0" firstCol="0" lastRow="0" lastCol="0" bandRow="0" bandCol="0">
                <a:tableStyleId>{F24CB3B6-2E02-4EE8-BA16-628833C20289}</a:tableStyleId>
                <a:noFill/>
              </a:tblPr>
              <a:tblGrid>
                <a:gridCol w="1020625"/>
                <a:gridCol w="1020625"/>
                <a:gridCol w="1020625"/>
                <a:gridCol w="1020625"/>
                <a:gridCol w="1020625"/>
                <a:gridCol w="1020625"/>
              </a:tblGrid>
              <a:tr h="633450">
                <a:tc>
                  <a:txBody>
                    <a:bodyPr/>
                    <a:p>
                      <a:pPr marL="0" lvl="0" indent="0" algn="ctr" rtl="0">
                        <a:spcBef>
                          <a:spcPts val="0"/>
                        </a:spcBef>
                        <a:spcAft>
                          <a:spcPts val="0"/>
                        </a:spcAft>
                        <a:buNone/>
                        <a:defRPr/>
                      </a:pPr>
                      <a:r>
                        <a:rPr lang="en-GB" b="1"/>
                        <a:t>Index</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0</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1</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2</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3</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b="1"/>
                        <a:t>4</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1</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l"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2</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l"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3</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l"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rowSpan="2">
                  <a:txBody>
                    <a:bodyPr/>
                    <a:p>
                      <a:pPr marL="0" lvl="0" indent="0" algn="ctr" rtl="0">
                        <a:spcBef>
                          <a:spcPts val="0"/>
                        </a:spcBef>
                        <a:spcAft>
                          <a:spcPts val="0"/>
                        </a:spcAft>
                        <a:buNone/>
                        <a:defRPr/>
                      </a:pPr>
                      <a:r>
                        <a:rPr lang="en-GB" b="1"/>
                        <a:t>Step 4</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l"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95900">
                <a:tc rowSpan="2">
                  <a:txBody>
                    <a:bodyPr/>
                    <a:p>
                      <a:pPr marL="0" lvl="0" indent="0" algn="ctr" rtl="0">
                        <a:spcBef>
                          <a:spcPts val="0"/>
                        </a:spcBef>
                        <a:spcAft>
                          <a:spcPts val="0"/>
                        </a:spcAft>
                        <a:buNone/>
                        <a:defRPr/>
                      </a:pPr>
                      <a:r>
                        <a:rPr lang="en-GB" b="1"/>
                        <a:t>Step 5</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r h="633450">
                <a:tc vMerge="1">
                  <a:txBody>
                    <a:bodyPr/>
                    <a:p>
                      <a:pPr>
                        <a:defRPr/>
                      </a:pPr>
                      <a:endParaRPr/>
                    </a:p>
                  </a:txBody>
                  <a:tcPr/>
                </a:tc>
                <a:tc>
                  <a:txBody>
                    <a:bodyPr/>
                    <a:p>
                      <a:pPr marL="0" lvl="0" indent="0" algn="l" rtl="0">
                        <a:spcBef>
                          <a:spcPts val="0"/>
                        </a:spcBef>
                        <a:spcAft>
                          <a:spcPts val="0"/>
                        </a:spcAft>
                        <a:buNone/>
                        <a:defRPr/>
                      </a:pPr>
                      <a:r>
                        <a:rPr lang="en-GB"/>
                        <a:t>Alabama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California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l" rtl="0">
                        <a:spcBef>
                          <a:spcPts val="0"/>
                        </a:spcBef>
                        <a:spcAft>
                          <a:spcPts val="0"/>
                        </a:spcAft>
                        <a:buNone/>
                        <a:defRPr/>
                      </a:pPr>
                      <a:r>
                        <a:rPr lang="en-GB"/>
                        <a:t>Delaware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Florida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Georgia</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633450">
                <a:tc>
                  <a:txBody>
                    <a:bodyPr/>
                    <a:p>
                      <a:pPr marL="0" lvl="0" indent="0" algn="ctr" rtl="0">
                        <a:spcBef>
                          <a:spcPts val="0"/>
                        </a:spcBef>
                        <a:spcAft>
                          <a:spcPts val="0"/>
                        </a:spcAft>
                        <a:buNone/>
                        <a:defRPr/>
                      </a:pP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gridSpan="5">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hMerge="1">
                  <a:txBody>
                    <a:bodyPr/>
                    <a:p>
                      <a:endParaRPr/>
                    </a:p>
                  </a:txBody>
                </a:tc>
                <a:tc hMerge="1">
                  <a:txBody>
                    <a:bodyPr/>
                    <a:p>
                      <a:endParaRPr/>
                    </a:p>
                  </a:txBody>
                </a:tc>
                <a:tc hMerge="1">
                  <a:txBody>
                    <a:bodyPr/>
                    <a:p>
                      <a:endParaRPr/>
                    </a:p>
                  </a:txBody>
                </a:tc>
                <a:tc hMerge="1">
                  <a:txBody>
                    <a:bodyPr/>
                    <a:p>
                      <a:endParaRPr/>
                    </a:p>
                  </a:txBody>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8018645" name="Google Shape;167;p2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7527823" name="Google Shape;168;p25"/>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Comparing linear and binary search algorithms</a:t>
            </a:r>
            <a:endParaRPr sz="1800" b="1">
              <a:solidFill>
                <a:srgbClr val="000000"/>
              </a:solidFill>
            </a:endParaRPr>
          </a:p>
        </p:txBody>
      </p:sp>
      <p:sp>
        <p:nvSpPr>
          <p:cNvPr id="1217605692" name="Google Shape;169;p25"/>
          <p:cNvSpPr txBox="1"/>
          <p:nvPr/>
        </p:nvSpPr>
        <p:spPr bwMode="auto">
          <a:xfrm>
            <a:off x="293850" y="957825"/>
            <a:ext cx="6972300" cy="6504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endParaRPr/>
          </a:p>
        </p:txBody>
      </p:sp>
      <p:graphicFrame>
        <p:nvGraphicFramePr>
          <p:cNvPr id="2049196098" name="Google Shape;170;p25"/>
          <p:cNvGraphicFramePr>
            <a:graphicFrameLocks xmlns:a="http://schemas.openxmlformats.org/drawingml/2006/main"/>
          </p:cNvGraphicFramePr>
          <p:nvPr/>
        </p:nvGraphicFramePr>
        <p:xfrm rot="0">
          <a:off x="952500" y="1203525"/>
          <a:ext cx="3000000" cy="3000000"/>
        </p:xfrm>
        <a:graphic>
          <a:graphicData uri="http://schemas.openxmlformats.org/drawingml/2006/table">
            <a:tbl>
              <a:tblPr firstRow="0" firstCol="0" lastRow="0" lastCol="0" bandRow="0" bandCol="0">
                <a:tableStyleId>{F24CB3B6-2E02-4EE8-BA16-628833C20289}</a:tableStyleId>
                <a:noFill/>
              </a:tblPr>
              <a:tblGrid>
                <a:gridCol w="1885000"/>
                <a:gridCol w="1885000"/>
                <a:gridCol w="1885000"/>
              </a:tblGrid>
              <a:tr h="381000">
                <a:tc>
                  <a:txBody>
                    <a:bodyPr/>
                    <a:p>
                      <a:pPr marL="0" lvl="0" indent="0" algn="ctr" rtl="0">
                        <a:spcBef>
                          <a:spcPts val="0"/>
                        </a:spcBef>
                        <a:spcAft>
                          <a:spcPts val="0"/>
                        </a:spcAft>
                        <a:buNone/>
                        <a:defRPr/>
                      </a:pPr>
                      <a:r>
                        <a:rPr lang="en-GB" b="1"/>
                        <a:t>No. of items in list</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b="1"/>
                        <a:t>Max search length binary search</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b="1"/>
                        <a:t>Maximum search length linear search</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3</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8</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8</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16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16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32768</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16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32768</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65536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17</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65536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381000">
                <a:tc>
                  <a:txBody>
                    <a:bodyPr/>
                    <a:p>
                      <a:pPr marL="0" lvl="0" indent="0" algn="ctr" rtl="0">
                        <a:spcBef>
                          <a:spcPts val="0"/>
                        </a:spcBef>
                        <a:spcAft>
                          <a:spcPts val="0"/>
                        </a:spcAft>
                        <a:buNone/>
                        <a:defRPr/>
                      </a:pPr>
                      <a:r>
                        <a:rPr lang="en-GB"/>
                        <a:t>16777216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25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a:t>16777216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bl>
          </a:graphicData>
        </a:graphic>
      </p:graphicFrame>
      <p:sp>
        <p:nvSpPr>
          <p:cNvPr id="396313731" name="Google Shape;171;p25"/>
          <p:cNvSpPr txBox="1"/>
          <p:nvPr/>
        </p:nvSpPr>
        <p:spPr bwMode="auto">
          <a:xfrm>
            <a:off x="534600" y="5190075"/>
            <a:ext cx="6470100" cy="2093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7167702" name="Google Shape;176;p2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753042419" name="Google Shape;177;p26"/>
          <p:cNvSpPr txBox="1"/>
          <p:nvPr/>
        </p:nvSpPr>
        <p:spPr bwMode="auto">
          <a:xfrm>
            <a:off x="346650" y="1049825"/>
            <a:ext cx="6866700" cy="63900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Question</a:t>
            </a: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A stall is planned for a school fete which is expected to make some money for the school by challenging visitors to guess a secret number between 1 to 1000000 within 20 guesses. After each guess, one of the following answers to the guess is supplied by the stall holder:</a:t>
            </a:r>
            <a:endParaRPr/>
          </a:p>
          <a:p>
            <a:pPr marL="0" lvl="0" indent="0" algn="ctr" rtl="0">
              <a:spcBef>
                <a:spcPts val="0"/>
              </a:spcBef>
              <a:spcAft>
                <a:spcPts val="0"/>
              </a:spcAft>
              <a:buClr>
                <a:srgbClr val="000000"/>
              </a:buClr>
              <a:buSzPts val="1100"/>
              <a:buFont typeface="Arial"/>
              <a:buNone/>
              <a:defRPr/>
            </a:pPr>
            <a:r>
              <a:rPr lang="en-GB"/>
              <a:t>Too Low, Too High, or You Win.</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Each visitor is charged £1 to have a go and the prize for guessing correctly is £10.</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 Do you think that this stall will make a profit? Explain the reasoning you used to reach your conclusion.</a:t>
            </a:r>
            <a:endParaRPr/>
          </a:p>
        </p:txBody>
      </p:sp>
      <p:sp>
        <p:nvSpPr>
          <p:cNvPr id="391710628" name="Google Shape;178;p26"/>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Comparing linear and binary search algorithms</a:t>
            </a:r>
            <a:endParaRPr sz="1800" b="1">
              <a:solidFill>
                <a:srgbClr val="000000"/>
              </a:solidFill>
            </a:endParaRPr>
          </a:p>
        </p:txBody>
      </p:sp>
      <p:sp>
        <p:nvSpPr>
          <p:cNvPr id="1440518630" name="Google Shape;179;p26"/>
          <p:cNvSpPr txBox="1"/>
          <p:nvPr/>
        </p:nvSpPr>
        <p:spPr bwMode="auto">
          <a:xfrm>
            <a:off x="534600" y="3875850"/>
            <a:ext cx="6470100" cy="34080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By using a binary search it is possible for the player to win the prize within the 20 guesses</a:t>
            </a:r>
            <a:endParaRPr/>
          </a:p>
        </p:txBody>
      </p:sp>
      <p:sp>
        <p:nvSpPr>
          <p:cNvPr id="563738411" name="Google Shape;180;p26"/>
          <p:cNvSpPr txBox="1"/>
          <p:nvPr/>
        </p:nvSpPr>
        <p:spPr bwMode="auto">
          <a:xfrm>
            <a:off x="378675" y="7618050"/>
            <a:ext cx="5791500" cy="1262099"/>
          </a:xfrm>
          <a:prstGeom prst="rect">
            <a:avLst/>
          </a:prstGeom>
          <a:solidFill>
            <a:srgbClr val="B7B7B7"/>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Check your understanding</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a:t>Attempt the multiple choice questions posted on Teams.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4333742" name="Google Shape;185;p2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508770840" name="Google Shape;186;p27"/>
          <p:cNvSpPr txBox="1"/>
          <p:nvPr/>
        </p:nvSpPr>
        <p:spPr bwMode="auto">
          <a:xfrm>
            <a:off x="346650" y="1049825"/>
            <a:ext cx="6866700" cy="93081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Key Concept</a:t>
            </a: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A binary tree is shown below. The nodes of the tree are ordered so that all the integers in the nodes in the left sub-tree are smaller than the integer in the root and all the integers in the nodes in the right sub-tree are greater than the root.</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The two diagrams below show how this binary search tree may be stored in three </a:t>
            </a:r>
            <a:r>
              <a:rPr lang="en-GB"/>
              <a:t>dimensional</a:t>
            </a:r>
            <a:r>
              <a:rPr lang="en-GB"/>
              <a:t> arrays.</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sp>
        <p:nvSpPr>
          <p:cNvPr id="851349372" name="Google Shape;187;p27"/>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4.3.4.3 Binary tree search</a:t>
            </a:r>
            <a:endParaRPr sz="1800" b="1">
              <a:solidFill>
                <a:srgbClr val="000000"/>
              </a:solidFill>
            </a:endParaRPr>
          </a:p>
        </p:txBody>
      </p:sp>
      <p:pic>
        <p:nvPicPr>
          <p:cNvPr id="1575039148" name="Google Shape;188;p27"/>
          <p:cNvPicPr/>
          <p:nvPr/>
        </p:nvPicPr>
        <p:blipFill rotWithShape="1">
          <a:blip r:embed="rId3">
            <a:alphaModFix/>
          </a:blip>
          <a:srcRect l="27866" t="30352" r="0" b="15236"/>
          <a:stretch/>
        </p:blipFill>
        <p:spPr bwMode="auto">
          <a:xfrm>
            <a:off x="1359613" y="2550487"/>
            <a:ext cx="5197174" cy="2940300"/>
          </a:xfrm>
          <a:prstGeom prst="rect">
            <a:avLst/>
          </a:prstGeom>
          <a:noFill/>
          <a:ln>
            <a:noFill/>
          </a:ln>
        </p:spPr>
      </p:pic>
      <p:pic>
        <p:nvPicPr>
          <p:cNvPr id="1423718752" name="Google Shape;189;p27"/>
          <p:cNvPicPr/>
          <p:nvPr/>
        </p:nvPicPr>
        <p:blipFill rotWithShape="1">
          <a:blip r:embed="rId4">
            <a:alphaModFix/>
          </a:blip>
          <a:srcRect l="10858" t="18588" r="0" b="26995"/>
          <a:stretch/>
        </p:blipFill>
        <p:spPr bwMode="auto">
          <a:xfrm>
            <a:off x="672301" y="7105725"/>
            <a:ext cx="3463158" cy="1585524"/>
          </a:xfrm>
          <a:prstGeom prst="rect">
            <a:avLst/>
          </a:prstGeom>
          <a:noFill/>
          <a:ln>
            <a:noFill/>
          </a:ln>
        </p:spPr>
      </p:pic>
      <p:pic>
        <p:nvPicPr>
          <p:cNvPr id="990399056" name="Google Shape;190;p27"/>
          <p:cNvPicPr/>
          <p:nvPr/>
        </p:nvPicPr>
        <p:blipFill rotWithShape="1">
          <a:blip r:embed="rId5">
            <a:alphaModFix/>
          </a:blip>
          <a:srcRect l="23896" t="28845" r="13186" b="5405"/>
          <a:stretch/>
        </p:blipFill>
        <p:spPr bwMode="auto">
          <a:xfrm>
            <a:off x="4475831" y="7105725"/>
            <a:ext cx="2358845" cy="184882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600804" name="Google Shape;195;p2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854201333" name="Google Shape;196;p28"/>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binary search</a:t>
            </a:r>
            <a:endParaRPr sz="1800" b="1">
              <a:solidFill>
                <a:srgbClr val="000000"/>
              </a:solidFill>
            </a:endParaRPr>
          </a:p>
        </p:txBody>
      </p:sp>
      <p:sp>
        <p:nvSpPr>
          <p:cNvPr id="1737024872" name="Google Shape;197;p28"/>
          <p:cNvSpPr txBox="1"/>
          <p:nvPr/>
        </p:nvSpPr>
        <p:spPr bwMode="auto">
          <a:xfrm>
            <a:off x="293850" y="957825"/>
            <a:ext cx="6711000" cy="95538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endParaRPr/>
          </a:p>
        </p:txBody>
      </p:sp>
      <p:pic>
        <p:nvPicPr>
          <p:cNvPr id="772468643" name="Google Shape;198;p28"/>
          <p:cNvPicPr/>
          <p:nvPr/>
        </p:nvPicPr>
        <p:blipFill rotWithShape="1">
          <a:blip r:embed="rId3">
            <a:alphaModFix/>
          </a:blip>
          <a:stretch/>
        </p:blipFill>
        <p:spPr bwMode="auto">
          <a:xfrm>
            <a:off x="884900" y="1199325"/>
            <a:ext cx="5528893" cy="4146674"/>
          </a:xfrm>
          <a:prstGeom prst="rect">
            <a:avLst/>
          </a:prstGeom>
          <a:noFill/>
          <a:ln>
            <a:noFill/>
          </a:ln>
        </p:spPr>
      </p:pic>
      <p:pic>
        <p:nvPicPr>
          <p:cNvPr id="1754738677" name="Google Shape;199;p28"/>
          <p:cNvPicPr/>
          <p:nvPr/>
        </p:nvPicPr>
        <p:blipFill rotWithShape="1">
          <a:blip r:embed="rId4">
            <a:alphaModFix/>
          </a:blip>
          <a:stretch/>
        </p:blipFill>
        <p:spPr bwMode="auto">
          <a:xfrm>
            <a:off x="470100" y="5724047"/>
            <a:ext cx="6368325" cy="2047975"/>
          </a:xfrm>
          <a:prstGeom prst="rect">
            <a:avLst/>
          </a:prstGeom>
          <a:noFill/>
          <a:ln>
            <a:noFill/>
          </a:ln>
        </p:spPr>
      </p:pic>
      <p:sp>
        <p:nvSpPr>
          <p:cNvPr id="635434461" name="Google Shape;200;p28"/>
          <p:cNvSpPr txBox="1"/>
          <p:nvPr/>
        </p:nvSpPr>
        <p:spPr bwMode="auto">
          <a:xfrm>
            <a:off x="414300" y="7952175"/>
            <a:ext cx="6470100" cy="2450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5827769" name="Google Shape;205;p2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412963522" name="Google Shape;206;p29"/>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Algorithm for binary search tree</a:t>
            </a:r>
            <a:endParaRPr sz="1800" b="1">
              <a:solidFill>
                <a:srgbClr val="000000"/>
              </a:solidFill>
            </a:endParaRPr>
          </a:p>
        </p:txBody>
      </p:sp>
      <p:sp>
        <p:nvSpPr>
          <p:cNvPr id="1874555115" name="Google Shape;207;p29"/>
          <p:cNvSpPr txBox="1"/>
          <p:nvPr/>
        </p:nvSpPr>
        <p:spPr bwMode="auto">
          <a:xfrm>
            <a:off x="293850" y="957825"/>
            <a:ext cx="6711000" cy="94446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Questions</a:t>
            </a: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Hand trace the binary search tree algorithm given on the previous page by searching for the value 34 in the binary search tree shown on page 15.</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Complete the table below. </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chemeClr val="dk1"/>
              </a:buClr>
              <a:buSzPts val="1100"/>
              <a:buFont typeface="Arial"/>
              <a:buNone/>
              <a:defRPr/>
            </a:pPr>
            <a:r>
              <a:rPr lang="en-GB">
                <a:solidFill>
                  <a:schemeClr val="dk1"/>
                </a:solidFill>
              </a:rPr>
              <a:t>Hand trace the binary search tree algorithm given on the previous page by searching for the value 85 in the binary search tree shown on page 15.</a:t>
            </a: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chemeClr val="dk1"/>
              </a:buClr>
              <a:buSzPts val="1100"/>
              <a:buFont typeface="Arial"/>
              <a:buNone/>
              <a:defRPr/>
            </a:pPr>
            <a:r>
              <a:rPr lang="en-GB">
                <a:solidFill>
                  <a:schemeClr val="dk1"/>
                </a:solidFill>
              </a:rPr>
              <a:t>Time-complexity of the binary search tree</a:t>
            </a:r>
            <a:endParaRPr>
              <a:solidFill>
                <a:schemeClr val="dk1"/>
              </a:solidFill>
            </a:endParaRPr>
          </a:p>
          <a:p>
            <a:pPr marL="0" lvl="0" indent="0" algn="l" rtl="0">
              <a:spcBef>
                <a:spcPts val="0"/>
              </a:spcBef>
              <a:spcAft>
                <a:spcPts val="0"/>
              </a:spcAft>
              <a:buClr>
                <a:srgbClr val="000000"/>
              </a:buClr>
              <a:buSzPts val="1100"/>
              <a:buFont typeface="Arial"/>
              <a:buNone/>
              <a:defRPr/>
            </a:pPr>
            <a:endParaRPr/>
          </a:p>
        </p:txBody>
      </p:sp>
      <p:graphicFrame>
        <p:nvGraphicFramePr>
          <p:cNvPr id="1791531731" name="Google Shape;208;p29"/>
          <p:cNvGraphicFramePr>
            <a:graphicFrameLocks xmlns:a="http://schemas.openxmlformats.org/drawingml/2006/main"/>
          </p:cNvGraphicFramePr>
          <p:nvPr/>
        </p:nvGraphicFramePr>
        <p:xfrm rot="0">
          <a:off x="821850" y="2690625"/>
          <a:ext cx="3000000" cy="3000000"/>
        </p:xfrm>
        <a:graphic>
          <a:graphicData uri="http://schemas.openxmlformats.org/drawingml/2006/table">
            <a:tbl>
              <a:tblPr firstRow="0" firstCol="0" lastRow="0" lastCol="0" bandRow="0" bandCol="0">
                <a:tableStyleId>{F24CB3B6-2E02-4EE8-BA16-628833C20289}</a:tableStyleId>
                <a:noFill/>
              </a:tblPr>
              <a:tblGrid>
                <a:gridCol w="1885000"/>
                <a:gridCol w="1885000"/>
                <a:gridCol w="1885000"/>
              </a:tblGrid>
              <a:tr h="381000">
                <a:tc>
                  <a:txBody>
                    <a:bodyPr/>
                    <a:p>
                      <a:pPr marL="0" lvl="0" indent="0" algn="ctr" rtl="0">
                        <a:spcBef>
                          <a:spcPts val="0"/>
                        </a:spcBef>
                        <a:spcAft>
                          <a:spcPts val="0"/>
                        </a:spcAft>
                        <a:buNone/>
                        <a:defRPr/>
                      </a:pPr>
                      <a:r>
                        <a:rPr lang="en-GB" b="1"/>
                        <a:t>k</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b="1"/>
                        <a:t>NodePtr</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b="1"/>
                        <a:t>Key[NodePtr]</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GB"/>
                        <a:t>34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a:t>0</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a:t>36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
                        <a:t>34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21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
                        <a:t>35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34</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bl>
          </a:graphicData>
        </a:graphic>
      </p:graphicFrame>
      <p:graphicFrame>
        <p:nvGraphicFramePr>
          <p:cNvPr id="1623953867" name="Google Shape;209;p29"/>
          <p:cNvGraphicFramePr>
            <a:graphicFrameLocks xmlns:a="http://schemas.openxmlformats.org/drawingml/2006/main"/>
          </p:cNvGraphicFramePr>
          <p:nvPr/>
        </p:nvGraphicFramePr>
        <p:xfrm rot="0">
          <a:off x="821850" y="5048250"/>
          <a:ext cx="3000000" cy="3000000"/>
        </p:xfrm>
        <a:graphic>
          <a:graphicData uri="http://schemas.openxmlformats.org/drawingml/2006/table">
            <a:tbl>
              <a:tblPr firstRow="0" firstCol="0" lastRow="0" lastCol="0" bandRow="0" bandCol="0">
                <a:tableStyleId>{F24CB3B6-2E02-4EE8-BA16-628833C20289}</a:tableStyleId>
                <a:noFill/>
              </a:tblPr>
              <a:tblGrid>
                <a:gridCol w="1885000"/>
                <a:gridCol w="1885000"/>
                <a:gridCol w="1885000"/>
              </a:tblGrid>
              <a:tr h="381000">
                <a:tc>
                  <a:txBody>
                    <a:bodyPr/>
                    <a:p>
                      <a:pPr marL="0" lvl="0" indent="0" algn="ctr" rtl="0">
                        <a:spcBef>
                          <a:spcPts val="0"/>
                        </a:spcBef>
                        <a:spcAft>
                          <a:spcPts val="0"/>
                        </a:spcAft>
                        <a:buNone/>
                        <a:defRPr/>
                      </a:pPr>
                      <a:r>
                        <a:rPr lang="en-GB" b="1"/>
                        <a:t>k</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b="1"/>
                        <a:t>NodePtr</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b="1"/>
                        <a:t>Key[NodePtr]</a:t>
                      </a:r>
                      <a:endParaRPr b="1"/>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
                        <a:t>85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a:t>0</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GB"/>
                        <a:t>36</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
                        <a:t>85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100</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
                        <a:t>85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78</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r h="381000">
                <a:tc>
                  <a:txBody>
                    <a:bodyPr/>
                    <a:p>
                      <a:pPr marL="0" lvl="0" indent="0" algn="ctr" rtl="0">
                        <a:spcBef>
                          <a:spcPts val="0"/>
                        </a:spcBef>
                        <a:spcAft>
                          <a:spcPts val="0"/>
                        </a:spcAft>
                        <a:buNone/>
                        <a:defRPr/>
                      </a:pPr>
                      <a:r>
                        <a:rPr lang="en"/>
                        <a:t>85</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r>
                        <a:rPr lang="en"/>
                        <a:t>-1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solidFill>
                      <a:schemeClr val="lt1"/>
                    </a:solidFill>
                  </a:tcPr>
                </a:tc>
              </a:tr>
            </a:tbl>
          </a:graphicData>
        </a:graphic>
      </p:graphicFrame>
      <p:sp>
        <p:nvSpPr>
          <p:cNvPr id="149168827" name="Google Shape;210;p29"/>
          <p:cNvSpPr txBox="1"/>
          <p:nvPr/>
        </p:nvSpPr>
        <p:spPr bwMode="auto">
          <a:xfrm>
            <a:off x="414300" y="7662600"/>
            <a:ext cx="6470100" cy="2450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697723045" name="Rectangle 7"/>
          <p:cNvSpPr txBox="1"/>
          <p:nvPr/>
        </p:nvSpPr>
        <p:spPr bwMode="auto">
          <a:xfrm rot="0" flipH="0" flipV="0">
            <a:off x="3688380" y="5193599"/>
            <a:ext cx="183240" cy="3047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5591319" name="Google Shape;215;p3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77455639" name="Google Shape;216;p30"/>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pic>
        <p:nvPicPr>
          <p:cNvPr id="177878786" name="Google Shape;217;p30"/>
          <p:cNvPicPr/>
          <p:nvPr/>
        </p:nvPicPr>
        <p:blipFill rotWithShape="1">
          <a:blip r:embed="rId3">
            <a:alphaModFix/>
          </a:blip>
          <a:stretch/>
        </p:blipFill>
        <p:spPr bwMode="auto">
          <a:xfrm>
            <a:off x="8091000" y="4309651"/>
            <a:ext cx="8217549" cy="3833825"/>
          </a:xfrm>
          <a:prstGeom prst="rect">
            <a:avLst/>
          </a:prstGeom>
          <a:noFill/>
          <a:ln>
            <a:noFill/>
          </a:ln>
        </p:spPr>
      </p:pic>
      <p:sp>
        <p:nvSpPr>
          <p:cNvPr id="1088280580" name="Google Shape;218;p30"/>
          <p:cNvSpPr txBox="1"/>
          <p:nvPr/>
        </p:nvSpPr>
        <p:spPr bwMode="auto">
          <a:xfrm>
            <a:off x="293850" y="957825"/>
            <a:ext cx="6711000" cy="94446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Worked Example</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r>
              <a:rPr lang="en-GB"/>
              <a:t>Below is a table for a student record.</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b="1"/>
              <a:t>Limitations of this type of table and table access</a:t>
            </a: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A problem surfaces with the operations of searching, inserting and deleting described above when the table contains a large number of records. EG 10000</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It just takes too much of the computer’s time to perform these operations. One solution is to use a hash table based on a well-chosen has function.</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b="1"/>
              <a:t>Hash table</a:t>
            </a: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r>
              <a:rPr lang="en-GB"/>
              <a:t>A hash table resembles an ordinary table as described above but differs in the method used to access the rows of the table.</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A row of a hash table is accessed directly when looking up, inserting and deleting a record i.e. it does not start from row 0 every time but instead goes directly to the required row. Movement of records when deleting a record is also eliminated.</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graphicFrame>
        <p:nvGraphicFramePr>
          <p:cNvPr id="1571007054" name="Google Shape;219;p30"/>
          <p:cNvGraphicFramePr>
            <a:graphicFrameLocks xmlns:a="http://schemas.openxmlformats.org/drawingml/2006/main"/>
          </p:cNvGraphicFramePr>
          <p:nvPr/>
        </p:nvGraphicFramePr>
        <p:xfrm rot="0">
          <a:off x="821850" y="1911000"/>
          <a:ext cx="3000000" cy="3000000"/>
        </p:xfrm>
        <a:graphic>
          <a:graphicData uri="http://schemas.openxmlformats.org/drawingml/2006/table">
            <a:tbl>
              <a:tblPr firstRow="0" firstCol="0" lastRow="0" lastCol="0" bandRow="0" bandCol="0">
                <a:tableStyleId>{F24CB3B6-2E02-4EE8-BA16-628833C20289}</a:tableStyleId>
                <a:noFill/>
              </a:tblPr>
              <a:tblGrid>
                <a:gridCol w="1413750"/>
                <a:gridCol w="1413750"/>
                <a:gridCol w="1413750"/>
                <a:gridCol w="1413750"/>
              </a:tblGrid>
              <a:tr h="381000">
                <a:tc>
                  <a:txBody>
                    <a:bodyPr/>
                    <a:p>
                      <a:pPr marL="0" lvl="0" indent="0" algn="ctr" rtl="0">
                        <a:spcBef>
                          <a:spcPts val="0"/>
                        </a:spcBef>
                        <a:spcAft>
                          <a:spcPts val="0"/>
                        </a:spcAft>
                        <a:buNone/>
                        <a:defRPr/>
                      </a:pPr>
                      <a:r>
                        <a:rPr lang="en-GB"/>
                        <a:t>Index</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ULN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Forname</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Surname</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34567890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Bloggs</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1</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90002789</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Mary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Smth</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2</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74432167</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Ahmed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Khan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graphicFrame>
        <p:nvGraphicFramePr>
          <p:cNvPr id="1914170995" name="Google Shape;220;p30"/>
          <p:cNvGraphicFramePr>
            <a:graphicFrameLocks xmlns:a="http://schemas.openxmlformats.org/drawingml/2006/main"/>
          </p:cNvGraphicFramePr>
          <p:nvPr/>
        </p:nvGraphicFramePr>
        <p:xfrm rot="0">
          <a:off x="952500" y="7676700"/>
          <a:ext cx="3000000" cy="3000000"/>
        </p:xfrm>
        <a:graphic>
          <a:graphicData uri="http://schemas.openxmlformats.org/drawingml/2006/table">
            <a:tbl>
              <a:tblPr firstRow="0" firstCol="0" lastRow="0" lastCol="0" bandRow="0" bandCol="0">
                <a:tableStyleId>{F24CB3B6-2E02-4EE8-BA16-628833C20289}</a:tableStyleId>
                <a:noFill/>
              </a:tblPr>
              <a:tblGrid>
                <a:gridCol w="1413750"/>
                <a:gridCol w="1413750"/>
                <a:gridCol w="1413750"/>
                <a:gridCol w="1413750"/>
              </a:tblGrid>
              <a:tr h="381000">
                <a:tc>
                  <a:txBody>
                    <a:bodyPr/>
                    <a:p>
                      <a:pPr marL="0" lvl="0" indent="0" algn="ctr" rtl="0">
                        <a:spcBef>
                          <a:spcPts val="0"/>
                        </a:spcBef>
                        <a:spcAft>
                          <a:spcPts val="0"/>
                        </a:spcAft>
                        <a:buNone/>
                        <a:defRPr/>
                      </a:pPr>
                      <a:r>
                        <a:rPr lang="en-GB"/>
                        <a:t>Index</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ULN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Forname</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Surname</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1</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34567890</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Fred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Bloggs</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2</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90002789</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Mary</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Smth</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3</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4</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74432167</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Ahmed</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Khan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5991856" name="Google Shape;225;p3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47268522" name="Google Shape;226;p31"/>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pic>
        <p:nvPicPr>
          <p:cNvPr id="1746210106" name="Google Shape;227;p31"/>
          <p:cNvPicPr/>
          <p:nvPr/>
        </p:nvPicPr>
        <p:blipFill rotWithShape="1">
          <a:blip r:embed="rId3">
            <a:alphaModFix/>
          </a:blip>
          <a:stretch/>
        </p:blipFill>
        <p:spPr bwMode="auto">
          <a:xfrm>
            <a:off x="8091000" y="4309651"/>
            <a:ext cx="8217549" cy="3833825"/>
          </a:xfrm>
          <a:prstGeom prst="rect">
            <a:avLst/>
          </a:prstGeom>
          <a:noFill/>
          <a:ln>
            <a:noFill/>
          </a:ln>
        </p:spPr>
      </p:pic>
      <p:sp>
        <p:nvSpPr>
          <p:cNvPr id="79432523" name="Google Shape;228;p31"/>
          <p:cNvSpPr txBox="1"/>
          <p:nvPr/>
        </p:nvSpPr>
        <p:spPr bwMode="auto">
          <a:xfrm>
            <a:off x="293850" y="957825"/>
            <a:ext cx="6711000" cy="47001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Worked Example</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r>
              <a:rPr lang="en-GB"/>
              <a:t>The table gets the name hash because of the method used to generate the address or row number. A randomising function call a hash function is applied to the record’s key, in this case the 8-digit unique learner number or ULN to map the possible 8-digit ULN values into a much smaller range of values, the possible row numbers. This process is known as hashing.</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b="1"/>
              <a:t>Hash function</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the hash function takes as input the record’s key (hash key) and the outputs the row address of the row for this record.</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One example is 	</a:t>
            </a:r>
            <a:r>
              <a:rPr lang="en-GB" b="1"/>
              <a:t>H (ULN) = ULN Mod 7</a:t>
            </a: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graphicFrame>
        <p:nvGraphicFramePr>
          <p:cNvPr id="409569861" name="Google Shape;229;p31"/>
          <p:cNvGraphicFramePr>
            <a:graphicFrameLocks xmlns:a="http://schemas.openxmlformats.org/drawingml/2006/main"/>
          </p:cNvGraphicFramePr>
          <p:nvPr/>
        </p:nvGraphicFramePr>
        <p:xfrm rot="0">
          <a:off x="2202900" y="4309650"/>
          <a:ext cx="3000000" cy="3000000"/>
        </p:xfrm>
        <a:graphic>
          <a:graphicData uri="http://schemas.openxmlformats.org/drawingml/2006/table">
            <a:tbl>
              <a:tblPr firstRow="0" firstCol="0" lastRow="0" lastCol="0" bandRow="0" bandCol="0">
                <a:tableStyleId>{F24CB3B6-2E02-4EE8-BA16-628833C20289}</a:tableStyleId>
                <a:noFill/>
              </a:tblPr>
              <a:tblGrid>
                <a:gridCol w="1577099"/>
                <a:gridCol w="1329075"/>
              </a:tblGrid>
              <a:tr h="381000">
                <a:tc>
                  <a:txBody>
                    <a:bodyPr/>
                    <a:p>
                      <a:pPr marL="0" lvl="0" indent="0" algn="ctr" rtl="0">
                        <a:spcBef>
                          <a:spcPts val="0"/>
                        </a:spcBef>
                        <a:spcAft>
                          <a:spcPts val="0"/>
                        </a:spcAft>
                        <a:buNone/>
                        <a:defRPr/>
                      </a:pPr>
                      <a:r>
                        <a:rPr lang="en-GB"/>
                        <a:t>ULN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H (ULN)</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90002789</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2</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r h="381000">
                <a:tc>
                  <a:txBody>
                    <a:bodyPr/>
                    <a:p>
                      <a:pPr marL="0" lvl="0" indent="0" algn="ctr" rtl="0">
                        <a:spcBef>
                          <a:spcPts val="0"/>
                        </a:spcBef>
                        <a:spcAft>
                          <a:spcPts val="0"/>
                        </a:spcAft>
                        <a:buNone/>
                        <a:defRPr/>
                      </a:pPr>
                      <a:r>
                        <a:rPr lang="en-GB"/>
                        <a:t>74432167</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c>
                  <a:txBody>
                    <a:bodyPr/>
                    <a:p>
                      <a:pPr marL="0" lvl="0" indent="0" algn="ctr" rtl="0">
                        <a:spcBef>
                          <a:spcPts val="0"/>
                        </a:spcBef>
                        <a:spcAft>
                          <a:spcPts val="0"/>
                        </a:spcAft>
                        <a:buNone/>
                        <a:defRPr/>
                      </a:pPr>
                      <a:r>
                        <a:rPr lang="en-GB"/>
                        <a:t>5</a:t>
                      </a: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chemeClr val="lt1"/>
                    </a:solidFill>
                  </a:tcPr>
                </a:tc>
              </a:tr>
            </a:tbl>
          </a:graphicData>
        </a:graphic>
      </p:graphicFrame>
      <p:sp>
        <p:nvSpPr>
          <p:cNvPr id="1902365757" name="Google Shape;230;p31"/>
          <p:cNvSpPr txBox="1"/>
          <p:nvPr/>
        </p:nvSpPr>
        <p:spPr bwMode="auto">
          <a:xfrm>
            <a:off x="300500" y="5794475"/>
            <a:ext cx="6711000" cy="38991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Question</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r>
              <a:rPr lang="en-GB"/>
              <a:t>Calculate the value of H(ULN) of the following:</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r>
              <a:rPr lang="en-GB"/>
              <a:t>31258745		62517493		49981627</a:t>
            </a:r>
            <a:endParaRPr/>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sp>
        <p:nvSpPr>
          <p:cNvPr id="268737118" name="Google Shape;231;p31"/>
          <p:cNvSpPr txBox="1"/>
          <p:nvPr/>
        </p:nvSpPr>
        <p:spPr bwMode="auto">
          <a:xfrm>
            <a:off x="420950" y="7128000"/>
            <a:ext cx="6470100" cy="2450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0</a:t>
            </a:r>
            <a:endParaRPr lang="en"/>
          </a:p>
          <a:p>
            <a:pPr marL="0" lvl="0" indent="0" algn="l" rtl="0">
              <a:spcBef>
                <a:spcPts val="0"/>
              </a:spcBef>
              <a:spcAft>
                <a:spcPts val="0"/>
              </a:spcAft>
              <a:buNone/>
              <a:defRPr/>
            </a:pPr>
            <a:r>
              <a:rPr lang="en"/>
              <a:t>3</a:t>
            </a:r>
            <a:endParaRPr lang="en"/>
          </a:p>
          <a:p>
            <a:pPr marL="0" lvl="0" indent="0" algn="l" rtl="0">
              <a:spcBef>
                <a:spcPts val="0"/>
              </a:spcBef>
              <a:spcAft>
                <a:spcPts val="0"/>
              </a:spcAft>
              <a:buNone/>
              <a:defRPr/>
            </a:pPr>
            <a:r>
              <a:rPr lang="en"/>
              <a:t>3</a:t>
            </a:r>
            <a:endParaRPr lang="en"/>
          </a:p>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4820385" name="Google Shape;236;p3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147610808" name="Google Shape;237;p32"/>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sp>
        <p:nvSpPr>
          <p:cNvPr id="711124791" name="Google Shape;238;p32"/>
          <p:cNvSpPr txBox="1"/>
          <p:nvPr/>
        </p:nvSpPr>
        <p:spPr bwMode="auto">
          <a:xfrm>
            <a:off x="293850" y="957825"/>
            <a:ext cx="6711000" cy="9333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Worked Example</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pic>
        <p:nvPicPr>
          <p:cNvPr id="2139566289" name="Google Shape;239;p32"/>
          <p:cNvPicPr/>
          <p:nvPr/>
        </p:nvPicPr>
        <p:blipFill rotWithShape="1">
          <a:blip r:embed="rId3">
            <a:alphaModFix/>
          </a:blip>
          <a:stretch/>
        </p:blipFill>
        <p:spPr bwMode="auto">
          <a:xfrm>
            <a:off x="517500" y="1390972"/>
            <a:ext cx="6276375" cy="2928175"/>
          </a:xfrm>
          <a:prstGeom prst="rect">
            <a:avLst/>
          </a:prstGeom>
          <a:noFill/>
          <a:ln>
            <a:noFill/>
          </a:ln>
        </p:spPr>
      </p:pic>
      <p:pic>
        <p:nvPicPr>
          <p:cNvPr id="495654988" name="Google Shape;240;p32"/>
          <p:cNvPicPr/>
          <p:nvPr/>
        </p:nvPicPr>
        <p:blipFill rotWithShape="1">
          <a:blip r:embed="rId4">
            <a:alphaModFix/>
          </a:blip>
          <a:stretch/>
        </p:blipFill>
        <p:spPr bwMode="auto">
          <a:xfrm>
            <a:off x="539425" y="4621674"/>
            <a:ext cx="6219825" cy="48101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4311212" name="Google Shape;245;p3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775235511" name="Google Shape;246;p33"/>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sp>
        <p:nvSpPr>
          <p:cNvPr id="1304090208" name="Google Shape;247;p33"/>
          <p:cNvSpPr txBox="1"/>
          <p:nvPr/>
        </p:nvSpPr>
        <p:spPr bwMode="auto">
          <a:xfrm>
            <a:off x="293850" y="957825"/>
            <a:ext cx="6711000" cy="5613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Worked Example</a:t>
            </a: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r>
              <a:rPr lang="en-GB" b="1"/>
              <a:t>What is a collision?</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pic>
        <p:nvPicPr>
          <p:cNvPr id="1867442718" name="Google Shape;248;p33"/>
          <p:cNvPicPr/>
          <p:nvPr/>
        </p:nvPicPr>
        <p:blipFill rotWithShape="1">
          <a:blip r:embed="rId3">
            <a:alphaModFix/>
          </a:blip>
          <a:stretch/>
        </p:blipFill>
        <p:spPr bwMode="auto">
          <a:xfrm>
            <a:off x="502485" y="1442050"/>
            <a:ext cx="6293725" cy="1654175"/>
          </a:xfrm>
          <a:prstGeom prst="rect">
            <a:avLst/>
          </a:prstGeom>
          <a:noFill/>
          <a:ln>
            <a:noFill/>
          </a:ln>
        </p:spPr>
      </p:pic>
      <p:sp>
        <p:nvSpPr>
          <p:cNvPr id="1603288444" name="Google Shape;249;p33"/>
          <p:cNvSpPr txBox="1"/>
          <p:nvPr/>
        </p:nvSpPr>
        <p:spPr bwMode="auto">
          <a:xfrm>
            <a:off x="414287" y="3853575"/>
            <a:ext cx="6470100" cy="2450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101216" name="Google Shape;254;p3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374071878" name="Google Shape;255;p34"/>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sp>
        <p:nvSpPr>
          <p:cNvPr id="252451285" name="Google Shape;256;p34"/>
          <p:cNvSpPr txBox="1"/>
          <p:nvPr/>
        </p:nvSpPr>
        <p:spPr bwMode="auto">
          <a:xfrm>
            <a:off x="293850" y="957825"/>
            <a:ext cx="6711000" cy="9333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Questions</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pic>
        <p:nvPicPr>
          <p:cNvPr id="1965563149" name="Google Shape;257;p34"/>
          <p:cNvPicPr/>
          <p:nvPr/>
        </p:nvPicPr>
        <p:blipFill rotWithShape="1">
          <a:blip r:embed="rId3">
            <a:alphaModFix/>
          </a:blip>
          <a:srcRect l="0" t="14642" r="0" b="37431"/>
          <a:stretch/>
        </p:blipFill>
        <p:spPr bwMode="auto">
          <a:xfrm>
            <a:off x="449775" y="1470150"/>
            <a:ext cx="6344100" cy="2280476"/>
          </a:xfrm>
          <a:prstGeom prst="rect">
            <a:avLst/>
          </a:prstGeom>
          <a:noFill/>
          <a:ln>
            <a:noFill/>
          </a:ln>
        </p:spPr>
      </p:pic>
      <p:sp>
        <p:nvSpPr>
          <p:cNvPr id="1117821530" name="Google Shape;258;p34"/>
          <p:cNvSpPr txBox="1"/>
          <p:nvPr/>
        </p:nvSpPr>
        <p:spPr bwMode="auto">
          <a:xfrm>
            <a:off x="414300" y="3853575"/>
            <a:ext cx="6470100" cy="43659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309120" name="Google Shape;263;p3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30565087" name="Google Shape;264;p35"/>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sp>
        <p:nvSpPr>
          <p:cNvPr id="58840148" name="Google Shape;265;p35"/>
          <p:cNvSpPr txBox="1"/>
          <p:nvPr/>
        </p:nvSpPr>
        <p:spPr bwMode="auto">
          <a:xfrm>
            <a:off x="293850" y="957825"/>
            <a:ext cx="6711000" cy="9333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Questions</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sp>
        <p:nvSpPr>
          <p:cNvPr id="321309566" name="Google Shape;266;p35"/>
          <p:cNvSpPr txBox="1"/>
          <p:nvPr/>
        </p:nvSpPr>
        <p:spPr bwMode="auto">
          <a:xfrm>
            <a:off x="414300" y="4920375"/>
            <a:ext cx="6470100" cy="5192399"/>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pic>
        <p:nvPicPr>
          <p:cNvPr id="473390909" name="Google Shape;267;p35"/>
          <p:cNvPicPr/>
          <p:nvPr/>
        </p:nvPicPr>
        <p:blipFill rotWithShape="1">
          <a:blip r:embed="rId3">
            <a:alphaModFix/>
          </a:blip>
          <a:srcRect l="0" t="6784" r="0" b="25644"/>
          <a:stretch/>
        </p:blipFill>
        <p:spPr bwMode="auto">
          <a:xfrm>
            <a:off x="414300" y="1381050"/>
            <a:ext cx="6470098" cy="327895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9384598" name="Google Shape;272;p3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4349891" name="Google Shape;273;p36"/>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tables</a:t>
            </a:r>
            <a:endParaRPr sz="1800" b="1">
              <a:solidFill>
                <a:srgbClr val="000000"/>
              </a:solidFill>
            </a:endParaRPr>
          </a:p>
        </p:txBody>
      </p:sp>
      <p:sp>
        <p:nvSpPr>
          <p:cNvPr id="472139847" name="Google Shape;274;p36"/>
          <p:cNvSpPr txBox="1"/>
          <p:nvPr/>
        </p:nvSpPr>
        <p:spPr bwMode="auto">
          <a:xfrm>
            <a:off x="293850" y="957825"/>
            <a:ext cx="6711000" cy="9333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Questions</a:t>
            </a:r>
            <a:endParaRPr b="1"/>
          </a:p>
          <a:p>
            <a:pPr marL="0" lvl="0" indent="0" algn="l" rtl="0">
              <a:spcBef>
                <a:spcPts val="0"/>
              </a:spcBef>
              <a:spcAft>
                <a:spcPts val="0"/>
              </a:spcAft>
              <a:buClr>
                <a:schemeClr val="dk1"/>
              </a:buClr>
              <a:buSzPts val="1100"/>
              <a:buFont typeface="Arial"/>
              <a:buNone/>
              <a:defRPr/>
            </a:pPr>
            <a:endParaRPr>
              <a:solidFill>
                <a:schemeClr val="dk1"/>
              </a:solidFill>
            </a:endParaRPr>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sp>
        <p:nvSpPr>
          <p:cNvPr id="1170732058" name="Google Shape;275;p36"/>
          <p:cNvSpPr txBox="1"/>
          <p:nvPr/>
        </p:nvSpPr>
        <p:spPr bwMode="auto">
          <a:xfrm>
            <a:off x="414300" y="3719925"/>
            <a:ext cx="6470100" cy="63930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pic>
        <p:nvPicPr>
          <p:cNvPr id="131130955" name="Google Shape;276;p36"/>
          <p:cNvPicPr/>
          <p:nvPr/>
        </p:nvPicPr>
        <p:blipFill rotWithShape="1">
          <a:blip r:embed="rId3">
            <a:alphaModFix/>
          </a:blip>
          <a:srcRect l="0" t="24858" r="0" b="27793"/>
          <a:stretch/>
        </p:blipFill>
        <p:spPr bwMode="auto">
          <a:xfrm>
            <a:off x="414300" y="1336500"/>
            <a:ext cx="6379576" cy="22655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5119656" name="Google Shape;281;p37"/>
          <p:cNvSpPr txBox="1"/>
          <p:nvPr/>
        </p:nvSpPr>
        <p:spPr bwMode="auto">
          <a:xfrm>
            <a:off x="293850" y="957825"/>
            <a:ext cx="6711000" cy="93333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defRPr/>
            </a:pPr>
            <a:r>
              <a:rPr lang="en-GB" b="1"/>
              <a:t>Code for Hash Search</a:t>
            </a: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r>
              <a:rPr lang="en-GB" b="1"/>
              <a:t>Main program code</a:t>
            </a:r>
            <a:endParaRPr b="1"/>
          </a:p>
          <a:p>
            <a:pPr marL="0" lvl="0" indent="0" algn="l" rtl="0">
              <a:spcBef>
                <a:spcPts val="0"/>
              </a:spcBef>
              <a:spcAft>
                <a:spcPts val="0"/>
              </a:spcAft>
              <a:buClr>
                <a:srgbClr val="000000"/>
              </a:buClr>
              <a:buSzPts val="1100"/>
              <a:buFont typeface="Arial"/>
              <a:buNone/>
              <a:defRPr/>
            </a:pPr>
            <a:endParaRPr b="1"/>
          </a:p>
          <a:p>
            <a:pPr marL="0" lvl="0" indent="0" algn="l" rtl="0">
              <a:spcBef>
                <a:spcPts val="0"/>
              </a:spcBef>
              <a:spcAft>
                <a:spcPts val="0"/>
              </a:spcAft>
              <a:buClr>
                <a:srgbClr val="000000"/>
              </a:buClr>
              <a:buSzPts val="1100"/>
              <a:buFont typeface="Arial"/>
              <a:buNone/>
              <a:defRPr/>
            </a:pPr>
            <a:endParaRPr/>
          </a:p>
          <a:p>
            <a:pPr marL="0" lvl="0" indent="0" algn="l" rtl="0">
              <a:spcBef>
                <a:spcPts val="0"/>
              </a:spcBef>
              <a:spcAft>
                <a:spcPts val="0"/>
              </a:spcAft>
              <a:buClr>
                <a:srgbClr val="000000"/>
              </a:buClr>
              <a:buSzPts val="1100"/>
              <a:buFont typeface="Arial"/>
              <a:buNone/>
              <a:defRPr/>
            </a:pPr>
            <a:endParaRPr/>
          </a:p>
        </p:txBody>
      </p:sp>
      <p:sp>
        <p:nvSpPr>
          <p:cNvPr id="95308869" name="Google Shape;282;p3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138618358" name="Google Shape;283;p37"/>
          <p:cNvSpPr txBox="1"/>
          <p:nvPr/>
        </p:nvSpPr>
        <p:spPr bwMode="auto">
          <a:xfrm>
            <a:off x="257700" y="295369"/>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4.2.6.1 Hash table Search</a:t>
            </a:r>
            <a:endParaRPr sz="1800" b="1">
              <a:solidFill>
                <a:srgbClr val="000000"/>
              </a:solidFill>
            </a:endParaRPr>
          </a:p>
        </p:txBody>
      </p:sp>
      <p:pic>
        <p:nvPicPr>
          <p:cNvPr id="1187236064" name="Google Shape;284;p37"/>
          <p:cNvPicPr/>
          <p:nvPr/>
        </p:nvPicPr>
        <p:blipFill rotWithShape="1">
          <a:blip r:embed="rId3">
            <a:alphaModFix/>
          </a:blip>
          <a:stretch/>
        </p:blipFill>
        <p:spPr bwMode="auto">
          <a:xfrm>
            <a:off x="496425" y="1508275"/>
            <a:ext cx="6305850" cy="4135550"/>
          </a:xfrm>
          <a:prstGeom prst="rect">
            <a:avLst/>
          </a:prstGeom>
          <a:noFill/>
          <a:ln>
            <a:noFill/>
          </a:ln>
        </p:spPr>
      </p:pic>
      <p:pic>
        <p:nvPicPr>
          <p:cNvPr id="668364605" name="Google Shape;285;p37"/>
          <p:cNvPicPr/>
          <p:nvPr/>
        </p:nvPicPr>
        <p:blipFill rotWithShape="1">
          <a:blip r:embed="rId4">
            <a:alphaModFix/>
          </a:blip>
          <a:stretch/>
        </p:blipFill>
        <p:spPr bwMode="auto">
          <a:xfrm>
            <a:off x="543923" y="6685998"/>
            <a:ext cx="6210850" cy="169239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2725176" name="Google Shape;290;p3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526411967" name="Google Shape;291;p38"/>
          <p:cNvSpPr txBox="1"/>
          <p:nvPr/>
        </p:nvSpPr>
        <p:spPr bwMode="auto">
          <a:xfrm>
            <a:off x="257700" y="277225"/>
            <a:ext cx="7044600" cy="96039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Vocabulary</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graphicFrame>
        <p:nvGraphicFramePr>
          <p:cNvPr id="374170882" name="Google Shape;292;p38"/>
          <p:cNvGraphicFramePr>
            <a:graphicFrameLocks xmlns:a="http://schemas.openxmlformats.org/drawingml/2006/main"/>
          </p:cNvGraphicFramePr>
          <p:nvPr/>
        </p:nvGraphicFramePr>
        <p:xfrm rot="0">
          <a:off x="496425" y="770375"/>
          <a:ext cx="3000000" cy="3000000"/>
        </p:xfrm>
        <a:graphic>
          <a:graphicData uri="http://schemas.openxmlformats.org/drawingml/2006/table">
            <a:tbl>
              <a:tblPr firstRow="0" firstCol="0" lastRow="0" lastCol="0" bandRow="0" bandCol="0">
                <a:tableStyleId>{F24CB3B6-2E02-4EE8-BA16-628833C20289}</a:tableStyleId>
                <a:noFill/>
              </a:tblPr>
              <a:tblGrid>
                <a:gridCol w="1465650"/>
                <a:gridCol w="5164800"/>
              </a:tblGrid>
              <a:tr h="716050">
                <a:tc>
                  <a:txBody>
                    <a:bodyPr/>
                    <a:p>
                      <a:pPr marL="0" lvl="0" indent="0" algn="ctr" rtl="0">
                        <a:spcBef>
                          <a:spcPts val="0"/>
                        </a:spcBef>
                        <a:spcAft>
                          <a:spcPts val="0"/>
                        </a:spcAft>
                        <a:buNone/>
                        <a:defRPr/>
                      </a:pPr>
                      <a:r>
                        <a:rPr lang="en-GB" b="1"/>
                        <a:t>Term</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ctr" rtl="0">
                        <a:spcBef>
                          <a:spcPts val="0"/>
                        </a:spcBef>
                        <a:spcAft>
                          <a:spcPts val="0"/>
                        </a:spcAft>
                        <a:buNone/>
                        <a:defRPr/>
                      </a:pPr>
                      <a:r>
                        <a:rPr lang="en-GB" b="1"/>
                        <a:t>Description</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1889579" name="Google Shape;297;p3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410595056" name="Google Shape;298;p39"/>
          <p:cNvSpPr txBox="1"/>
          <p:nvPr/>
        </p:nvSpPr>
        <p:spPr bwMode="auto">
          <a:xfrm>
            <a:off x="257700" y="277225"/>
            <a:ext cx="7044600" cy="96039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Vocabulary</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graphicFrame>
        <p:nvGraphicFramePr>
          <p:cNvPr id="955621636" name="Google Shape;299;p39"/>
          <p:cNvGraphicFramePr>
            <a:graphicFrameLocks xmlns:a="http://schemas.openxmlformats.org/drawingml/2006/main"/>
          </p:cNvGraphicFramePr>
          <p:nvPr/>
        </p:nvGraphicFramePr>
        <p:xfrm rot="0">
          <a:off x="496425" y="770375"/>
          <a:ext cx="3000000" cy="3000000"/>
        </p:xfrm>
        <a:graphic>
          <a:graphicData uri="http://schemas.openxmlformats.org/drawingml/2006/table">
            <a:tbl>
              <a:tblPr firstRow="0" firstCol="0" lastRow="0" lastCol="0" bandRow="0" bandCol="0">
                <a:tableStyleId>{F24CB3B6-2E02-4EE8-BA16-628833C20289}</a:tableStyleId>
                <a:noFill/>
              </a:tblPr>
              <a:tblGrid>
                <a:gridCol w="1465650"/>
                <a:gridCol w="5164800"/>
              </a:tblGrid>
              <a:tr h="716050">
                <a:tc>
                  <a:txBody>
                    <a:bodyPr/>
                    <a:p>
                      <a:pPr marL="0" lvl="0" indent="0" algn="ctr" rtl="0">
                        <a:spcBef>
                          <a:spcPts val="0"/>
                        </a:spcBef>
                        <a:spcAft>
                          <a:spcPts val="0"/>
                        </a:spcAft>
                        <a:buNone/>
                        <a:defRPr/>
                      </a:pPr>
                      <a:r>
                        <a:rPr lang="en-GB" b="1"/>
                        <a:t>Term</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ctr" rtl="0">
                        <a:spcBef>
                          <a:spcPts val="0"/>
                        </a:spcBef>
                        <a:spcAft>
                          <a:spcPts val="0"/>
                        </a:spcAft>
                        <a:buNone/>
                        <a:defRPr/>
                      </a:pPr>
                      <a:r>
                        <a:rPr lang="en-GB" b="1"/>
                        <a:t>Description</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l"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2692262" name="Google Shape;304;p4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1500847293" name="Google Shape;305;p40"/>
          <p:cNvPicPr/>
          <p:nvPr/>
        </p:nvPicPr>
        <p:blipFill rotWithShape="1">
          <a:blip r:embed="rId3">
            <a:alphaModFix/>
          </a:blip>
          <a:stretch/>
        </p:blipFill>
        <p:spPr bwMode="auto">
          <a:xfrm>
            <a:off x="152400" y="152400"/>
            <a:ext cx="7255202" cy="4884943"/>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397216" name="Google Shape;310;p4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988741775" name="Google Shape;311;p41"/>
          <p:cNvSpPr txBox="1"/>
          <p:nvPr/>
        </p:nvSpPr>
        <p:spPr bwMode="auto">
          <a:xfrm>
            <a:off x="375450" y="240300"/>
            <a:ext cx="6809100" cy="5029200"/>
          </a:xfrm>
          <a:prstGeom prst="rect">
            <a:avLst/>
          </a:prstGeom>
          <a:solidFill>
            <a:srgbClr val="EFEFEF"/>
          </a:solidFill>
          <a:ln>
            <a:noFill/>
          </a:ln>
        </p:spPr>
        <p:txBody>
          <a:bodyPr spcFirstLastPara="1" wrap="square" lIns="64650" tIns="64650" rIns="64650" bIns="64650" anchor="t" anchorCtr="0">
            <a:noAutofit/>
          </a:bodyPr>
          <a:lstStyle/>
          <a:p>
            <a:pPr marL="0" lvl="0" indent="0" algn="l" rtl="0">
              <a:spcBef>
                <a:spcPts val="0"/>
              </a:spcBef>
              <a:spcAft>
                <a:spcPts val="0"/>
              </a:spcAft>
              <a:buNone/>
              <a:defRPr/>
            </a:pPr>
            <a:r>
              <a:rPr lang="en-GB" b="1"/>
              <a:t>Useful links</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u="sng">
                <a:solidFill>
                  <a:schemeClr val="hlink"/>
                </a:solidFill>
                <a:hlinkClick r:id="rId3" tooltip=""/>
              </a:rPr>
              <a:t>Video 1 </a:t>
            </a:r>
            <a:r>
              <a:rPr lang="en-GB" b="1"/>
              <a:t>- Craig N Dave  Linear Search Youtube video</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b="1" u="sng">
                <a:solidFill>
                  <a:schemeClr val="hlink"/>
                </a:solidFill>
                <a:hlinkClick r:id="rId4" tooltip=""/>
              </a:rPr>
              <a:t>Video</a:t>
            </a:r>
            <a:r>
              <a:rPr lang="en-GB" b="1" u="sng">
                <a:solidFill>
                  <a:schemeClr val="hlink"/>
                </a:solidFill>
                <a:hlinkClick r:id="rId4" tooltip=""/>
              </a:rPr>
              <a:t> 2</a:t>
            </a:r>
            <a:r>
              <a:rPr lang="en-GB" b="1"/>
              <a:t> - Craig N Dave Binary Search </a:t>
            </a:r>
            <a:r>
              <a:rPr lang="en-GB" b="1">
                <a:solidFill>
                  <a:srgbClr val="000000"/>
                </a:solidFill>
              </a:rPr>
              <a:t> Youtube </a:t>
            </a:r>
            <a:r>
              <a:rPr lang="en-GB" b="1"/>
              <a:t>video</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u="sng">
                <a:solidFill>
                  <a:schemeClr val="hlink"/>
                </a:solidFill>
                <a:hlinkClick r:id="rId5" tooltip=""/>
              </a:rPr>
              <a:t>Video 3</a:t>
            </a:r>
            <a:r>
              <a:rPr lang="en-GB" b="1"/>
              <a:t> - Mr J Online Searching Algorithm Youtube video</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b="1" u="sng">
                <a:solidFill>
                  <a:schemeClr val="hlink"/>
                </a:solidFill>
                <a:hlinkClick r:id="rId6" tooltip=""/>
              </a:rPr>
              <a:t>Website 1</a:t>
            </a:r>
            <a:r>
              <a:rPr lang="en-GB" b="1"/>
              <a:t> - Isaac Computer Science website -  section on searching algorithms</a:t>
            </a:r>
            <a:endParaRPr b="1"/>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p:txBody>
      </p:sp>
      <p:graphicFrame>
        <p:nvGraphicFramePr>
          <p:cNvPr id="956826667" name="Google Shape;312;p41"/>
          <p:cNvGraphicFramePr>
            <a:graphicFrameLocks xmlns:a="http://schemas.openxmlformats.org/drawingml/2006/main"/>
          </p:cNvGraphicFramePr>
          <p:nvPr/>
        </p:nvGraphicFramePr>
        <p:xfrm rot="0">
          <a:off x="1203850" y="2728600"/>
          <a:ext cx="3000000" cy="3000000"/>
        </p:xfrm>
        <a:graphic>
          <a:graphicData uri="http://schemas.openxmlformats.org/drawingml/2006/table">
            <a:tbl>
              <a:tblPr firstRow="0" firstCol="0" lastRow="0" lastCol="0" bandRow="0" bandCol="0">
                <a:tableStyleId>{F24CB3B6-2E02-4EE8-BA16-628833C20289}</a:tableStyleId>
                <a:noFill/>
              </a:tblPr>
              <a:tblGrid>
                <a:gridCol w="1225925"/>
                <a:gridCol w="1225925"/>
                <a:gridCol w="1225925"/>
                <a:gridCol w="1225925"/>
              </a:tblGrid>
              <a:tr h="453275">
                <a:tc>
                  <a:txBody>
                    <a:bodyPr/>
                    <a:p>
                      <a:pPr marL="0" lvl="0" indent="0" algn="ctr" rtl="0">
                        <a:spcBef>
                          <a:spcPts val="0"/>
                        </a:spcBef>
                        <a:spcAft>
                          <a:spcPts val="0"/>
                        </a:spcAft>
                        <a:buNone/>
                        <a:defRPr/>
                      </a:pPr>
                      <a:r>
                        <a:rPr lang="en-GB"/>
                        <a:t>Video</a:t>
                      </a:r>
                      <a:r>
                        <a:rPr lang="en-GB"/>
                        <a:t>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Video</a:t>
                      </a:r>
                      <a:r>
                        <a:rPr lang="en-GB"/>
                        <a:t> 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Video 3</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Website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r>
              <a:tr h="1230800">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r>
            </a:tbl>
          </a:graphicData>
        </a:graphic>
      </p:graphicFrame>
      <p:sp>
        <p:nvSpPr>
          <p:cNvPr id="711145440" name="Google Shape;313;p41"/>
          <p:cNvSpPr txBox="1"/>
          <p:nvPr/>
        </p:nvSpPr>
        <p:spPr bwMode="auto">
          <a:xfrm>
            <a:off x="375450" y="5797113"/>
            <a:ext cx="6809100" cy="3074100"/>
          </a:xfrm>
          <a:prstGeom prst="rect">
            <a:avLst/>
          </a:prstGeom>
          <a:solidFill>
            <a:srgbClr val="FFFFFF"/>
          </a:solidFill>
          <a:ln w="76200" cap="flat" cmpd="sng">
            <a:solidFill>
              <a:srgbClr val="D9D9D9"/>
            </a:solidFill>
            <a:prstDash val="solid"/>
            <a:round/>
            <a:headEnd type="none" w="sm" len="sm"/>
            <a:tailEnd type="none" w="sm" len="sm"/>
          </a:ln>
        </p:spPr>
        <p:txBody>
          <a:bodyPr spcFirstLastPara="1" wrap="square" lIns="64650" tIns="64650" rIns="64650" bIns="64650" anchor="t" anchorCtr="0">
            <a:noAutofit/>
          </a:bodyPr>
          <a:lstStyle/>
          <a:p>
            <a:pPr marL="0" lvl="0" indent="0" algn="l" rtl="0">
              <a:spcBef>
                <a:spcPts val="0"/>
              </a:spcBef>
              <a:spcAft>
                <a:spcPts val="0"/>
              </a:spcAft>
              <a:buNone/>
              <a:defRPr/>
            </a:pPr>
            <a:r>
              <a:rPr lang="en-GB" sz="1000" b="1"/>
              <a:t>Action Plan</a:t>
            </a:r>
            <a:endParaRPr sz="1000" b="1"/>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p:txBody>
      </p:sp>
      <p:pic>
        <p:nvPicPr>
          <p:cNvPr id="638126744" name="Google Shape;314;p41"/>
          <p:cNvPicPr/>
          <p:nvPr/>
        </p:nvPicPr>
        <p:blipFill rotWithShape="1">
          <a:blip r:embed="rId7">
            <a:alphaModFix/>
          </a:blip>
          <a:stretch/>
        </p:blipFill>
        <p:spPr bwMode="auto">
          <a:xfrm>
            <a:off x="1203845" y="3181875"/>
            <a:ext cx="1225925" cy="1219886"/>
          </a:xfrm>
          <a:prstGeom prst="rect">
            <a:avLst/>
          </a:prstGeom>
          <a:noFill/>
          <a:ln>
            <a:noFill/>
          </a:ln>
        </p:spPr>
      </p:pic>
      <p:pic>
        <p:nvPicPr>
          <p:cNvPr id="2022787273" name="Google Shape;315;p41"/>
          <p:cNvPicPr/>
          <p:nvPr/>
        </p:nvPicPr>
        <p:blipFill rotWithShape="1">
          <a:blip r:embed="rId8">
            <a:alphaModFix/>
          </a:blip>
          <a:stretch/>
        </p:blipFill>
        <p:spPr bwMode="auto">
          <a:xfrm>
            <a:off x="2429775" y="3181871"/>
            <a:ext cx="1225925" cy="1207718"/>
          </a:xfrm>
          <a:prstGeom prst="rect">
            <a:avLst/>
          </a:prstGeom>
          <a:noFill/>
          <a:ln>
            <a:noFill/>
          </a:ln>
        </p:spPr>
      </p:pic>
      <p:pic>
        <p:nvPicPr>
          <p:cNvPr id="604774542" name="Google Shape;316;p41"/>
          <p:cNvPicPr/>
          <p:nvPr/>
        </p:nvPicPr>
        <p:blipFill rotWithShape="1">
          <a:blip r:embed="rId9">
            <a:alphaModFix/>
          </a:blip>
          <a:stretch/>
        </p:blipFill>
        <p:spPr bwMode="auto">
          <a:xfrm>
            <a:off x="3655700" y="3181875"/>
            <a:ext cx="1243108" cy="1230800"/>
          </a:xfrm>
          <a:prstGeom prst="rect">
            <a:avLst/>
          </a:prstGeom>
          <a:noFill/>
          <a:ln>
            <a:noFill/>
          </a:ln>
        </p:spPr>
      </p:pic>
      <p:pic>
        <p:nvPicPr>
          <p:cNvPr id="1882737429" name="Google Shape;317;p41"/>
          <p:cNvPicPr/>
          <p:nvPr/>
        </p:nvPicPr>
        <p:blipFill rotWithShape="1">
          <a:blip r:embed="rId10">
            <a:alphaModFix/>
          </a:blip>
          <a:stretch/>
        </p:blipFill>
        <p:spPr bwMode="auto">
          <a:xfrm>
            <a:off x="4881625" y="3181875"/>
            <a:ext cx="1225925" cy="12259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majorFont>
      <a:minorFont>
        <a:latin typeface="Arial"/>
        <a:ea typeface=""/>
        <a:cs typeface=""/>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7F294950C7884E8FE4B76F01B4BA6B" ma:contentTypeVersion="11" ma:contentTypeDescription="Create a new document." ma:contentTypeScope="" ma:versionID="8365bd8d0a391930816543019944d6a6">
  <xsd:schema xmlns:xsd="http://www.w3.org/2001/XMLSchema" xmlns:xs="http://www.w3.org/2001/XMLSchema" xmlns:p="http://schemas.microsoft.com/office/2006/metadata/properties" xmlns:ns2="20b0890a-fba0-492d-b60c-f556a549982e" xmlns:ns3="a89d9e9c-ee92-411a-8d95-187c9d227507" targetNamespace="http://schemas.microsoft.com/office/2006/metadata/properties" ma:root="true" ma:fieldsID="99d4def2894b940b56ff66f83499826c" ns2:_="" ns3:_="">
    <xsd:import namespace="20b0890a-fba0-492d-b60c-f556a549982e"/>
    <xsd:import namespace="a89d9e9c-ee92-411a-8d95-187c9d227507"/>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b0890a-fba0-492d-b60c-f556a549982e"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14d2c0e-eedf-4631-bc1a-62436814b3ed"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9d9e9c-ee92-411a-8d95-187c9d22750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8dbb42c4-5597-4b5c-a98f-459a7307402e}" ma:internalName="TaxCatchAll" ma:showField="CatchAllData" ma:web="a89d9e9c-ee92-411a-8d95-187c9d2275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d9e9c-ee92-411a-8d95-187c9d227507" xsi:nil="true"/>
    <lcf76f155ced4ddcb4097134ff3c332f xmlns="20b0890a-fba0-492d-b60c-f556a549982e">
      <Terms xmlns="http://schemas.microsoft.com/office/infopath/2007/PartnerControls"/>
    </lcf76f155ced4ddcb4097134ff3c332f>
    <ReferenceId xmlns="20b0890a-fba0-492d-b60c-f556a549982e" xsi:nil="true"/>
  </documentManagement>
</p:properties>
</file>

<file path=customXml/itemProps1.xml><?xml version="1.0" encoding="utf-8"?>
<ds:datastoreItem xmlns:ds="http://schemas.openxmlformats.org/officeDocument/2006/customXml" ds:itemID="383A9C0F-7614-4DF6-84E8-4C151A8061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b0890a-fba0-492d-b60c-f556a549982e"/>
    <ds:schemaRef ds:uri="a89d9e9c-ee92-411a-8d95-187c9d227507"/>
    <ds:schemaRef ds:uri="http://schemas.microsoft.com/office/2006/documentManagement/types"/>
    <ds:schemaRef ds:uri="http://schemas.microsoft.com/office/infopath/2007/PartnerControls"/>
    <ds:schemaRef ds:uri="http://schemas.openxmlformats.org/package/2006/metadata/core-properties"/>
    <ds:schemaRef ds:uri="http://www.w3.org/2001/XMLSchema-instance"/>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F4372A-0D8F-4C08-84DD-A95268305074">
  <ds:schemaRefs>
    <ds:schemaRef ds:uri="http://schemas.microsoft.com/sharepoint/v3/contenttype/forms"/>
  </ds:schemaRefs>
</ds:datastoreItem>
</file>

<file path=customXml/itemProps3.xml><?xml version="1.0" encoding="utf-8"?>
<ds:datastoreItem xmlns:ds="http://schemas.openxmlformats.org/officeDocument/2006/customXml" ds:itemID="DCA41AD6-1A1C-4D45-86EF-303AB4A7E639">
  <ds:schemaRefs>
    <ds:schemaRef ds:uri="http://schemas.microsoft.com/office/2006/metadata/properties"/>
    <ds:schemaRef ds:uri="http://www.w3.org/2001/XMLSchema-instance"/>
    <ds:schemaRef ds:uri="http://schemas.microsoft.com/office/infopath/2007/PartnerControls"/>
    <ds:schemaRef ds:uri="a89d9e9c-ee92-411a-8d95-187c9d227507"/>
    <ds:schemaRef ds:uri="20b0890a-fba0-492d-b60c-f556a549982e"/>
  </ds:schemaRefs>
</ds:datastoreItem>
</file>

<file path=docProps/app.xml><?xml version="1.0" encoding="utf-8"?>
<Properties xmlns="http://schemas.openxmlformats.org/officeDocument/2006/extended-properties" xmlns:vt="http://schemas.openxmlformats.org/officeDocument/2006/docPropsVTypes">
  <TotalTime>0</TotalTime>
  <Words>0</Words>
  <Application>ONLYOFFICE/10.0.0.169</Application>
  <PresentationFormat>On-screen Show (4:3)</PresentationFormat>
  <Paragraphs>0</Paragraphs>
  <Slides>29</Slides>
  <Notes>29</Notes>
  <HiddenSlides>0</HiddenSlides>
  <MMClips>2</MMClips>
  <ScaleCrop>0</ScaleCrop>
  <HeadingPairs>
    <vt:vector size="4" baseType="variant">
      <vt:variant>
        <vt:lpstr>Theme</vt:lpstr>
      </vt:variant>
      <vt:variant>
        <vt:i4>1</vt:i4>
      </vt:variant>
      <vt:variant>
        <vt:lpstr>Slide Titles</vt:lpstr>
      </vt:variant>
      <vt:variant>
        <vt:i4>29</vt:i4>
      </vt:variant>
    </vt:vector>
  </HeadingPairs>
  <TitlesOfParts>
    <vt:vector size="3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modified xsi:type="dcterms:W3CDTF">2026-10-22T12:46:36Z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0x010100E67F294950C7884E8FE4B76F01B4BA6B</vt:lpwstr>
  </property>
</Properties>
</file>