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21.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5.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20.xml" ContentType="application/vnd.openxmlformats-officedocument.presentationml.notesSlide+xml"/>
  <Override PartName="/ppt/notesSlides/notesSlide10.xml" ContentType="application/vnd.openxmlformats-officedocument.presentationml.notesSlide+xml"/>
  <Override PartName="/ppt/slides/slide21.xml" ContentType="application/vnd.openxmlformats-officedocument.presentationml.slide+xml"/>
  <Override PartName="/ppt/slideLayouts/slideLayout1.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Layouts/slideLayout9.xml" ContentType="application/vnd.openxmlformats-officedocument.presentationml.slideLayout+xml"/>
  <Override PartName="/ppt/slides/slide3.xml" ContentType="application/vnd.openxmlformats-officedocument.presentationml.slide+xml"/>
  <Override PartName="/ppt/notesSlides/notesSlide7.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viewProps.xml" ContentType="application/vnd.openxmlformats-officedocument.presentationml.viewProps+xml"/>
  <Override PartName="/ppt/slideMasters/slideMaster1.xml" ContentType="application/vnd.openxmlformats-officedocument.presentationml.slideMaster+xml"/>
  <Override PartName="/ppt/slides/slide2.xml" ContentType="application/vnd.openxmlformats-officedocument.presentationml.slide+xml"/>
  <Override PartName="/docProps/core.xml" ContentType="application/vnd.openxmlformats-package.core-properties+xml"/>
  <Override PartName="/ppt/notesSlides/notesSlide19.xml" ContentType="application/vnd.openxmlformats-officedocument.presentationml.notesSlide+xml"/>
  <Override PartName="/customXml/itemProps3.xml" ContentType="application/vnd.openxmlformats-officedocument.customXmlProperties+xml"/>
  <Override PartName="/ppt/notesSlides/notesSlide11.xml" ContentType="application/vnd.openxmlformats-officedocument.presentationml.notesSlide+xml"/>
  <Override PartName="/ppt/slides/slide10.xml" ContentType="application/vnd.openxmlformats-officedocument.presentationml.slide+xml"/>
  <Override PartName="/docProps/app.xml" ContentType="application/vnd.openxmlformats-officedocument.extended-properties+xml"/>
  <Override PartName="/ppt/notesSlides/notesSlide4.xml" ContentType="application/vnd.openxmlformats-officedocument.presentationml.notesSlide+xml"/>
  <Override PartName="/ppt/tableStyles.xml" ContentType="application/vnd.openxmlformats-officedocument.presentationml.tableStyles+xml"/>
  <Override PartName="/ppt/slideLayouts/slideLayout8.xml" ContentType="application/vnd.openxmlformats-officedocument.presentationml.slideLayout+xml"/>
  <Override PartName="/docProps/custom.xml" ContentType="application/vnd.openxmlformats-officedocument.custom-properties+xml"/>
  <Override PartName="/ppt/slides/slide17.xml" ContentType="application/vnd.openxmlformats-officedocument.presentationml.slide+xml"/>
  <Override PartName="/ppt/slides/slide1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ppt/notesSlides/notesSlide6.xml" ContentType="application/vnd.openxmlformats-officedocument.presentationml.notesSlide+xml"/>
  <Override PartName="/ppt/slides/slide4.xml" ContentType="application/vnd.openxmlformats-officedocument.presentationml.slide+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5.xml" ContentType="application/vnd.openxmlformats-officedocument.presentationml.slideLayout+xml"/>
  <Override PartName="/ppt/slides/slide7.xml" ContentType="application/vnd.openxmlformats-officedocument.presentationml.slide+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19.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embedTrueTypeFonts="1" saveSubsetFonts="1" strictFirstAndLastChars="0">
  <p:sldMasterIdLst>
    <p:sldMasterId id="2147483648" r:id="rId4"/>
  </p:sldMasterIdLst>
  <p:notesMasterIdLst>
    <p:notesMasterId r:id="rId28"/>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7560000" cy="10692000"/>
  <p:notesSz cx="6858000" cy="9144000"/>
  <p:custDataLst>
    <p:custData r:id="rId1"/>
    <p:custData r:id="rId2"/>
    <p:custData r:id="rId3"/>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F4344A0D-63D3-4623-9648-41191C759690}">
  <a:tblStyle styleId="{63040797-A219-4A2E-ABFE-67BBE4557044}" styleName="Table_1">
    <a:wholeTbl>
      <a:tcTxStyle>
        <a:srgbClr val="000000"/>
      </a:tcTxStyle>
      <a:tcStyle>
        <a:tcBdr>
          <a:left>
            <a:ln w="9525">
              <a:solidFill>
                <a:srgbClr val="9E9E9E"/>
              </a:solidFill>
            </a:ln>
          </a:left>
          <a:right>
            <a:ln w="9525">
              <a:solidFill>
                <a:srgbClr val="9E9E9E"/>
              </a:solidFill>
            </a:ln>
          </a:right>
          <a:top>
            <a:ln w="9525">
              <a:solidFill>
                <a:srgbClr val="9E9E9E"/>
              </a:solidFill>
            </a:ln>
          </a:top>
          <a:bottom>
            <a:ln w="9525">
              <a:solidFill>
                <a:srgbClr val="9E9E9E"/>
              </a:solidFill>
            </a:ln>
          </a:bottom>
          <a:insideH>
            <a:ln w="9525">
              <a:solidFill>
                <a:srgbClr val="9E9E9E"/>
              </a:solidFill>
            </a:ln>
          </a:insideH>
          <a:insideV>
            <a:ln w="9525">
              <a:solidFill>
                <a:srgbClr val="9E9E9E"/>
              </a:solidFill>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F4344A0D-63D3-4623-9648-41191C759690}" styleName="Table_0">
    <a:wholeTbl>
      <a:tcTxStyle>
        <a:srgbClr val="000000"/>
      </a:tcTxStyle>
      <a:tcStyle>
        <a:tcBdr>
          <a:left>
            <a:ln w="12700">
              <a:noFill/>
            </a:ln>
          </a:left>
          <a:right>
            <a:ln w="12700">
              <a:noFill/>
            </a:ln>
          </a:right>
          <a:top>
            <a:ln w="12700">
              <a:noFill/>
            </a:ln>
          </a:top>
          <a:bottom>
            <a:ln w="12700">
              <a:noFill/>
            </a:ln>
          </a:bottom>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pos="3368" orient="horz"/>
        <p:guide pos="2381"/>
      </p:guideLst>
    </p:cSldViewPr>
  </p:slideViewPr>
</p:viewPr>
</file>

<file path=ppt/_rels/presentation.xml.rels><?xml version="1.0" encoding="UTF-8" standalone="yes"?><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theme" Target="theme/theme1.xml"/><Relationship Id="rId6" Type="http://schemas.openxmlformats.org/officeDocument/2006/relationships/theme" Target="theme/theme2.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notesMaster" Target="notesMasters/notesMaster1.xml"/><Relationship Id="rId29" Type="http://schemas.openxmlformats.org/officeDocument/2006/relationships/presProps" Target="presProps.xml" /><Relationship Id="rId30" Type="http://schemas.openxmlformats.org/officeDocument/2006/relationships/tableStyles" Target="tableStyles.xml" /><Relationship Id="rId31"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spTree>
      <p:nvGrpSpPr>
        <p:cNvPr id="1" name=""/>
        <p:cNvGrpSpPr/>
        <p:nvPr/>
      </p:nvGrpSpPr>
      <p:grpSpPr bwMode="auto">
        <a:xfrm>
          <a:off x="0" y="0"/>
          <a:ext cx="0" cy="0"/>
          <a:chOff x="0" y="0"/>
          <a:chExt cx="0" cy="0"/>
        </a:xfrm>
      </p:grpSpPr>
      <p:sp>
        <p:nvSpPr>
          <p:cNvPr id="2101313812" name="Google Shape;3;n"/>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2684222" name="Google Shape;4;n"/>
          <p:cNvSpPr txBox="1"/>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pPr>
              <a:defRPr/>
            </a:pPr>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47041467" name="Google Shape;51;p: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350898461" name="Google Shape;52;p: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50382004" name="Google Shape;67;g119d85e8fad_0_38: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767412706" name="Google Shape;68;g119d85e8fad_0_38: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37174391" name="Google Shape;76;g11d22cee656_0_3: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508605169" name="Google Shape;77;g11d22cee656_0_3: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176736" name="Google Shape;87;g128b376200b_0_19: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935460141" name="Google Shape;88;g128b376200b_0_19: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14494414" name="Google Shape;94;g133daa6f9a8_0_0: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258590850" name="Google Shape;95;g133daa6f9a8_0_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98274654" name="Google Shape;102;g11d22cee656_0_13: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000391352" name="Google Shape;103;g11d22cee656_0_13: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46413890" name="Google Shape;112;g133daa6f9a8_0_17: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102671577" name="Google Shape;113;g133daa6f9a8_0_17: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131593347" name="Google Shape;122;g133daa6f9a8_0_28: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722281148" name="Google Shape;123;g133daa6f9a8_0_28: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23063399" name="Google Shape;132;g133daa6f9a8_0_41: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784216839" name="Google Shape;133;g133daa6f9a8_0_41: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51834852" name="Google Shape;140;g133daa6f9a8_0_49: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19113530" name="Google Shape;141;g133daa6f9a8_0_49: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14521375" name="Google Shape;147;g133daa6f9a8_0_58: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607693079" name="Google Shape;148;g133daa6f9a8_0_58: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04891058" name="Google Shape;154;g133daa6f9a8_0_65: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41709132" name="Google Shape;155;g133daa6f9a8_0_65: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89144720" name="Google Shape;162;g128b376200b_0_268: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503100211" name="Google Shape;163;g128b376200b_0_268: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70372653" name="Google Shape;171;g133daa6f9a8_0_76: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83931636" name="Google Shape;172;g133daa6f9a8_0_76: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54577540" name="Google Shape;180;g132c496de42_0_5: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767473825" name="Google Shape;181;g132c496de42_0_5: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78490913" name="Google Shape;188;g133daa6f9a8_0_89: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9323471" name="Google Shape;189;g133daa6f9a8_0_89: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13980409" name="Google Shape;198;g133daa6f9a8_0_99: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595300943" name="Google Shape;199;g133daa6f9a8_0_99: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21061029" name="Google Shape;206;g133daa6f9a8_0_106: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339396973" name="Google Shape;207;g133daa6f9a8_0_106: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2078084" name="Google Shape;214;g133daa6f9a8_0_114: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80490619" name="Google Shape;215;g133daa6f9a8_0_114: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57063104" name="Google Shape;221;gf57273276f_0_0: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37283774" name="Google Shape;222;gf57273276f_0_0: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84528798" name="Google Shape;227;gf57273276f_0_6:notes"/>
          <p:cNvSpPr/>
          <p:nvPr>
            <p:ph type="sldImg" idx="2"/>
          </p:nvPr>
        </p:nvSpPr>
        <p:spPr bwMode="auto">
          <a:xfrm>
            <a:off x="2217050" y="685800"/>
            <a:ext cx="24246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71303783" name="Google Shape;228;gf57273276f_0_6:notes"/>
          <p:cNvSpPr txBox="1"/>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slide" preserve="0" showMasterPhAnim="0" showMasterSp="1" type="title" userDrawn="1">
  <p:cSld name="TITLE">
    <p:spTree>
      <p:nvGrpSpPr>
        <p:cNvPr id="1" name=""/>
        <p:cNvGrpSpPr/>
        <p:nvPr/>
      </p:nvGrpSpPr>
      <p:grpSpPr bwMode="auto">
        <a:xfrm>
          <a:off x="0" y="0"/>
          <a:ext cx="0" cy="0"/>
          <a:chOff x="0" y="0"/>
          <a:chExt cx="0" cy="0"/>
        </a:xfrm>
      </p:grpSpPr>
      <p:sp>
        <p:nvSpPr>
          <p:cNvPr id="226018581" name="Google Shape;10;p2"/>
          <p:cNvSpPr txBox="1"/>
          <p:nvPr>
            <p:ph type="ctrTitle"/>
          </p:nvPr>
        </p:nvSpPr>
        <p:spPr bwMode="auto">
          <a:xfrm>
            <a:off x="257712" y="1547778"/>
            <a:ext cx="7044600" cy="42669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pPr>
              <a:defRPr/>
            </a:pPr>
            <a:endParaRPr/>
          </a:p>
        </p:txBody>
      </p:sp>
      <p:sp>
        <p:nvSpPr>
          <p:cNvPr id="778198602" name="Google Shape;11;p2"/>
          <p:cNvSpPr txBox="1"/>
          <p:nvPr>
            <p:ph type="subTitle" idx="1"/>
          </p:nvPr>
        </p:nvSpPr>
        <p:spPr bwMode="auto">
          <a:xfrm>
            <a:off x="257705" y="5891409"/>
            <a:ext cx="7044600" cy="1647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pPr>
              <a:defRPr/>
            </a:pPr>
            <a:endParaRPr/>
          </a:p>
        </p:txBody>
      </p:sp>
      <p:sp>
        <p:nvSpPr>
          <p:cNvPr id="1695969585" name="Google Shape;12;p2"/>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header" preserve="0" showMasterPhAnim="0" showMasterSp="1" type="secHead" userDrawn="1">
  <p:cSld name="SECTION_HEADER">
    <p:spTree>
      <p:nvGrpSpPr>
        <p:cNvPr id="1" name=""/>
        <p:cNvGrpSpPr/>
        <p:nvPr/>
      </p:nvGrpSpPr>
      <p:grpSpPr bwMode="auto">
        <a:xfrm>
          <a:off x="0" y="0"/>
          <a:ext cx="0" cy="0"/>
          <a:chOff x="0" y="0"/>
          <a:chExt cx="0" cy="0"/>
        </a:xfrm>
      </p:grpSpPr>
      <p:sp>
        <p:nvSpPr>
          <p:cNvPr id="2102960863" name="Google Shape;14;p3"/>
          <p:cNvSpPr txBox="1"/>
          <p:nvPr>
            <p:ph type="title"/>
          </p:nvPr>
        </p:nvSpPr>
        <p:spPr bwMode="auto">
          <a:xfrm>
            <a:off x="257705" y="4471058"/>
            <a:ext cx="7044600" cy="17499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pPr>
              <a:defRPr/>
            </a:pPr>
            <a:endParaRPr/>
          </a:p>
        </p:txBody>
      </p:sp>
      <p:sp>
        <p:nvSpPr>
          <p:cNvPr id="1071780529" name="Google Shape;15;p3"/>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body" preserve="0" showMasterPhAnim="0" showMasterSp="1" type="tx" userDrawn="1">
  <p:cSld name="TITLE_AND_BODY">
    <p:spTree>
      <p:nvGrpSpPr>
        <p:cNvPr id="1" name=""/>
        <p:cNvGrpSpPr/>
        <p:nvPr/>
      </p:nvGrpSpPr>
      <p:grpSpPr bwMode="auto">
        <a:xfrm>
          <a:off x="0" y="0"/>
          <a:ext cx="0" cy="0"/>
          <a:chOff x="0" y="0"/>
          <a:chExt cx="0" cy="0"/>
        </a:xfrm>
      </p:grpSpPr>
      <p:sp>
        <p:nvSpPr>
          <p:cNvPr id="1278553246" name="Google Shape;17;p4"/>
          <p:cNvSpPr txBox="1"/>
          <p:nvPr>
            <p:ph type="title"/>
          </p:nvPr>
        </p:nvSpPr>
        <p:spPr bwMode="auto">
          <a:xfrm>
            <a:off x="257705" y="925091"/>
            <a:ext cx="7044600" cy="11904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defRPr/>
            </a:pPr>
            <a:endParaRPr/>
          </a:p>
        </p:txBody>
      </p:sp>
      <p:sp>
        <p:nvSpPr>
          <p:cNvPr id="2134420032" name="Google Shape;18;p4"/>
          <p:cNvSpPr txBox="1"/>
          <p:nvPr>
            <p:ph type="body" idx="1"/>
          </p:nvPr>
        </p:nvSpPr>
        <p:spPr bwMode="auto">
          <a:xfrm>
            <a:off x="257705" y="2395696"/>
            <a:ext cx="7044600" cy="71019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a:defRPr/>
            </a:pPr>
            <a:endParaRPr/>
          </a:p>
        </p:txBody>
      </p:sp>
      <p:sp>
        <p:nvSpPr>
          <p:cNvPr id="529533296" name="Google Shape;19;p4"/>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two columns" preserve="0" showMasterPhAnim="0" showMasterSp="1" type="twoColTx" userDrawn="1">
  <p:cSld name="TITLE_AND_TWO_COLUMNS">
    <p:spTree>
      <p:nvGrpSpPr>
        <p:cNvPr id="1" name=""/>
        <p:cNvGrpSpPr/>
        <p:nvPr/>
      </p:nvGrpSpPr>
      <p:grpSpPr bwMode="auto">
        <a:xfrm>
          <a:off x="0" y="0"/>
          <a:ext cx="0" cy="0"/>
          <a:chOff x="0" y="0"/>
          <a:chExt cx="0" cy="0"/>
        </a:xfrm>
      </p:grpSpPr>
      <p:sp>
        <p:nvSpPr>
          <p:cNvPr id="148159752" name="Google Shape;21;p5"/>
          <p:cNvSpPr txBox="1"/>
          <p:nvPr>
            <p:ph type="title"/>
          </p:nvPr>
        </p:nvSpPr>
        <p:spPr bwMode="auto">
          <a:xfrm>
            <a:off x="257705" y="925091"/>
            <a:ext cx="7044600" cy="11904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defRPr/>
            </a:pPr>
            <a:endParaRPr/>
          </a:p>
        </p:txBody>
      </p:sp>
      <p:sp>
        <p:nvSpPr>
          <p:cNvPr id="1954829079" name="Google Shape;22;p5"/>
          <p:cNvSpPr txBox="1"/>
          <p:nvPr>
            <p:ph type="body" idx="1"/>
          </p:nvPr>
        </p:nvSpPr>
        <p:spPr bwMode="auto">
          <a:xfrm>
            <a:off x="257705" y="2395696"/>
            <a:ext cx="3306900" cy="7101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a:defRPr/>
            </a:pPr>
            <a:endParaRPr/>
          </a:p>
        </p:txBody>
      </p:sp>
      <p:sp>
        <p:nvSpPr>
          <p:cNvPr id="312578996" name="Google Shape;23;p5"/>
          <p:cNvSpPr txBox="1"/>
          <p:nvPr>
            <p:ph type="body" idx="2"/>
          </p:nvPr>
        </p:nvSpPr>
        <p:spPr bwMode="auto">
          <a:xfrm>
            <a:off x="3995291" y="2395696"/>
            <a:ext cx="3306900" cy="7101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a:defRPr/>
            </a:pPr>
            <a:endParaRPr/>
          </a:p>
        </p:txBody>
      </p:sp>
      <p:sp>
        <p:nvSpPr>
          <p:cNvPr id="1070654672" name="Google Shape;24;p5"/>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only" preserve="0" showMasterPhAnim="0" showMasterSp="1" type="titleOnly" userDrawn="1">
  <p:cSld name="TITLE_ONLY">
    <p:spTree>
      <p:nvGrpSpPr>
        <p:cNvPr id="1" name=""/>
        <p:cNvGrpSpPr/>
        <p:nvPr/>
      </p:nvGrpSpPr>
      <p:grpSpPr bwMode="auto">
        <a:xfrm>
          <a:off x="0" y="0"/>
          <a:ext cx="0" cy="0"/>
          <a:chOff x="0" y="0"/>
          <a:chExt cx="0" cy="0"/>
        </a:xfrm>
      </p:grpSpPr>
      <p:sp>
        <p:nvSpPr>
          <p:cNvPr id="417842151" name="Google Shape;26;p6"/>
          <p:cNvSpPr txBox="1"/>
          <p:nvPr>
            <p:ph type="title"/>
          </p:nvPr>
        </p:nvSpPr>
        <p:spPr bwMode="auto">
          <a:xfrm>
            <a:off x="257705" y="925091"/>
            <a:ext cx="7044600" cy="11904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defRPr/>
            </a:pPr>
            <a:endParaRPr/>
          </a:p>
        </p:txBody>
      </p:sp>
      <p:sp>
        <p:nvSpPr>
          <p:cNvPr id="1182067012" name="Google Shape;27;p6"/>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One column text" preserve="0" showMasterPhAnim="0" showMasterSp="1" userDrawn="1">
  <p:cSld name="ONE_COLUMN_TEXT">
    <p:spTree>
      <p:nvGrpSpPr>
        <p:cNvPr id="1" name=""/>
        <p:cNvGrpSpPr/>
        <p:nvPr/>
      </p:nvGrpSpPr>
      <p:grpSpPr bwMode="auto">
        <a:xfrm>
          <a:off x="0" y="0"/>
          <a:ext cx="0" cy="0"/>
          <a:chOff x="0" y="0"/>
          <a:chExt cx="0" cy="0"/>
        </a:xfrm>
      </p:grpSpPr>
      <p:sp>
        <p:nvSpPr>
          <p:cNvPr id="720427109" name="Google Shape;29;p7"/>
          <p:cNvSpPr txBox="1"/>
          <p:nvPr>
            <p:ph type="title"/>
          </p:nvPr>
        </p:nvSpPr>
        <p:spPr bwMode="auto">
          <a:xfrm>
            <a:off x="257705" y="1154948"/>
            <a:ext cx="2321699" cy="15708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pPr>
              <a:defRPr/>
            </a:pPr>
            <a:endParaRPr/>
          </a:p>
        </p:txBody>
      </p:sp>
      <p:sp>
        <p:nvSpPr>
          <p:cNvPr id="919238910" name="Google Shape;30;p7"/>
          <p:cNvSpPr txBox="1"/>
          <p:nvPr>
            <p:ph type="body" idx="1"/>
          </p:nvPr>
        </p:nvSpPr>
        <p:spPr bwMode="auto">
          <a:xfrm>
            <a:off x="257705" y="2888617"/>
            <a:ext cx="2321699" cy="66090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a:defRPr/>
            </a:pPr>
            <a:endParaRPr/>
          </a:p>
        </p:txBody>
      </p:sp>
      <p:sp>
        <p:nvSpPr>
          <p:cNvPr id="855415835" name="Google Shape;31;p7"/>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Main point" preserve="0" showMasterPhAnim="0" showMasterSp="1" userDrawn="1">
  <p:cSld name="MAIN_POINT">
    <p:spTree>
      <p:nvGrpSpPr>
        <p:cNvPr id="1" name=""/>
        <p:cNvGrpSpPr/>
        <p:nvPr/>
      </p:nvGrpSpPr>
      <p:grpSpPr bwMode="auto">
        <a:xfrm>
          <a:off x="0" y="0"/>
          <a:ext cx="0" cy="0"/>
          <a:chOff x="0" y="0"/>
          <a:chExt cx="0" cy="0"/>
        </a:xfrm>
      </p:grpSpPr>
      <p:sp>
        <p:nvSpPr>
          <p:cNvPr id="1937792478" name="Google Shape;33;p8"/>
          <p:cNvSpPr txBox="1"/>
          <p:nvPr>
            <p:ph type="title"/>
          </p:nvPr>
        </p:nvSpPr>
        <p:spPr bwMode="auto">
          <a:xfrm>
            <a:off x="405325" y="935745"/>
            <a:ext cx="5264700" cy="8503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pPr>
              <a:defRPr/>
            </a:pPr>
            <a:endParaRPr/>
          </a:p>
        </p:txBody>
      </p:sp>
      <p:sp>
        <p:nvSpPr>
          <p:cNvPr id="1926252370" name="Google Shape;34;p8"/>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title and description" preserve="0" showMasterPhAnim="0" showMasterSp="1" userDrawn="1">
  <p:cSld name="SECTION_TITLE_AND_DESCRIPTION">
    <p:spTree>
      <p:nvGrpSpPr>
        <p:cNvPr id="1" name=""/>
        <p:cNvGrpSpPr/>
        <p:nvPr/>
      </p:nvGrpSpPr>
      <p:grpSpPr bwMode="auto">
        <a:xfrm>
          <a:off x="0" y="0"/>
          <a:ext cx="0" cy="0"/>
          <a:chOff x="0" y="0"/>
          <a:chExt cx="0" cy="0"/>
        </a:xfrm>
      </p:grpSpPr>
      <p:sp>
        <p:nvSpPr>
          <p:cNvPr id="783432403" name="Google Shape;36;p9"/>
          <p:cNvSpPr/>
          <p:nvPr/>
        </p:nvSpPr>
        <p:spPr bwMode="auto">
          <a:xfrm>
            <a:off x="3780000" y="-260"/>
            <a:ext cx="3780000" cy="10692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680069696" name="Google Shape;37;p9"/>
          <p:cNvSpPr txBox="1"/>
          <p:nvPr>
            <p:ph type="title"/>
          </p:nvPr>
        </p:nvSpPr>
        <p:spPr bwMode="auto">
          <a:xfrm>
            <a:off x="219508" y="2563450"/>
            <a:ext cx="3344400" cy="3081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pPr>
              <a:defRPr/>
            </a:pPr>
            <a:endParaRPr/>
          </a:p>
        </p:txBody>
      </p:sp>
      <p:sp>
        <p:nvSpPr>
          <p:cNvPr id="944324051" name="Google Shape;38;p9"/>
          <p:cNvSpPr txBox="1"/>
          <p:nvPr>
            <p:ph type="subTitle" idx="1"/>
          </p:nvPr>
        </p:nvSpPr>
        <p:spPr bwMode="auto">
          <a:xfrm>
            <a:off x="219508" y="5826865"/>
            <a:ext cx="3344400" cy="25674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pPr>
              <a:defRPr/>
            </a:pPr>
            <a:endParaRPr/>
          </a:p>
        </p:txBody>
      </p:sp>
      <p:sp>
        <p:nvSpPr>
          <p:cNvPr id="101164282" name="Google Shape;39;p9"/>
          <p:cNvSpPr txBox="1"/>
          <p:nvPr>
            <p:ph type="body" idx="2"/>
          </p:nvPr>
        </p:nvSpPr>
        <p:spPr bwMode="auto">
          <a:xfrm>
            <a:off x="4083839" y="1505164"/>
            <a:ext cx="3172199" cy="76812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a:defRPr/>
            </a:pPr>
            <a:endParaRPr/>
          </a:p>
        </p:txBody>
      </p:sp>
      <p:sp>
        <p:nvSpPr>
          <p:cNvPr id="410830897" name="Google Shape;40;p9"/>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aption" preserve="0" showMasterPhAnim="0" showMasterSp="1" userDrawn="1">
  <p:cSld name="CAPTION_ONLY">
    <p:spTree>
      <p:nvGrpSpPr>
        <p:cNvPr id="1" name=""/>
        <p:cNvGrpSpPr/>
        <p:nvPr/>
      </p:nvGrpSpPr>
      <p:grpSpPr bwMode="auto">
        <a:xfrm>
          <a:off x="0" y="0"/>
          <a:ext cx="0" cy="0"/>
          <a:chOff x="0" y="0"/>
          <a:chExt cx="0" cy="0"/>
        </a:xfrm>
      </p:grpSpPr>
      <p:sp>
        <p:nvSpPr>
          <p:cNvPr id="737470926" name="Google Shape;42;p10"/>
          <p:cNvSpPr txBox="1"/>
          <p:nvPr>
            <p:ph type="body" idx="1"/>
          </p:nvPr>
        </p:nvSpPr>
        <p:spPr bwMode="auto">
          <a:xfrm>
            <a:off x="257705" y="8794266"/>
            <a:ext cx="4959600" cy="12579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pPr>
              <a:defRPr/>
            </a:pPr>
            <a:endParaRPr/>
          </a:p>
        </p:txBody>
      </p:sp>
      <p:sp>
        <p:nvSpPr>
          <p:cNvPr id="202986002" name="Google Shape;43;p10"/>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ig number" preserve="0" showMasterPhAnim="0" showMasterSp="1" userDrawn="1">
  <p:cSld name="BIG_NUMBER">
    <p:spTree>
      <p:nvGrpSpPr>
        <p:cNvPr id="1" name=""/>
        <p:cNvGrpSpPr/>
        <p:nvPr/>
      </p:nvGrpSpPr>
      <p:grpSpPr bwMode="auto">
        <a:xfrm>
          <a:off x="0" y="0"/>
          <a:ext cx="0" cy="0"/>
          <a:chOff x="0" y="0"/>
          <a:chExt cx="0" cy="0"/>
        </a:xfrm>
      </p:grpSpPr>
      <p:sp>
        <p:nvSpPr>
          <p:cNvPr id="659655063" name="Google Shape;45;p11"/>
          <p:cNvSpPr txBox="1"/>
          <p:nvPr>
            <p:ph type="title" hasCustomPrompt="1"/>
          </p:nvPr>
        </p:nvSpPr>
        <p:spPr bwMode="auto">
          <a:xfrm>
            <a:off x="257705" y="2299346"/>
            <a:ext cx="7044600" cy="4081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pPr>
              <a:defRPr/>
            </a:pPr>
            <a:r>
              <a:rPr/>
              <a:t>xx%</a:t>
            </a:r>
            <a:endParaRPr/>
          </a:p>
        </p:txBody>
      </p:sp>
      <p:sp>
        <p:nvSpPr>
          <p:cNvPr id="293495212" name="Google Shape;46;p11"/>
          <p:cNvSpPr txBox="1"/>
          <p:nvPr>
            <p:ph type="body" idx="1"/>
          </p:nvPr>
        </p:nvSpPr>
        <p:spPr bwMode="auto">
          <a:xfrm>
            <a:off x="257705" y="6552657"/>
            <a:ext cx="7044600" cy="27039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pPr>
              <a:defRPr/>
            </a:pPr>
            <a:endParaRPr/>
          </a:p>
        </p:txBody>
      </p:sp>
      <p:sp>
        <p:nvSpPr>
          <p:cNvPr id="1052312496" name="Google Shape;47;p11"/>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lank" preserve="0" showMasterPhAnim="0" showMasterSp="1" type="blank" userDrawn="1">
  <p:cSld name="BLANK">
    <p:spTree>
      <p:nvGrpSpPr>
        <p:cNvPr id="1" name=""/>
        <p:cNvGrpSpPr/>
        <p:nvPr/>
      </p:nvGrpSpPr>
      <p:grpSpPr bwMode="auto">
        <a:xfrm>
          <a:off x="0" y="0"/>
          <a:ext cx="0" cy="0"/>
          <a:chOff x="0" y="0"/>
          <a:chExt cx="0" cy="0"/>
        </a:xfrm>
      </p:grpSpPr>
      <p:sp>
        <p:nvSpPr>
          <p:cNvPr id="1686363228" name="Google Shape;49;p12"/>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GB"/>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simple-light-2">
    <p:bg>
      <p:bgPr shadeToTitle="0">
        <a:solidFill>
          <a:schemeClr val="lt1"/>
        </a:solidFill>
      </p:bgPr>
    </p:bg>
    <p:spTree>
      <p:nvGrpSpPr>
        <p:cNvPr id="1" name=""/>
        <p:cNvGrpSpPr/>
        <p:nvPr/>
      </p:nvGrpSpPr>
      <p:grpSpPr bwMode="auto">
        <a:xfrm>
          <a:off x="0" y="0"/>
          <a:ext cx="0" cy="0"/>
          <a:chOff x="0" y="0"/>
          <a:chExt cx="0" cy="0"/>
        </a:xfrm>
      </p:grpSpPr>
      <p:sp>
        <p:nvSpPr>
          <p:cNvPr id="334348999" name="Google Shape;6;p1"/>
          <p:cNvSpPr txBox="1"/>
          <p:nvPr>
            <p:ph type="title"/>
          </p:nvPr>
        </p:nvSpPr>
        <p:spPr bwMode="auto">
          <a:xfrm>
            <a:off x="257705" y="925091"/>
            <a:ext cx="7044600" cy="1190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pPr>
              <a:defRPr/>
            </a:pPr>
            <a:endParaRPr/>
          </a:p>
        </p:txBody>
      </p:sp>
      <p:sp>
        <p:nvSpPr>
          <p:cNvPr id="1981434515" name="Google Shape;7;p1"/>
          <p:cNvSpPr txBox="1"/>
          <p:nvPr>
            <p:ph type="body" idx="1"/>
          </p:nvPr>
        </p:nvSpPr>
        <p:spPr bwMode="auto">
          <a:xfrm>
            <a:off x="257705" y="2395696"/>
            <a:ext cx="7044600" cy="7101900"/>
          </a:xfrm>
          <a:prstGeom prst="rect">
            <a:avLst/>
          </a:prstGeom>
          <a:noFill/>
          <a:ln>
            <a:noFill/>
          </a:ln>
        </p:spPr>
        <p:txBody>
          <a:bodyPr spcFirstLastPara="1" wrap="square" lIns="91425" tIns="91425" rIns="91425" bIns="91425" anchor="t" anchorCtr="0">
            <a:normAutofit/>
          </a:bodyPr>
          <a:lstStyle>
            <a:lvl1pPr marL="457200" lvl="0" indent="-342900">
              <a:lnSpc>
                <a:spcPct val="114999"/>
              </a:lnSpc>
              <a:spcBef>
                <a:spcPts val="0"/>
              </a:spcBef>
              <a:spcAft>
                <a:spcPts val="0"/>
              </a:spcAft>
              <a:buClr>
                <a:schemeClr val="dk2"/>
              </a:buClr>
              <a:buSzPts val="1800"/>
              <a:buChar char="●"/>
              <a:defRPr sz="1800">
                <a:solidFill>
                  <a:schemeClr val="dk2"/>
                </a:solidFill>
              </a:defRPr>
            </a:lvl1pPr>
            <a:lvl2pPr marL="914400" lvl="1" indent="-317500">
              <a:lnSpc>
                <a:spcPct val="114999"/>
              </a:lnSpc>
              <a:spcBef>
                <a:spcPts val="0"/>
              </a:spcBef>
              <a:spcAft>
                <a:spcPts val="0"/>
              </a:spcAft>
              <a:buClr>
                <a:schemeClr val="dk2"/>
              </a:buClr>
              <a:buSzPts val="1400"/>
              <a:buChar char="○"/>
              <a:defRPr>
                <a:solidFill>
                  <a:schemeClr val="dk2"/>
                </a:solidFill>
              </a:defRPr>
            </a:lvl2pPr>
            <a:lvl3pPr marL="1371600" lvl="2" indent="-317500">
              <a:lnSpc>
                <a:spcPct val="114999"/>
              </a:lnSpc>
              <a:spcBef>
                <a:spcPts val="0"/>
              </a:spcBef>
              <a:spcAft>
                <a:spcPts val="0"/>
              </a:spcAft>
              <a:buClr>
                <a:schemeClr val="dk2"/>
              </a:buClr>
              <a:buSzPts val="1400"/>
              <a:buChar char="■"/>
              <a:defRPr>
                <a:solidFill>
                  <a:schemeClr val="dk2"/>
                </a:solidFill>
              </a:defRPr>
            </a:lvl3pPr>
            <a:lvl4pPr marL="1828800" lvl="3" indent="-317500">
              <a:lnSpc>
                <a:spcPct val="114999"/>
              </a:lnSpc>
              <a:spcBef>
                <a:spcPts val="0"/>
              </a:spcBef>
              <a:spcAft>
                <a:spcPts val="0"/>
              </a:spcAft>
              <a:buClr>
                <a:schemeClr val="dk2"/>
              </a:buClr>
              <a:buSzPts val="1400"/>
              <a:buChar char="●"/>
              <a:defRPr>
                <a:solidFill>
                  <a:schemeClr val="dk2"/>
                </a:solidFill>
              </a:defRPr>
            </a:lvl4pPr>
            <a:lvl5pPr marL="2286000" lvl="4" indent="-317500">
              <a:lnSpc>
                <a:spcPct val="114999"/>
              </a:lnSpc>
              <a:spcBef>
                <a:spcPts val="0"/>
              </a:spcBef>
              <a:spcAft>
                <a:spcPts val="0"/>
              </a:spcAft>
              <a:buClr>
                <a:schemeClr val="dk2"/>
              </a:buClr>
              <a:buSzPts val="1400"/>
              <a:buChar char="○"/>
              <a:defRPr>
                <a:solidFill>
                  <a:schemeClr val="dk2"/>
                </a:solidFill>
              </a:defRPr>
            </a:lvl5pPr>
            <a:lvl6pPr marL="2743200" lvl="5" indent="-317500">
              <a:lnSpc>
                <a:spcPct val="114999"/>
              </a:lnSpc>
              <a:spcBef>
                <a:spcPts val="0"/>
              </a:spcBef>
              <a:spcAft>
                <a:spcPts val="0"/>
              </a:spcAft>
              <a:buClr>
                <a:schemeClr val="dk2"/>
              </a:buClr>
              <a:buSzPts val="1400"/>
              <a:buChar char="■"/>
              <a:defRPr>
                <a:solidFill>
                  <a:schemeClr val="dk2"/>
                </a:solidFill>
              </a:defRPr>
            </a:lvl6pPr>
            <a:lvl7pPr marL="3200400" lvl="6" indent="-317500">
              <a:lnSpc>
                <a:spcPct val="114999"/>
              </a:lnSpc>
              <a:spcBef>
                <a:spcPts val="0"/>
              </a:spcBef>
              <a:spcAft>
                <a:spcPts val="0"/>
              </a:spcAft>
              <a:buClr>
                <a:schemeClr val="dk2"/>
              </a:buClr>
              <a:buSzPts val="1400"/>
              <a:buChar char="●"/>
              <a:defRPr>
                <a:solidFill>
                  <a:schemeClr val="dk2"/>
                </a:solidFill>
              </a:defRPr>
            </a:lvl7pPr>
            <a:lvl8pPr marL="3657600" lvl="7" indent="-317500">
              <a:lnSpc>
                <a:spcPct val="114999"/>
              </a:lnSpc>
              <a:spcBef>
                <a:spcPts val="0"/>
              </a:spcBef>
              <a:spcAft>
                <a:spcPts val="0"/>
              </a:spcAft>
              <a:buClr>
                <a:schemeClr val="dk2"/>
              </a:buClr>
              <a:buSzPts val="1400"/>
              <a:buChar char="○"/>
              <a:defRPr>
                <a:solidFill>
                  <a:schemeClr val="dk2"/>
                </a:solidFill>
              </a:defRPr>
            </a:lvl8pPr>
            <a:lvl9pPr marL="4114800" lvl="8" indent="-317500">
              <a:lnSpc>
                <a:spcPct val="114999"/>
              </a:lnSpc>
              <a:spcBef>
                <a:spcPts val="0"/>
              </a:spcBef>
              <a:spcAft>
                <a:spcPts val="0"/>
              </a:spcAft>
              <a:buClr>
                <a:schemeClr val="dk2"/>
              </a:buClr>
              <a:buSzPts val="1400"/>
              <a:buChar char="■"/>
              <a:defRPr>
                <a:solidFill>
                  <a:schemeClr val="dk2"/>
                </a:solidFill>
              </a:defRPr>
            </a:lvl9pPr>
          </a:lstStyle>
          <a:p>
            <a:pPr>
              <a:defRPr/>
            </a:pPr>
            <a:endParaRPr/>
          </a:p>
        </p:txBody>
      </p:sp>
      <p:sp>
        <p:nvSpPr>
          <p:cNvPr id="290599718" name="Google Shape;8;p1"/>
          <p:cNvSpPr txBox="1"/>
          <p:nvPr>
            <p:ph type="sldNum" idx="12"/>
          </p:nvPr>
        </p:nvSpPr>
        <p:spPr bwMode="auto">
          <a:xfrm>
            <a:off x="7004788" y="9693616"/>
            <a:ext cx="453600" cy="8181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defRPr/>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1"/>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hyperlink" Target="https://www.youtube.com/watch?v=0amXaMnTlhI&amp;list=PLCiOXwirraUClSdjZJ6YNwKXQDomG35kf&amp;index=6" TargetMode="External"/><Relationship Id="rId5" Type="http://schemas.openxmlformats.org/officeDocument/2006/relationships/hyperlink" Target="https://www.youtube.com/watch?v=aUSMk-aolQ0&amp;list=PLCiOXwirraUClSdjZJ6YNwKXQDomG35kf&amp;index=11" TargetMode="Externa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6.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12.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16.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hyperlink" Target="https://www.youtube.com/watch?v=6oL-0TdVy28" TargetMode="External"/><Relationship Id="rId5" Type="http://schemas.openxmlformats.org/officeDocument/2006/relationships/hyperlink" Target="https://www.youtube.com/watch?v=k7GkEbECZK0" TargetMode="Externa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19.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21.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22.jp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23.jp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24.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hyperlink" Target="https://youtu.be/GeUlf-m0-Hw" TargetMode="External"/><Relationship Id="rId4" Type="http://schemas.openxmlformats.org/officeDocument/2006/relationships/hyperlink" Target="https://www.youtube.com/watch?v=4Tg0Fg6qzJY" TargetMode="External"/><Relationship Id="rId5" Type="http://schemas.openxmlformats.org/officeDocument/2006/relationships/hyperlink" Target="https://www.youtube.com/watch?v=gm8DUJJhmY4" TargetMode="External"/><Relationship Id="rId6" Type="http://schemas.openxmlformats.org/officeDocument/2006/relationships/hyperlink" Target="https://isaaccomputerscience.org/concepts/dsa_datastruct_tree_traversals?examBoard=all&amp;stage=all" TargetMode="External"/><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61840622" name="Google Shape;54;p13"/>
          <p:cNvSpPr txBox="1"/>
          <p:nvPr/>
        </p:nvSpPr>
        <p:spPr bwMode="auto">
          <a:xfrm>
            <a:off x="257700" y="238271"/>
            <a:ext cx="7044600" cy="640500"/>
          </a:xfrm>
          <a:prstGeom prst="rect">
            <a:avLst/>
          </a:prstGeom>
          <a:solidFill>
            <a:srgbClr val="EFEFEF"/>
          </a:solidFill>
          <a:ln>
            <a:noFill/>
          </a:ln>
        </p:spPr>
        <p:txBody>
          <a:bodyPr spcFirstLastPara="1" wrap="square" lIns="91425" tIns="91425" rIns="91425" bIns="91425" anchor="t" anchorCtr="0">
            <a:normAutofit/>
          </a:bodyPr>
          <a:lstStyle/>
          <a:p>
            <a:pPr marL="0" lvl="0" indent="0" algn="l" rtl="0">
              <a:spcBef>
                <a:spcPts val="0"/>
              </a:spcBef>
              <a:spcAft>
                <a:spcPts val="0"/>
              </a:spcAft>
              <a:buNone/>
              <a:defRPr/>
            </a:pPr>
            <a:r>
              <a:rPr lang="en-GB" sz="2800"/>
              <a:t>4.3.2 Tree-Traversal</a:t>
            </a:r>
            <a:endParaRPr sz="2800">
              <a:solidFill>
                <a:srgbClr val="000000"/>
              </a:solidFill>
            </a:endParaRPr>
          </a:p>
        </p:txBody>
      </p:sp>
      <p:sp>
        <p:nvSpPr>
          <p:cNvPr id="1644728385" name="Google Shape;55;p13"/>
          <p:cNvSpPr txBox="1"/>
          <p:nvPr/>
        </p:nvSpPr>
        <p:spPr bwMode="auto">
          <a:xfrm>
            <a:off x="257700" y="972087"/>
            <a:ext cx="3742200" cy="461700"/>
          </a:xfrm>
          <a:prstGeom prst="rect">
            <a:avLst/>
          </a:prstGeom>
          <a:solidFill>
            <a:srgbClr val="EFEFEF"/>
          </a:solid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GB" sz="1800" b="1"/>
              <a:t>Syllabus Details</a:t>
            </a:r>
            <a:endParaRPr sz="1800" b="1"/>
          </a:p>
        </p:txBody>
      </p:sp>
      <p:sp>
        <p:nvSpPr>
          <p:cNvPr id="1346270946" name="Google Shape;56;p13"/>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010097395" name="Google Shape;57;p13"/>
          <p:cNvSpPr txBox="1"/>
          <p:nvPr/>
        </p:nvSpPr>
        <p:spPr bwMode="auto">
          <a:xfrm>
            <a:off x="257700" y="2357920"/>
            <a:ext cx="7044600" cy="525900"/>
          </a:xfrm>
          <a:prstGeom prst="rect">
            <a:avLst/>
          </a:prstGeom>
          <a:solidFill>
            <a:srgbClr val="EFEFEF"/>
          </a:solidFill>
          <a:ln>
            <a:noFill/>
          </a:ln>
        </p:spPr>
        <p:txBody>
          <a:bodyPr spcFirstLastPara="1" wrap="square" lIns="91425" tIns="91425" rIns="91425" bIns="91425" anchor="t" anchorCtr="0">
            <a:normAutofit/>
          </a:bodyPr>
          <a:lstStyle/>
          <a:p>
            <a:pPr marL="0" lvl="0" indent="0" algn="l" rtl="0">
              <a:spcBef>
                <a:spcPts val="0"/>
              </a:spcBef>
              <a:spcAft>
                <a:spcPts val="0"/>
              </a:spcAft>
              <a:buNone/>
              <a:defRPr/>
            </a:pPr>
            <a:r>
              <a:rPr lang="en-GB" sz="1800" b="1"/>
              <a:t>4.3.2  Tree-Traversal</a:t>
            </a:r>
            <a:endParaRPr sz="1800" b="1">
              <a:solidFill>
                <a:srgbClr val="000000"/>
              </a:solidFill>
            </a:endParaRPr>
          </a:p>
        </p:txBody>
      </p:sp>
      <p:sp>
        <p:nvSpPr>
          <p:cNvPr id="1191084511" name="Google Shape;58;p13"/>
          <p:cNvSpPr txBox="1"/>
          <p:nvPr/>
        </p:nvSpPr>
        <p:spPr bwMode="auto">
          <a:xfrm>
            <a:off x="229025" y="3044175"/>
            <a:ext cx="6879600" cy="64002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Starter</a:t>
            </a:r>
            <a:endParaRPr b="1"/>
          </a:p>
          <a:p>
            <a:pPr marL="0" lvl="0" indent="0" algn="l" rtl="0">
              <a:spcBef>
                <a:spcPts val="0"/>
              </a:spcBef>
              <a:spcAft>
                <a:spcPts val="0"/>
              </a:spcAft>
              <a:buNone/>
              <a:defRPr/>
            </a:pPr>
            <a:endParaRPr/>
          </a:p>
          <a:p>
            <a:pPr marL="0" lvl="0" indent="0" algn="l" rtl="0">
              <a:spcBef>
                <a:spcPts val="0"/>
              </a:spcBef>
              <a:spcAft>
                <a:spcPts val="0"/>
              </a:spcAft>
              <a:buNone/>
              <a:defRPr/>
            </a:pPr>
            <a:r>
              <a:rPr lang="en-GB"/>
              <a:t>Join the term to the definition.</a:t>
            </a: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graphicFrame>
        <p:nvGraphicFramePr>
          <p:cNvPr id="639439334" name="Google Shape;59;p13"/>
          <p:cNvGraphicFramePr>
            <a:graphicFrameLocks xmlns:a="http://schemas.openxmlformats.org/drawingml/2006/main"/>
          </p:cNvGraphicFramePr>
          <p:nvPr/>
        </p:nvGraphicFramePr>
        <p:xfrm rot="0">
          <a:off x="233325" y="1686313"/>
          <a:ext cx="3000000" cy="3000000"/>
        </p:xfrm>
        <a:graphic>
          <a:graphicData uri="http://schemas.openxmlformats.org/drawingml/2006/table">
            <a:tbl>
              <a:tblPr firstRow="0" firstCol="0" lastRow="0" lastCol="0" bandRow="0" bandCol="0">
                <a:tableStyleId>{F4344A0D-63D3-4623-9648-41191C759690}</a:tableStyleId>
                <a:noFill/>
              </a:tblPr>
              <a:tblGrid>
                <a:gridCol w="3790949"/>
              </a:tblGrid>
              <a:tr h="200025">
                <a:tc>
                  <a:txBody>
                    <a:bodyPr/>
                    <a:p>
                      <a:pPr marL="0" lvl="0" indent="0" algn="l" rtl="0">
                        <a:lnSpc>
                          <a:spcPct val="114999"/>
                        </a:lnSpc>
                        <a:spcBef>
                          <a:spcPts val="0"/>
                        </a:spcBef>
                        <a:spcAft>
                          <a:spcPts val="0"/>
                        </a:spcAft>
                        <a:buNone/>
                        <a:defRPr/>
                      </a:pPr>
                      <a:r>
                        <a:rPr lang="en-GB" sz="1000" b="1"/>
                        <a:t>4.3.2 Tree-traversal</a:t>
                      </a:r>
                      <a:endParaRPr sz="1000" b="1"/>
                    </a:p>
                  </a:txBody>
                  <a:tcPr marL="28575" marR="28575" marT="19050" marB="19050" anchor="b">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EFEFEF"/>
                    </a:solidFill>
                  </a:tcPr>
                </a:tc>
              </a:tr>
              <a:tr h="200025">
                <a:tc>
                  <a:txBody>
                    <a:bodyPr/>
                    <a:p>
                      <a:pPr marL="0" lvl="0" indent="0" algn="l" rtl="0">
                        <a:lnSpc>
                          <a:spcPct val="114999"/>
                        </a:lnSpc>
                        <a:spcBef>
                          <a:spcPts val="0"/>
                        </a:spcBef>
                        <a:spcAft>
                          <a:spcPts val="0"/>
                        </a:spcAft>
                        <a:buNone/>
                        <a:defRPr/>
                      </a:pPr>
                      <a:r>
                        <a:rPr lang="en-GB" sz="1000"/>
                        <a:t>4.3.2.1 Simple tree-traversal algorithms</a:t>
                      </a:r>
                      <a:endParaRPr sz="1000"/>
                    </a:p>
                  </a:txBody>
                  <a:tcPr marL="28575" marR="28575" marT="19050" marB="19050" anchor="b">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EFEFEF"/>
                    </a:solidFill>
                  </a:tcPr>
                </a:tc>
              </a:tr>
            </a:tbl>
          </a:graphicData>
        </a:graphic>
      </p:graphicFrame>
      <p:sp>
        <p:nvSpPr>
          <p:cNvPr id="1117300543" name="Google Shape;60;p13"/>
          <p:cNvSpPr txBox="1"/>
          <p:nvPr/>
        </p:nvSpPr>
        <p:spPr bwMode="auto">
          <a:xfrm>
            <a:off x="535050" y="4039301"/>
            <a:ext cx="1625700" cy="950400"/>
          </a:xfrm>
          <a:prstGeom prst="rect">
            <a:avLst/>
          </a:prstGeom>
          <a:noFill/>
          <a:ln w="38100" cap="flat" cmpd="sng">
            <a:solidFill>
              <a:srgbClr val="0073CC"/>
            </a:solidFill>
            <a:prstDash val="solid"/>
            <a:round/>
            <a:headEnd type="none" w="sm" len="sm"/>
            <a:tailEnd type="none" w="sm" len="sm"/>
          </a:ln>
        </p:spPr>
        <p:txBody>
          <a:bodyPr spcFirstLastPara="1" wrap="square" lIns="125075" tIns="125075" rIns="125075" bIns="125075" anchor="ctr" anchorCtr="0">
            <a:noAutofit/>
          </a:bodyPr>
          <a:lstStyle/>
          <a:p>
            <a:pPr marL="0" lvl="0" indent="0" algn="ctr" rtl="0">
              <a:spcBef>
                <a:spcPts val="0"/>
              </a:spcBef>
              <a:spcAft>
                <a:spcPts val="0"/>
              </a:spcAft>
              <a:buNone/>
              <a:defRPr/>
            </a:pPr>
            <a:r>
              <a:rPr lang="en-GB">
                <a:solidFill>
                  <a:srgbClr val="0073CC"/>
                </a:solidFill>
                <a:latin typeface="Open Sans"/>
                <a:ea typeface="Open Sans"/>
                <a:cs typeface="Open Sans"/>
              </a:rPr>
              <a:t>What is a tree?</a:t>
            </a:r>
            <a:endParaRPr>
              <a:solidFill>
                <a:srgbClr val="0073CC"/>
              </a:solidFill>
              <a:latin typeface="Open Sans"/>
              <a:ea typeface="Open Sans"/>
              <a:cs typeface="Open Sans"/>
            </a:endParaRPr>
          </a:p>
        </p:txBody>
      </p:sp>
      <p:sp>
        <p:nvSpPr>
          <p:cNvPr id="1611132549" name="Google Shape;61;p13"/>
          <p:cNvSpPr txBox="1"/>
          <p:nvPr/>
        </p:nvSpPr>
        <p:spPr bwMode="auto">
          <a:xfrm>
            <a:off x="4233225" y="4143249"/>
            <a:ext cx="1944600" cy="1492200"/>
          </a:xfrm>
          <a:prstGeom prst="rect">
            <a:avLst/>
          </a:prstGeom>
          <a:noFill/>
          <a:ln w="38100" cap="flat" cmpd="sng">
            <a:solidFill>
              <a:srgbClr val="0073CC"/>
            </a:solidFill>
            <a:prstDash val="solid"/>
            <a:round/>
            <a:headEnd type="none" w="sm" len="sm"/>
            <a:tailEnd type="none" w="sm" len="sm"/>
          </a:ln>
        </p:spPr>
        <p:txBody>
          <a:bodyPr spcFirstLastPara="1" wrap="square" lIns="125075" tIns="125075" rIns="125075" bIns="125075" anchor="ctr" anchorCtr="0">
            <a:noAutofit/>
          </a:bodyPr>
          <a:lstStyle/>
          <a:p>
            <a:pPr marL="0" lvl="0" indent="0" algn="ctr" rtl="0">
              <a:spcBef>
                <a:spcPts val="0"/>
              </a:spcBef>
              <a:spcAft>
                <a:spcPts val="0"/>
              </a:spcAft>
              <a:buNone/>
              <a:defRPr/>
            </a:pPr>
            <a:r>
              <a:rPr lang="en-GB">
                <a:latin typeface="Open Sans"/>
                <a:ea typeface="Open Sans"/>
                <a:cs typeface="Open Sans"/>
              </a:rPr>
              <a:t>A tree is a non-linear data structure where the nodes are connected by a directed edge. </a:t>
            </a:r>
            <a:endParaRPr>
              <a:latin typeface="Open Sans"/>
              <a:ea typeface="Open Sans"/>
              <a:cs typeface="Open Sans"/>
            </a:endParaRPr>
          </a:p>
        </p:txBody>
      </p:sp>
      <p:sp>
        <p:nvSpPr>
          <p:cNvPr id="2017724843" name="Google Shape;62;p13"/>
          <p:cNvSpPr txBox="1"/>
          <p:nvPr/>
        </p:nvSpPr>
        <p:spPr bwMode="auto">
          <a:xfrm>
            <a:off x="4440825" y="7595200"/>
            <a:ext cx="1737000" cy="1107900"/>
          </a:xfrm>
          <a:prstGeom prst="rect">
            <a:avLst/>
          </a:prstGeom>
          <a:noFill/>
          <a:ln w="38100" cap="flat" cmpd="sng">
            <a:solidFill>
              <a:srgbClr val="0073CC"/>
            </a:solidFill>
            <a:prstDash val="solid"/>
            <a:round/>
            <a:headEnd type="none" w="sm" len="sm"/>
            <a:tailEnd type="none" w="sm" len="sm"/>
          </a:ln>
        </p:spPr>
        <p:txBody>
          <a:bodyPr spcFirstLastPara="1" wrap="square" lIns="125075" tIns="125075" rIns="125075" bIns="125075" anchor="ctr" anchorCtr="0">
            <a:noAutofit/>
          </a:bodyPr>
          <a:lstStyle/>
          <a:p>
            <a:pPr marL="0" lvl="0" indent="0" algn="ctr" rtl="0">
              <a:spcBef>
                <a:spcPts val="0"/>
              </a:spcBef>
              <a:spcAft>
                <a:spcPts val="0"/>
              </a:spcAft>
              <a:buNone/>
              <a:defRPr/>
            </a:pPr>
            <a:r>
              <a:rPr lang="en-GB">
                <a:solidFill>
                  <a:srgbClr val="0073CC"/>
                </a:solidFill>
                <a:latin typeface="Open Sans"/>
                <a:ea typeface="Open Sans"/>
                <a:cs typeface="Open Sans"/>
              </a:rPr>
              <a:t>What is a binary tree?</a:t>
            </a:r>
            <a:endParaRPr>
              <a:solidFill>
                <a:srgbClr val="0073CC"/>
              </a:solidFill>
              <a:latin typeface="Open Sans"/>
              <a:ea typeface="Open Sans"/>
              <a:cs typeface="Open Sans"/>
            </a:endParaRPr>
          </a:p>
        </p:txBody>
      </p:sp>
      <p:sp>
        <p:nvSpPr>
          <p:cNvPr id="1241819478" name="Google Shape;63;p13"/>
          <p:cNvSpPr txBox="1"/>
          <p:nvPr/>
        </p:nvSpPr>
        <p:spPr bwMode="auto">
          <a:xfrm>
            <a:off x="1110675" y="7595200"/>
            <a:ext cx="1855500" cy="1492200"/>
          </a:xfrm>
          <a:prstGeom prst="rect">
            <a:avLst/>
          </a:prstGeom>
          <a:noFill/>
          <a:ln w="38100" cap="flat" cmpd="sng">
            <a:solidFill>
              <a:srgbClr val="0073CC"/>
            </a:solidFill>
            <a:prstDash val="solid"/>
            <a:round/>
            <a:headEnd type="none" w="sm" len="sm"/>
            <a:tailEnd type="none" w="sm" len="sm"/>
          </a:ln>
        </p:spPr>
        <p:txBody>
          <a:bodyPr spcFirstLastPara="1" wrap="square" lIns="125075" tIns="125075" rIns="125075" bIns="125075" anchor="ctr" anchorCtr="0">
            <a:noAutofit/>
          </a:bodyPr>
          <a:lstStyle/>
          <a:p>
            <a:pPr marL="0" lvl="0" indent="0" algn="ctr" rtl="0">
              <a:spcBef>
                <a:spcPts val="0"/>
              </a:spcBef>
              <a:spcAft>
                <a:spcPts val="0"/>
              </a:spcAft>
              <a:buNone/>
              <a:defRPr/>
            </a:pPr>
            <a:r>
              <a:rPr lang="en-GB">
                <a:latin typeface="Open Sans"/>
                <a:ea typeface="Open Sans"/>
                <a:cs typeface="Open Sans"/>
              </a:rPr>
              <a:t>A tree where each node has a maximum of two child nodes is called a binary tree. </a:t>
            </a:r>
            <a:endParaRPr>
              <a:latin typeface="Open Sans"/>
              <a:ea typeface="Open Sans"/>
              <a:cs typeface="Open Sans"/>
            </a:endParaRPr>
          </a:p>
        </p:txBody>
      </p:sp>
      <p:sp>
        <p:nvSpPr>
          <p:cNvPr id="874324424" name="Google Shape;64;p13"/>
          <p:cNvSpPr txBox="1"/>
          <p:nvPr/>
        </p:nvSpPr>
        <p:spPr bwMode="auto">
          <a:xfrm>
            <a:off x="3999901" y="5869222"/>
            <a:ext cx="1855500" cy="1492200"/>
          </a:xfrm>
          <a:prstGeom prst="rect">
            <a:avLst/>
          </a:prstGeom>
          <a:noFill/>
          <a:ln w="38100" cap="flat" cmpd="sng">
            <a:solidFill>
              <a:srgbClr val="0073CC"/>
            </a:solidFill>
            <a:prstDash val="solid"/>
            <a:round/>
            <a:headEnd type="none" w="sm" len="sm"/>
            <a:tailEnd type="none" w="sm" len="sm"/>
          </a:ln>
        </p:spPr>
        <p:txBody>
          <a:bodyPr spcFirstLastPara="1" wrap="square" lIns="125075" tIns="125075" rIns="125075" bIns="125075" anchor="ctr" anchorCtr="0">
            <a:noAutofit/>
          </a:bodyPr>
          <a:lstStyle/>
          <a:p>
            <a:pPr marL="0" lvl="0" indent="0" algn="ctr" rtl="0">
              <a:spcBef>
                <a:spcPts val="0"/>
              </a:spcBef>
              <a:spcAft>
                <a:spcPts val="0"/>
              </a:spcAft>
              <a:buNone/>
              <a:defRPr/>
            </a:pPr>
            <a:r>
              <a:rPr lang="en-GB">
                <a:solidFill>
                  <a:srgbClr val="0073CC"/>
                </a:solidFill>
                <a:latin typeface="Open Sans"/>
                <a:ea typeface="Open Sans"/>
                <a:cs typeface="Open Sans"/>
              </a:rPr>
              <a:t>What is the difference between a tree and a graph?</a:t>
            </a:r>
            <a:endParaRPr>
              <a:solidFill>
                <a:srgbClr val="0073CC"/>
              </a:solidFill>
              <a:latin typeface="Open Sans"/>
              <a:ea typeface="Open Sans"/>
              <a:cs typeface="Open Sans"/>
            </a:endParaRPr>
          </a:p>
        </p:txBody>
      </p:sp>
      <p:sp>
        <p:nvSpPr>
          <p:cNvPr id="1701687379" name="Google Shape;65;p13"/>
          <p:cNvSpPr txBox="1"/>
          <p:nvPr/>
        </p:nvSpPr>
        <p:spPr bwMode="auto">
          <a:xfrm>
            <a:off x="666450" y="5890772"/>
            <a:ext cx="2924699" cy="1362000"/>
          </a:xfrm>
          <a:prstGeom prst="rect">
            <a:avLst/>
          </a:prstGeom>
          <a:noFill/>
          <a:ln w="38100" cap="flat" cmpd="sng">
            <a:solidFill>
              <a:srgbClr val="0073CC"/>
            </a:solidFill>
            <a:prstDash val="solid"/>
            <a:round/>
            <a:headEnd type="none" w="sm" len="sm"/>
            <a:tailEnd type="none" w="sm" len="sm"/>
          </a:ln>
        </p:spPr>
        <p:txBody>
          <a:bodyPr spcFirstLastPara="1" wrap="square" lIns="125075" tIns="125075" rIns="125075" bIns="125075" anchor="ctr" anchorCtr="0">
            <a:noAutofit/>
          </a:bodyPr>
          <a:lstStyle/>
          <a:p>
            <a:pPr marL="0" lvl="0" indent="0" algn="ctr" rtl="0">
              <a:spcBef>
                <a:spcPts val="0"/>
              </a:spcBef>
              <a:spcAft>
                <a:spcPts val="0"/>
              </a:spcAft>
              <a:buNone/>
              <a:defRPr/>
            </a:pPr>
            <a:r>
              <a:rPr lang="en-GB">
                <a:latin typeface="Open Sans"/>
                <a:ea typeface="Open Sans"/>
                <a:cs typeface="Open Sans"/>
              </a:rPr>
              <a:t>A graph can consist of cycles; that is, two child nodes may be connected to each other. In trees, the connection is directed from a parent to its child nodes only. </a:t>
            </a:r>
            <a:endParaRPr>
              <a:latin typeface="Open Sans"/>
              <a:ea typeface="Open Sans"/>
              <a:cs typeface="Open Sans"/>
            </a:endParaRPr>
          </a:p>
        </p:txBody>
      </p:sp>
      <p:cxnSp>
        <p:nvCxnSpPr>
          <p:cNvPr id="1382511214" name=""/>
          <p:cNvCxnSpPr/>
          <p:nvPr/>
        </p:nvCxnSpPr>
        <p:spPr bwMode="auto">
          <a:xfrm flipH="0" flipV="0">
            <a:off x="2176666" y="4456758"/>
            <a:ext cx="2010833" cy="376296"/>
          </a:xfrm>
          <a:prstGeom prst="line">
            <a:avLst/>
          </a:prstGeom>
          <a:ln>
            <a:tailEnd type="arrow" len="med"/>
          </a:ln>
        </p:spPr>
        <p:style>
          <a:lnRef idx="1">
            <a:schemeClr val="accent1">
              <a:shade val="50000"/>
            </a:schemeClr>
          </a:lnRef>
          <a:fillRef idx="0">
            <a:schemeClr val="accent1"/>
          </a:fillRef>
          <a:effectRef idx="0">
            <a:schemeClr val="accent1"/>
          </a:effectRef>
          <a:fontRef idx="minor">
            <a:schemeClr val="tx1"/>
          </a:fontRef>
        </p:style>
      </p:cxnSp>
      <p:cxnSp>
        <p:nvCxnSpPr>
          <p:cNvPr id="394954104" name=""/>
          <p:cNvCxnSpPr>
            <a:stCxn id="874324424" idx="1"/>
            <a:endCxn id="1701687379" idx="3"/>
          </p:cNvCxnSpPr>
          <p:nvPr/>
        </p:nvCxnSpPr>
        <p:spPr bwMode="auto">
          <a:xfrm rot="10800000" flipH="0" flipV="0">
            <a:off x="3591149" y="6571771"/>
            <a:ext cx="408750" cy="43549"/>
          </a:xfrm>
          <a:prstGeom prst="line">
            <a:avLst/>
          </a:prstGeom>
          <a:ln>
            <a:tailEnd type="arrow" len="med"/>
          </a:ln>
        </p:spPr>
        <p:style>
          <a:lnRef idx="1">
            <a:schemeClr val="accent1">
              <a:shade val="50000"/>
            </a:schemeClr>
          </a:lnRef>
          <a:fillRef idx="0">
            <a:schemeClr val="accent1"/>
          </a:fillRef>
          <a:effectRef idx="0">
            <a:schemeClr val="accent1"/>
          </a:effectRef>
          <a:fontRef idx="minor">
            <a:schemeClr val="tx1"/>
          </a:fontRef>
        </p:style>
      </p:cxnSp>
      <p:cxnSp>
        <p:nvCxnSpPr>
          <p:cNvPr id="1796013658" name=""/>
          <p:cNvCxnSpPr>
            <a:stCxn id="2017724843" idx="1"/>
            <a:endCxn id="1241819478" idx="3"/>
          </p:cNvCxnSpPr>
          <p:nvPr/>
        </p:nvCxnSpPr>
        <p:spPr bwMode="auto">
          <a:xfrm rot="10800000" flipH="0" flipV="1">
            <a:off x="2966175" y="8149149"/>
            <a:ext cx="1474649" cy="192150"/>
          </a:xfrm>
          <a:prstGeom prst="line">
            <a:avLst/>
          </a:prstGeom>
          <a:ln>
            <a:tailEnd type="arrow" len="med"/>
          </a:ln>
        </p:spPr>
        <p:style>
          <a:lnRef idx="1">
            <a:schemeClr val="accent1">
              <a:shade val="50000"/>
            </a:schemeClr>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37573906" name="Google Shape;70;p14"/>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272106556" name="Google Shape;71;p14"/>
          <p:cNvSpPr txBox="1"/>
          <p:nvPr/>
        </p:nvSpPr>
        <p:spPr bwMode="auto">
          <a:xfrm>
            <a:off x="293850" y="231375"/>
            <a:ext cx="6972300" cy="1477500"/>
          </a:xfrm>
          <a:prstGeom prst="rect">
            <a:avLst/>
          </a:prstGeom>
          <a:solidFill>
            <a:srgbClr val="D9D9D9"/>
          </a:solid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GB" b="1"/>
              <a:t>Key concept </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b="1"/>
              <a:t>Tree traversal</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a:t>Traversal of a tree means to visit each node of the tree in some order.</a:t>
            </a:r>
            <a:endParaRPr/>
          </a:p>
          <a:p>
            <a:pPr marL="0" lvl="0" indent="0" algn="l" rtl="0">
              <a:spcBef>
                <a:spcPts val="0"/>
              </a:spcBef>
              <a:spcAft>
                <a:spcPts val="0"/>
              </a:spcAft>
              <a:buNone/>
              <a:defRPr/>
            </a:pPr>
            <a:endParaRPr/>
          </a:p>
        </p:txBody>
      </p:sp>
      <p:sp>
        <p:nvSpPr>
          <p:cNvPr id="2065283143" name="Google Shape;72;p14"/>
          <p:cNvSpPr txBox="1"/>
          <p:nvPr/>
        </p:nvSpPr>
        <p:spPr bwMode="auto">
          <a:xfrm>
            <a:off x="293850" y="1898475"/>
            <a:ext cx="6972300" cy="8437200"/>
          </a:xfrm>
          <a:prstGeom prst="rect">
            <a:avLst/>
          </a:prstGeom>
          <a:solidFill>
            <a:srgbClr val="D9D9D9"/>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Key concept </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b="1"/>
              <a:t>Binary Tree</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a:t>A binary tree is a data structure consisting of nodes and pointers. It is a special case of a graph where each node can only have zero, one or two pointers, Each pointer connects to different node.</a:t>
            </a:r>
            <a:endParaRPr/>
          </a:p>
          <a:p>
            <a:pPr marL="0" lvl="0" indent="0" algn="l" rtl="0">
              <a:spcBef>
                <a:spcPts val="0"/>
              </a:spcBef>
              <a:spcAft>
                <a:spcPts val="0"/>
              </a:spcAft>
              <a:buNone/>
              <a:defRPr/>
            </a:pPr>
            <a:endParaRPr/>
          </a:p>
          <a:p>
            <a:pPr marL="0" lvl="0" indent="0" algn="l" rtl="0">
              <a:spcBef>
                <a:spcPts val="0"/>
              </a:spcBef>
              <a:spcAft>
                <a:spcPts val="0"/>
              </a:spcAft>
              <a:buNone/>
              <a:defRPr/>
            </a:pPr>
            <a:r>
              <a:rPr lang="en-GB"/>
              <a:t>The first node is known as the root node. The connected nodes are known as child nodes, while the nodes at the very bottom of the structure are referred to as leaf nodes.</a:t>
            </a:r>
            <a:endParaRPr/>
          </a:p>
          <a:p>
            <a:pPr marL="0" lvl="0" indent="0" algn="l" rtl="0">
              <a:spcBef>
                <a:spcPts val="0"/>
              </a:spcBef>
              <a:spcAft>
                <a:spcPts val="0"/>
              </a:spcAft>
              <a:buNone/>
              <a:defRPr/>
            </a:pPr>
            <a:endParaRPr/>
          </a:p>
          <a:p>
            <a:pPr marL="0" lvl="0" indent="0" algn="l" rtl="0">
              <a:spcBef>
                <a:spcPts val="0"/>
              </a:spcBef>
              <a:spcAft>
                <a:spcPts val="0"/>
              </a:spcAft>
              <a:buNone/>
              <a:defRPr/>
            </a:pPr>
            <a:r>
              <a:rPr lang="en-GB"/>
              <a:t>In the below example, Jack is the root node, could, Spratt and eat are child nodes and no and fat are leaf nodes.</a:t>
            </a: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r>
              <a:rPr lang="en-GB"/>
              <a:t>How would this binary tree be represented in memory with dictionaries?</a:t>
            </a:r>
            <a:endParaRPr/>
          </a:p>
          <a:p>
            <a:pPr marL="0" lvl="0" indent="0" algn="l" rtl="0">
              <a:spcBef>
                <a:spcPts val="0"/>
              </a:spcBef>
              <a:spcAft>
                <a:spcPts val="0"/>
              </a:spcAft>
              <a:buNone/>
              <a:defRPr/>
            </a:pPr>
            <a:endParaRPr/>
          </a:p>
        </p:txBody>
      </p:sp>
      <p:pic>
        <p:nvPicPr>
          <p:cNvPr id="1478509685" name="Google Shape;73;p14"/>
          <p:cNvPicPr/>
          <p:nvPr/>
        </p:nvPicPr>
        <p:blipFill rotWithShape="1">
          <a:blip r:embed="rId3">
            <a:alphaModFix/>
          </a:blip>
          <a:stretch/>
        </p:blipFill>
        <p:spPr bwMode="auto">
          <a:xfrm>
            <a:off x="1103213" y="5345998"/>
            <a:ext cx="5576325" cy="2953550"/>
          </a:xfrm>
          <a:prstGeom prst="rect">
            <a:avLst/>
          </a:prstGeom>
          <a:noFill/>
          <a:ln>
            <a:noFill/>
          </a:ln>
        </p:spPr>
      </p:pic>
      <p:sp>
        <p:nvSpPr>
          <p:cNvPr id="1248869755" name="Google Shape;74;p14"/>
          <p:cNvSpPr txBox="1"/>
          <p:nvPr/>
        </p:nvSpPr>
        <p:spPr bwMode="auto">
          <a:xfrm>
            <a:off x="423225" y="8954550"/>
            <a:ext cx="6704700" cy="12921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
              <a:t>{“Jack”:[“Spratt”, “could”], “Could”:[“eat”], “eat”:[“fat”], “Spratt”:[“no”]}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03298545" name="Google Shape;79;p15"/>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385072751" name="Google Shape;80;p15"/>
          <p:cNvSpPr txBox="1"/>
          <p:nvPr/>
        </p:nvSpPr>
        <p:spPr bwMode="auto">
          <a:xfrm>
            <a:off x="293850" y="231375"/>
            <a:ext cx="6972300" cy="6762899"/>
          </a:xfrm>
          <a:prstGeom prst="rect">
            <a:avLst/>
          </a:prstGeom>
          <a:solidFill>
            <a:srgbClr val="D9D9D9"/>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Key concept - continued</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a:t>.It is more common to see a binary tree represented as objects consisting of a node with a left and right pointer.</a:t>
            </a:r>
            <a:endParaRPr/>
          </a:p>
          <a:p>
            <a:pPr marL="0" lvl="0" indent="0" algn="l" rtl="0">
              <a:spcBef>
                <a:spcPts val="0"/>
              </a:spcBef>
              <a:spcAft>
                <a:spcPts val="0"/>
              </a:spcAft>
              <a:buNone/>
              <a:defRPr/>
            </a:pPr>
            <a:endParaRPr/>
          </a:p>
        </p:txBody>
      </p:sp>
      <p:pic>
        <p:nvPicPr>
          <p:cNvPr id="1052161359" name="Google Shape;81;p15"/>
          <p:cNvPicPr/>
          <p:nvPr/>
        </p:nvPicPr>
        <p:blipFill rotWithShape="1">
          <a:blip r:embed="rId3">
            <a:alphaModFix/>
          </a:blip>
          <a:srcRect l="2478" t="0" r="42946" b="0"/>
          <a:stretch/>
        </p:blipFill>
        <p:spPr bwMode="auto">
          <a:xfrm>
            <a:off x="1314225" y="1375225"/>
            <a:ext cx="4610925" cy="2733675"/>
          </a:xfrm>
          <a:prstGeom prst="rect">
            <a:avLst/>
          </a:prstGeom>
          <a:noFill/>
          <a:ln>
            <a:noFill/>
          </a:ln>
        </p:spPr>
      </p:pic>
      <p:pic>
        <p:nvPicPr>
          <p:cNvPr id="308307616" name="Google Shape;82;p15"/>
          <p:cNvPicPr/>
          <p:nvPr/>
        </p:nvPicPr>
        <p:blipFill rotWithShape="1">
          <a:blip r:embed="rId3">
            <a:alphaModFix/>
          </a:blip>
          <a:srcRect l="53138" t="0" r="2569" b="14914"/>
          <a:stretch/>
        </p:blipFill>
        <p:spPr bwMode="auto">
          <a:xfrm>
            <a:off x="1908900" y="4445650"/>
            <a:ext cx="3742200" cy="2325950"/>
          </a:xfrm>
          <a:prstGeom prst="rect">
            <a:avLst/>
          </a:prstGeom>
          <a:noFill/>
          <a:ln>
            <a:noFill/>
          </a:ln>
        </p:spPr>
      </p:pic>
      <p:sp>
        <p:nvSpPr>
          <p:cNvPr id="431791473" name="Google Shape;83;p15"/>
          <p:cNvSpPr txBox="1"/>
          <p:nvPr/>
        </p:nvSpPr>
        <p:spPr bwMode="auto">
          <a:xfrm>
            <a:off x="289575" y="7260750"/>
            <a:ext cx="4272600" cy="2986200"/>
          </a:xfrm>
          <a:prstGeom prst="rect">
            <a:avLst/>
          </a:prstGeom>
          <a:solidFill>
            <a:srgbClr val="D9D9D9"/>
          </a:solid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GB" b="1"/>
              <a:t>Applications of a binary tree</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a:t>Binary trees have many uses in computer science. These include database applications where efficient searching and sorting is necessary without moving items, which is slow to execute. They can also be found in wireless networking , router tables and scheduling processes in operating systems. Implementations of A* pathfinding algorithm can use trees. Huffman coding used for compression algorithms such as jpeg and mp3 makes use of binary trees, as does cryptography (GGM trees).</a:t>
            </a:r>
            <a:endParaRPr/>
          </a:p>
          <a:p>
            <a:pPr marL="0" lvl="0" indent="0" algn="l" rtl="0">
              <a:spcBef>
                <a:spcPts val="0"/>
              </a:spcBef>
              <a:spcAft>
                <a:spcPts val="0"/>
              </a:spcAft>
              <a:buNone/>
              <a:defRPr/>
            </a:pPr>
            <a:endParaRPr/>
          </a:p>
        </p:txBody>
      </p:sp>
      <p:sp>
        <p:nvSpPr>
          <p:cNvPr id="448336990" name="Google Shape;84;p15"/>
          <p:cNvSpPr txBox="1"/>
          <p:nvPr/>
        </p:nvSpPr>
        <p:spPr bwMode="auto">
          <a:xfrm>
            <a:off x="289575" y="7105725"/>
            <a:ext cx="7016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endParaRPr/>
          </a:p>
        </p:txBody>
      </p:sp>
      <p:sp>
        <p:nvSpPr>
          <p:cNvPr id="1246579620" name="Google Shape;85;p15"/>
          <p:cNvSpPr txBox="1"/>
          <p:nvPr/>
        </p:nvSpPr>
        <p:spPr bwMode="auto">
          <a:xfrm>
            <a:off x="4789125" y="7283925"/>
            <a:ext cx="2338800" cy="2986200"/>
          </a:xfrm>
          <a:prstGeom prst="rect">
            <a:avLst/>
          </a:prstGeom>
          <a:solidFill>
            <a:srgbClr val="999999"/>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Support</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b="1">
                <a:solidFill>
                  <a:schemeClr val="lt1"/>
                </a:solidFill>
              </a:rPr>
              <a:t>PGonline - Section 7 p 212</a:t>
            </a:r>
            <a:endParaRPr b="1">
              <a:solidFill>
                <a:schemeClr val="lt1"/>
              </a:solidFill>
            </a:endParaRPr>
          </a:p>
          <a:p>
            <a:pPr marL="0" lvl="0" indent="0" algn="l" rtl="0">
              <a:spcBef>
                <a:spcPts val="0"/>
              </a:spcBef>
              <a:spcAft>
                <a:spcPts val="0"/>
              </a:spcAft>
              <a:buNone/>
              <a:defRPr/>
            </a:pPr>
            <a:endParaRPr b="1">
              <a:solidFill>
                <a:schemeClr val="lt1"/>
              </a:solidFill>
            </a:endParaRPr>
          </a:p>
          <a:p>
            <a:pPr marL="0" lvl="0" indent="0" algn="l" rtl="0">
              <a:spcBef>
                <a:spcPts val="0"/>
              </a:spcBef>
              <a:spcAft>
                <a:spcPts val="0"/>
              </a:spcAft>
              <a:buNone/>
              <a:defRPr/>
            </a:pPr>
            <a:r>
              <a:rPr lang="en-GB" b="1">
                <a:solidFill>
                  <a:schemeClr val="lt1"/>
                </a:solidFill>
              </a:rPr>
              <a:t>LMC - Paper 1 theory p145</a:t>
            </a:r>
            <a:endParaRPr b="1">
              <a:solidFill>
                <a:schemeClr val="lt1"/>
              </a:solidFill>
            </a:endParaRPr>
          </a:p>
          <a:p>
            <a:pPr marL="0" lvl="0" indent="0" algn="l" rtl="0">
              <a:spcBef>
                <a:spcPts val="0"/>
              </a:spcBef>
              <a:spcAft>
                <a:spcPts val="0"/>
              </a:spcAft>
              <a:buNone/>
              <a:defRPr/>
            </a:pPr>
            <a:endParaRPr b="1">
              <a:solidFill>
                <a:schemeClr val="lt1"/>
              </a:solidFill>
            </a:endParaRPr>
          </a:p>
          <a:p>
            <a:pPr marL="0" lvl="0" indent="0" algn="l" rtl="0">
              <a:spcBef>
                <a:spcPts val="0"/>
              </a:spcBef>
              <a:spcAft>
                <a:spcPts val="0"/>
              </a:spcAft>
              <a:buNone/>
              <a:defRPr/>
            </a:pPr>
            <a:r>
              <a:rPr lang="en-GB" b="1">
                <a:solidFill>
                  <a:schemeClr val="lt1"/>
                </a:solidFill>
              </a:rPr>
              <a:t>Craig N Dave</a:t>
            </a:r>
            <a:endParaRPr b="1">
              <a:solidFill>
                <a:schemeClr val="lt1"/>
              </a:solidFill>
            </a:endParaRPr>
          </a:p>
          <a:p>
            <a:pPr marL="0" lvl="0" indent="0" algn="l" rtl="0">
              <a:spcBef>
                <a:spcPts val="0"/>
              </a:spcBef>
              <a:spcAft>
                <a:spcPts val="0"/>
              </a:spcAft>
              <a:buNone/>
              <a:defRPr/>
            </a:pPr>
            <a:endParaRPr b="1">
              <a:solidFill>
                <a:schemeClr val="lt1"/>
              </a:solidFill>
            </a:endParaRPr>
          </a:p>
          <a:p>
            <a:pPr marL="0" lvl="0" indent="0" algn="l" rtl="0">
              <a:spcBef>
                <a:spcPts val="0"/>
              </a:spcBef>
              <a:spcAft>
                <a:spcPts val="0"/>
              </a:spcAft>
              <a:buNone/>
              <a:defRPr/>
            </a:pPr>
            <a:r>
              <a:rPr lang="en-GB" b="1" u="sng">
                <a:solidFill>
                  <a:schemeClr val="hlink"/>
                </a:solidFill>
                <a:highlight>
                  <a:srgbClr val="000000"/>
                </a:highlight>
                <a:hlinkClick r:id="rId4" tooltip=""/>
              </a:rPr>
              <a:t>Video 1</a:t>
            </a:r>
            <a:r>
              <a:rPr lang="en-GB" b="1">
                <a:solidFill>
                  <a:schemeClr val="lt1"/>
                </a:solidFill>
                <a:highlight>
                  <a:srgbClr val="000000"/>
                </a:highlight>
              </a:rPr>
              <a:t>		</a:t>
            </a:r>
            <a:r>
              <a:rPr lang="en-GB" b="1" u="sng">
                <a:solidFill>
                  <a:schemeClr val="hlink"/>
                </a:solidFill>
                <a:highlight>
                  <a:srgbClr val="000000"/>
                </a:highlight>
                <a:hlinkClick r:id="rId5" tooltip=""/>
              </a:rPr>
              <a:t>Video 2</a:t>
            </a:r>
            <a:endParaRPr b="1">
              <a:solidFill>
                <a:schemeClr val="lt1"/>
              </a:solidFill>
              <a:highlight>
                <a:srgbClr val="000000"/>
              </a:highligh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60774907" name="Google Shape;90;p16"/>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489741027" name="Google Shape;91;p16"/>
          <p:cNvSpPr txBox="1"/>
          <p:nvPr/>
        </p:nvSpPr>
        <p:spPr bwMode="auto">
          <a:xfrm>
            <a:off x="293850" y="250425"/>
            <a:ext cx="6972300" cy="64320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Task one - Operations on a binary tree</a:t>
            </a:r>
            <a:endParaRPr b="1"/>
          </a:p>
          <a:p>
            <a:pPr marL="0" lvl="0" indent="0" algn="l" rtl="0">
              <a:spcBef>
                <a:spcPts val="0"/>
              </a:spcBef>
              <a:spcAft>
                <a:spcPts val="0"/>
              </a:spcAft>
              <a:buNone/>
              <a:defRPr/>
            </a:pPr>
            <a:endParaRPr/>
          </a:p>
          <a:p>
            <a:pPr marL="0" lvl="0" indent="0" algn="l" rtl="0">
              <a:spcBef>
                <a:spcPts val="0"/>
              </a:spcBef>
              <a:spcAft>
                <a:spcPts val="0"/>
              </a:spcAft>
              <a:buNone/>
              <a:defRPr/>
            </a:pPr>
            <a:r>
              <a:rPr lang="en-GB"/>
              <a:t>There are a number operations that can be performed on a binary tree.</a:t>
            </a:r>
            <a:endParaRPr/>
          </a:p>
          <a:p>
            <a:pPr marL="0" lvl="0" indent="0" algn="l" rtl="0">
              <a:spcBef>
                <a:spcPts val="0"/>
              </a:spcBef>
              <a:spcAft>
                <a:spcPts val="0"/>
              </a:spcAft>
              <a:buNone/>
              <a:defRPr/>
            </a:pPr>
            <a:endParaRPr/>
          </a:p>
          <a:p>
            <a:pPr marL="0" lvl="0" indent="0" algn="l" rtl="0">
              <a:spcBef>
                <a:spcPts val="0"/>
              </a:spcBef>
              <a:spcAft>
                <a:spcPts val="0"/>
              </a:spcAft>
              <a:buClr>
                <a:srgbClr val="000000"/>
              </a:buClr>
              <a:buSzPts val="1100"/>
              <a:buFont typeface="Arial"/>
              <a:buNone/>
              <a:defRPr/>
            </a:pPr>
            <a:r>
              <a:rPr lang="en-GB">
                <a:solidFill>
                  <a:srgbClr val="000000"/>
                </a:solidFill>
              </a:rPr>
              <a:t>Complete the table.</a:t>
            </a:r>
            <a:endParaRPr/>
          </a:p>
        </p:txBody>
      </p:sp>
      <p:graphicFrame>
        <p:nvGraphicFramePr>
          <p:cNvPr id="93896212" name="Google Shape;92;p16"/>
          <p:cNvGraphicFramePr>
            <a:graphicFrameLocks xmlns:a="http://schemas.openxmlformats.org/drawingml/2006/main"/>
          </p:cNvGraphicFramePr>
          <p:nvPr/>
        </p:nvGraphicFramePr>
        <p:xfrm rot="0">
          <a:off x="462450" y="1597575"/>
          <a:ext cx="3000000" cy="3000000"/>
        </p:xfrm>
        <a:graphic>
          <a:graphicData uri="http://schemas.openxmlformats.org/drawingml/2006/table">
            <a:tbl>
              <a:tblPr firstRow="0" firstCol="0" lastRow="0" lastCol="0" bandRow="0" bandCol="0">
                <a:tableStyleId>{63040797-A219-4A2E-ABFE-67BBE4557044}</a:tableStyleId>
                <a:noFill/>
              </a:tblPr>
              <a:tblGrid>
                <a:gridCol w="1863300"/>
                <a:gridCol w="4805225"/>
              </a:tblGrid>
              <a:tr h="597575">
                <a:tc>
                  <a:txBody>
                    <a:bodyPr/>
                    <a:p>
                      <a:pPr marL="0" lvl="0" indent="0" algn="ctr" rtl="0">
                        <a:spcBef>
                          <a:spcPts val="0"/>
                        </a:spcBef>
                        <a:spcAft>
                          <a:spcPts val="0"/>
                        </a:spcAft>
                        <a:buNone/>
                        <a:defRPr/>
                      </a:pPr>
                      <a:r>
                        <a:rPr lang="en-GB" b="1"/>
                        <a:t>Operation</a:t>
                      </a:r>
                      <a:endParaRPr b="1"/>
                    </a:p>
                  </a:txBody>
                  <a:tcPr marL="91425" marR="91425" marT="91425" marB="91425"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c>
                  <a:txBody>
                    <a:bodyPr/>
                    <a:p>
                      <a:pPr marL="0" lvl="0" indent="0" algn="ctr" rtl="0">
                        <a:spcBef>
                          <a:spcPts val="0"/>
                        </a:spcBef>
                        <a:spcAft>
                          <a:spcPts val="0"/>
                        </a:spcAft>
                        <a:buNone/>
                        <a:defRPr/>
                      </a:pPr>
                      <a:r>
                        <a:rPr lang="en-GB" b="1"/>
                        <a:t>Description</a:t>
                      </a:r>
                      <a:endParaRPr b="1"/>
                    </a:p>
                  </a:txBody>
                  <a:tcPr marL="91425" marR="91425" marT="91425" marB="91425"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r>
              <a:tr h="597575">
                <a:tc>
                  <a:txBody>
                    <a:bodyPr/>
                    <a:p>
                      <a:pPr marL="0" lvl="0" indent="0" algn="ctr" rtl="0">
                        <a:spcBef>
                          <a:spcPts val="0"/>
                        </a:spcBef>
                        <a:spcAft>
                          <a:spcPts val="0"/>
                        </a:spcAft>
                        <a:buNone/>
                        <a:defRPr/>
                      </a:pPr>
                      <a:r>
                        <a:rPr lang="en-GB"/>
                        <a:t>Add</a:t>
                      </a:r>
                      <a:endParaRPr/>
                    </a:p>
                  </a:txBody>
                  <a:tcPr marL="91425" marR="91425" marT="91425" marB="91425"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c>
                  <a:txBody>
                    <a:bodyPr/>
                    <a:p>
                      <a:pPr marL="0" lvl="0" indent="0" algn="l" rtl="0">
                        <a:spcBef>
                          <a:spcPts val="0"/>
                        </a:spcBef>
                        <a:spcAft>
                          <a:spcPts val="0"/>
                        </a:spcAft>
                        <a:buNone/>
                        <a:defRPr/>
                      </a:pPr>
                      <a:r>
                        <a:rPr lang="en-GB"/>
                        <a:t>adds a new node to the tree.</a:t>
                      </a:r>
                      <a:endParaRPr/>
                    </a:p>
                  </a:txBody>
                  <a:tcPr marL="91425" marR="91425" marT="91425" marB="91425"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r>
              <a:tr h="597575">
                <a:tc>
                  <a:txBody>
                    <a:bodyPr/>
                    <a:p>
                      <a:pPr marL="0" lvl="0" indent="0" algn="ctr" rtl="0">
                        <a:spcBef>
                          <a:spcPts val="0"/>
                        </a:spcBef>
                        <a:spcAft>
                          <a:spcPts val="0"/>
                        </a:spcAft>
                        <a:buNone/>
                        <a:defRPr/>
                      </a:pPr>
                      <a:r>
                        <a:rPr lang="en-GB"/>
                        <a:t>Delete</a:t>
                      </a:r>
                      <a:endParaRPr/>
                    </a:p>
                  </a:txBody>
                  <a:tcPr marL="91425" marR="91425" marT="91425" marB="91425"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c>
                  <a:txBody>
                    <a:bodyPr/>
                    <a:p>
                      <a:pPr marL="0" lvl="0" indent="0" algn="l" rtl="0">
                        <a:spcBef>
                          <a:spcPts val="0"/>
                        </a:spcBef>
                        <a:spcAft>
                          <a:spcPts val="0"/>
                        </a:spcAft>
                        <a:buNone/>
                        <a:defRPr/>
                      </a:pPr>
                      <a:r>
                        <a:rPr lang="en"/>
                        <a:t>Removes a node from a tree</a:t>
                      </a:r>
                      <a:endParaRPr/>
                    </a:p>
                  </a:txBody>
                  <a:tcPr marL="91425" marR="91425" marT="91425" marB="91425"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r>
              <a:tr h="597575">
                <a:tc>
                  <a:txBody>
                    <a:bodyPr/>
                    <a:p>
                      <a:pPr marL="0" lvl="0" indent="0" algn="ctr" rtl="0">
                        <a:spcBef>
                          <a:spcPts val="0"/>
                        </a:spcBef>
                        <a:spcAft>
                          <a:spcPts val="0"/>
                        </a:spcAft>
                        <a:buNone/>
                        <a:defRPr/>
                      </a:pPr>
                      <a:r>
                        <a:rPr lang="en-GB"/>
                        <a:t>Binary search</a:t>
                      </a:r>
                      <a:endParaRPr/>
                    </a:p>
                  </a:txBody>
                  <a:tcPr marL="91425" marR="91425" marT="91425" marB="91425"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c>
                  <a:txBody>
                    <a:bodyPr/>
                    <a:p>
                      <a:pPr marL="0" lvl="0" indent="0" algn="l" rtl="0">
                        <a:spcBef>
                          <a:spcPts val="0"/>
                        </a:spcBef>
                        <a:spcAft>
                          <a:spcPts val="0"/>
                        </a:spcAft>
                        <a:buNone/>
                        <a:defRPr/>
                      </a:pPr>
                      <a:r>
                        <a:rPr lang="en"/>
                        <a:t>Returns the data stored in a node</a:t>
                      </a:r>
                      <a:endParaRPr/>
                    </a:p>
                  </a:txBody>
                  <a:tcPr marL="91425" marR="91425" marT="91425" marB="91425"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r>
              <a:tr h="597575">
                <a:tc>
                  <a:txBody>
                    <a:bodyPr/>
                    <a:p>
                      <a:pPr marL="0" lvl="0" indent="0" algn="ctr" rtl="0">
                        <a:spcBef>
                          <a:spcPts val="0"/>
                        </a:spcBef>
                        <a:spcAft>
                          <a:spcPts val="0"/>
                        </a:spcAft>
                        <a:buNone/>
                        <a:defRPr/>
                      </a:pPr>
                      <a:r>
                        <a:rPr lang="en-GB"/>
                        <a:t>Pre-order traversal</a:t>
                      </a:r>
                      <a:endParaRPr/>
                    </a:p>
                  </a:txBody>
                  <a:tcPr marL="91425" marR="91425" marT="91425" marB="91425"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c>
                  <a:txBody>
                    <a:bodyPr/>
                    <a:p>
                      <a:pPr marL="0" lvl="0" indent="0" algn="l" rtl="0">
                        <a:spcBef>
                          <a:spcPts val="0"/>
                        </a:spcBef>
                        <a:spcAft>
                          <a:spcPts val="0"/>
                        </a:spcAft>
                        <a:buNone/>
                        <a:defRPr/>
                      </a:pPr>
                      <a:r>
                        <a:rPr lang="en"/>
                        <a:t>Type of DFS</a:t>
                      </a:r>
                      <a:endParaRPr/>
                    </a:p>
                  </a:txBody>
                  <a:tcPr marL="91425" marR="91425" marT="91425" marB="91425"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r>
              <a:tr h="597575">
                <a:tc>
                  <a:txBody>
                    <a:bodyPr/>
                    <a:p>
                      <a:pPr marL="0" lvl="0" indent="0" algn="ctr" rtl="0">
                        <a:spcBef>
                          <a:spcPts val="0"/>
                        </a:spcBef>
                        <a:spcAft>
                          <a:spcPts val="0"/>
                        </a:spcAft>
                        <a:buNone/>
                        <a:defRPr/>
                      </a:pPr>
                      <a:r>
                        <a:rPr lang="en-GB"/>
                        <a:t>In-order traversal</a:t>
                      </a:r>
                      <a:endParaRPr/>
                    </a:p>
                  </a:txBody>
                  <a:tcPr marL="91425" marR="91425" marT="91425" marB="91425"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c>
                  <a:txBody>
                    <a:bodyPr/>
                    <a:p>
                      <a:pPr marL="0" lvl="0" indent="0" algn="l" rtl="0">
                        <a:spcBef>
                          <a:spcPts val="0"/>
                        </a:spcBef>
                        <a:spcAft>
                          <a:spcPts val="0"/>
                        </a:spcAft>
                        <a:buNone/>
                        <a:defRPr/>
                      </a:pPr>
                      <a:r>
                        <a:rPr lang="en" sz="1400" b="0" i="0" u="none" strike="noStrike" cap="none" spc="0">
                          <a:solidFill>
                            <a:srgbClr val="000000"/>
                          </a:solidFill>
                          <a:latin typeface="Arial"/>
                          <a:ea typeface="Arial"/>
                          <a:cs typeface="Arial"/>
                        </a:rPr>
                        <a:t>Type of DFS</a:t>
                      </a:r>
                      <a:endParaRPr/>
                    </a:p>
                  </a:txBody>
                  <a:tcPr marL="91425" marR="91425" marT="91425" marB="91425"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r>
              <a:tr h="597575">
                <a:tc>
                  <a:txBody>
                    <a:bodyPr/>
                    <a:p>
                      <a:pPr marL="0" lvl="0" indent="0" algn="ctr" rtl="0">
                        <a:spcBef>
                          <a:spcPts val="0"/>
                        </a:spcBef>
                        <a:spcAft>
                          <a:spcPts val="0"/>
                        </a:spcAft>
                        <a:buNone/>
                        <a:defRPr/>
                      </a:pPr>
                      <a:r>
                        <a:rPr lang="en-GB"/>
                        <a:t>Post-order traversal</a:t>
                      </a:r>
                      <a:endParaRPr/>
                    </a:p>
                  </a:txBody>
                  <a:tcPr marL="91425" marR="91425" marT="91425" marB="91425"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c>
                  <a:txBody>
                    <a:bodyPr/>
                    <a:p>
                      <a:pPr marL="0" lvl="0" indent="0" algn="l" rtl="0">
                        <a:spcBef>
                          <a:spcPts val="0"/>
                        </a:spcBef>
                        <a:spcAft>
                          <a:spcPts val="0"/>
                        </a:spcAft>
                        <a:buNone/>
                        <a:defRPr/>
                      </a:pPr>
                      <a:r>
                        <a:rPr lang="en" sz="1400" b="0" i="0" u="none" strike="noStrike" cap="none" spc="0">
                          <a:solidFill>
                            <a:srgbClr val="000000"/>
                          </a:solidFill>
                          <a:latin typeface="Arial"/>
                          <a:ea typeface="Arial"/>
                          <a:cs typeface="Arial"/>
                        </a:rPr>
                        <a:t>Type of DFS</a:t>
                      </a:r>
                      <a:endParaRPr/>
                    </a:p>
                  </a:txBody>
                  <a:tcPr marL="91425" marR="91425" marT="91425" marB="91425"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r>
              <a:tr h="597575">
                <a:tc>
                  <a:txBody>
                    <a:bodyPr/>
                    <a:p>
                      <a:pPr marL="0" lvl="0" indent="0" algn="ctr" rtl="0">
                        <a:spcBef>
                          <a:spcPts val="0"/>
                        </a:spcBef>
                        <a:spcAft>
                          <a:spcPts val="0"/>
                        </a:spcAft>
                        <a:buNone/>
                        <a:defRPr/>
                      </a:pPr>
                      <a:r>
                        <a:rPr lang="en-GB"/>
                        <a:t>Breadth-first search</a:t>
                      </a:r>
                      <a:endParaRPr/>
                    </a:p>
                  </a:txBody>
                  <a:tcPr marL="91425" marR="91425" marT="91425" marB="91425"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c>
                  <a:txBody>
                    <a:bodyPr/>
                    <a:p>
                      <a:pPr marL="0" lvl="0" indent="0" algn="l" rtl="0">
                        <a:spcBef>
                          <a:spcPts val="0"/>
                        </a:spcBef>
                        <a:spcAft>
                          <a:spcPts val="0"/>
                        </a:spcAft>
                        <a:buNone/>
                        <a:defRPr/>
                      </a:pPr>
                      <a:r>
                        <a:rPr lang="en"/>
                        <a:t>Traverses the tree and returns the data stroed in a node</a:t>
                      </a:r>
                      <a:endParaRPr/>
                    </a:p>
                  </a:txBody>
                  <a:tcPr marL="91425" marR="91425" marT="91425" marB="91425" anchor="ctr">
                    <a:lnL w="9525" algn="ctr">
                      <a:solidFill>
                        <a:srgbClr val="000000"/>
                      </a:solidFill>
                    </a:lnL>
                    <a:lnR w="9525" algn="ctr">
                      <a:solidFill>
                        <a:srgbClr val="000000"/>
                      </a:solidFill>
                    </a:lnR>
                    <a:lnT w="9525" algn="ctr">
                      <a:solidFill>
                        <a:srgbClr val="000000"/>
                      </a:solidFill>
                    </a:lnT>
                    <a:lnB w="9525" algn="ctr">
                      <a:solidFill>
                        <a:srgbClr val="000000"/>
                      </a:solidFill>
                    </a:lnB>
                    <a:solidFill>
                      <a:srgbClr val="FFFFFF"/>
                    </a:solidFill>
                  </a:tcPr>
                </a:tc>
              </a:tr>
            </a:tbl>
          </a:graphicData>
        </a:graphic>
      </p:graphicFrame>
      <p:sp>
        <p:nvSpPr>
          <p:cNvPr id="1849872328" name=""/>
          <p:cNvSpPr txBox="1"/>
          <p:nvPr/>
        </p:nvSpPr>
        <p:spPr bwMode="auto">
          <a:xfrm rot="0" flipH="0" flipV="0">
            <a:off x="2826399" y="7010399"/>
            <a:ext cx="302190" cy="30515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lang="en"/>
              <a:t>E</a:t>
            </a:r>
            <a:endParaRPr/>
          </a:p>
        </p:txBody>
      </p:sp>
      <p:sp>
        <p:nvSpPr>
          <p:cNvPr id="377203515" name=""/>
          <p:cNvSpPr txBox="1"/>
          <p:nvPr/>
        </p:nvSpPr>
        <p:spPr bwMode="auto">
          <a:xfrm rot="0" flipH="0" flipV="0">
            <a:off x="2426349" y="7518399"/>
            <a:ext cx="302190" cy="30515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lang="en"/>
              <a:t>B</a:t>
            </a:r>
            <a:endParaRPr/>
          </a:p>
        </p:txBody>
      </p:sp>
      <p:sp>
        <p:nvSpPr>
          <p:cNvPr id="290146849" name=""/>
          <p:cNvSpPr txBox="1"/>
          <p:nvPr/>
        </p:nvSpPr>
        <p:spPr bwMode="auto">
          <a:xfrm rot="0" flipH="0" flipV="0">
            <a:off x="3213749" y="7505699"/>
            <a:ext cx="321897" cy="30515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lang="en"/>
              <a:t>G</a:t>
            </a:r>
            <a:endParaRPr/>
          </a:p>
        </p:txBody>
      </p:sp>
      <p:sp>
        <p:nvSpPr>
          <p:cNvPr id="340127271" name=""/>
          <p:cNvSpPr txBox="1"/>
          <p:nvPr/>
        </p:nvSpPr>
        <p:spPr bwMode="auto">
          <a:xfrm rot="0" flipH="0" flipV="0">
            <a:off x="2096149" y="7956549"/>
            <a:ext cx="302190" cy="30515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lang="en"/>
              <a:t>A</a:t>
            </a:r>
            <a:endParaRPr/>
          </a:p>
        </p:txBody>
      </p:sp>
      <p:sp>
        <p:nvSpPr>
          <p:cNvPr id="24872331" name=""/>
          <p:cNvSpPr txBox="1"/>
          <p:nvPr/>
        </p:nvSpPr>
        <p:spPr bwMode="auto">
          <a:xfrm rot="0" flipH="0" flipV="0">
            <a:off x="2737499" y="7988299"/>
            <a:ext cx="311999" cy="30515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lang="en"/>
              <a:t>C</a:t>
            </a:r>
            <a:endParaRPr/>
          </a:p>
        </p:txBody>
      </p:sp>
      <p:sp>
        <p:nvSpPr>
          <p:cNvPr id="1044825103" name=""/>
          <p:cNvSpPr txBox="1"/>
          <p:nvPr/>
        </p:nvSpPr>
        <p:spPr bwMode="auto">
          <a:xfrm rot="0" flipH="0" flipV="0">
            <a:off x="3626499" y="7924799"/>
            <a:ext cx="292206" cy="30515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lang="en"/>
              <a:t>F</a:t>
            </a:r>
            <a:endParaRPr/>
          </a:p>
        </p:txBody>
      </p:sp>
      <p:sp>
        <p:nvSpPr>
          <p:cNvPr id="602468013" name=""/>
          <p:cNvSpPr txBox="1"/>
          <p:nvPr/>
        </p:nvSpPr>
        <p:spPr bwMode="auto">
          <a:xfrm rot="0" flipH="0" flipV="0">
            <a:off x="4115449" y="8381999"/>
            <a:ext cx="311999" cy="30515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lang="en"/>
              <a:t>H</a:t>
            </a:r>
            <a:endParaRPr/>
          </a:p>
        </p:txBody>
      </p:sp>
      <p:cxnSp>
        <p:nvCxnSpPr>
          <p:cNvPr id="853883026" name=""/>
          <p:cNvCxnSpPr/>
          <p:nvPr/>
        </p:nvCxnSpPr>
        <p:spPr bwMode="auto">
          <a:xfrm flipH="1" flipV="0">
            <a:off x="2750199" y="7308849"/>
            <a:ext cx="152399" cy="158749"/>
          </a:xfrm>
          <a:prstGeom prst="line">
            <a:avLst/>
          </a:prstGeom>
        </p:spPr>
        <p:style>
          <a:lnRef idx="1">
            <a:schemeClr val="accent1">
              <a:shade val="50000"/>
            </a:schemeClr>
          </a:lnRef>
          <a:fillRef idx="0">
            <a:schemeClr val="accent1"/>
          </a:fillRef>
          <a:effectRef idx="0">
            <a:schemeClr val="accent1"/>
          </a:effectRef>
          <a:fontRef idx="minor">
            <a:schemeClr val="tx1"/>
          </a:fontRef>
        </p:style>
      </p:cxnSp>
      <p:cxnSp>
        <p:nvCxnSpPr>
          <p:cNvPr id="798675767" name=""/>
          <p:cNvCxnSpPr/>
          <p:nvPr/>
        </p:nvCxnSpPr>
        <p:spPr bwMode="auto">
          <a:xfrm flipH="1" flipV="0">
            <a:off x="2331099" y="7785099"/>
            <a:ext cx="133349" cy="184149"/>
          </a:xfrm>
          <a:prstGeom prst="line">
            <a:avLst/>
          </a:prstGeom>
        </p:spPr>
        <p:style>
          <a:lnRef idx="1">
            <a:schemeClr val="accent1">
              <a:shade val="50000"/>
            </a:schemeClr>
          </a:lnRef>
          <a:fillRef idx="0">
            <a:schemeClr val="accent1"/>
          </a:fillRef>
          <a:effectRef idx="0">
            <a:schemeClr val="accent1"/>
          </a:effectRef>
          <a:fontRef idx="minor">
            <a:schemeClr val="tx1"/>
          </a:fontRef>
        </p:style>
      </p:cxnSp>
      <p:cxnSp>
        <p:nvCxnSpPr>
          <p:cNvPr id="1048756135" name=""/>
          <p:cNvCxnSpPr/>
          <p:nvPr/>
        </p:nvCxnSpPr>
        <p:spPr bwMode="auto">
          <a:xfrm flipH="0" flipV="0">
            <a:off x="2661299" y="7804149"/>
            <a:ext cx="107949" cy="177798"/>
          </a:xfrm>
          <a:prstGeom prst="line">
            <a:avLst/>
          </a:prstGeom>
        </p:spPr>
        <p:style>
          <a:lnRef idx="1">
            <a:schemeClr val="accent1">
              <a:shade val="50000"/>
            </a:schemeClr>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39426387" name="Google Shape;97;p17"/>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530742878" name="Google Shape;98;p17"/>
          <p:cNvSpPr txBox="1"/>
          <p:nvPr/>
        </p:nvSpPr>
        <p:spPr bwMode="auto">
          <a:xfrm>
            <a:off x="293850" y="250425"/>
            <a:ext cx="6972300" cy="95952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Task two - Binary Tree code using an Array/List</a:t>
            </a:r>
            <a:endParaRPr/>
          </a:p>
        </p:txBody>
      </p:sp>
      <p:pic>
        <p:nvPicPr>
          <p:cNvPr id="1611844881" name="Google Shape;99;p17"/>
          <p:cNvPicPr/>
          <p:nvPr/>
        </p:nvPicPr>
        <p:blipFill rotWithShape="1">
          <a:blip r:embed="rId3">
            <a:alphaModFix/>
          </a:blip>
          <a:stretch/>
        </p:blipFill>
        <p:spPr bwMode="auto">
          <a:xfrm>
            <a:off x="553350" y="786801"/>
            <a:ext cx="6596926" cy="3246799"/>
          </a:xfrm>
          <a:prstGeom prst="rect">
            <a:avLst/>
          </a:prstGeom>
          <a:noFill/>
          <a:ln>
            <a:noFill/>
          </a:ln>
        </p:spPr>
      </p:pic>
      <p:pic>
        <p:nvPicPr>
          <p:cNvPr id="1550562225" name="Google Shape;100;p17"/>
          <p:cNvPicPr/>
          <p:nvPr/>
        </p:nvPicPr>
        <p:blipFill rotWithShape="1">
          <a:blip r:embed="rId4">
            <a:alphaModFix/>
          </a:blip>
          <a:srcRect l="0" t="0" r="4313" b="0"/>
          <a:stretch/>
        </p:blipFill>
        <p:spPr bwMode="auto">
          <a:xfrm>
            <a:off x="471424" y="4348825"/>
            <a:ext cx="6596926" cy="3309109"/>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00071362" name="Google Shape;105;p18"/>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256090822" name="Google Shape;106;p18"/>
          <p:cNvSpPr txBox="1"/>
          <p:nvPr/>
        </p:nvSpPr>
        <p:spPr bwMode="auto">
          <a:xfrm>
            <a:off x="293850" y="250425"/>
            <a:ext cx="6972300" cy="95952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Task two - Binary Tree code using an Array/List</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a:t>Using the initial list and code below draw the binary tree in the space.</a:t>
            </a: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r>
              <a:rPr lang="en-GB"/>
              <a:t>Now add another letter D  and use the below code to check if has placed in in the correct place.</a:t>
            </a: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r>
              <a:rPr lang="en-GB"/>
              <a:t>Now return to the original binary tree and remove A and check using the code above.</a:t>
            </a:r>
            <a:endParaRPr/>
          </a:p>
          <a:p>
            <a:pPr marL="0" lvl="0" indent="0" algn="l" rtl="0">
              <a:spcBef>
                <a:spcPts val="0"/>
              </a:spcBef>
              <a:spcAft>
                <a:spcPts val="0"/>
              </a:spcAft>
              <a:buNone/>
              <a:defRPr/>
            </a:pPr>
            <a:r>
              <a:rPr lang="en-GB"/>
              <a:t>What has happened to the tree?</a:t>
            </a:r>
            <a:endParaRPr/>
          </a:p>
          <a:p>
            <a:pPr marL="0" lvl="0" indent="0" algn="l" rtl="0">
              <a:spcBef>
                <a:spcPts val="0"/>
              </a:spcBef>
              <a:spcAft>
                <a:spcPts val="0"/>
              </a:spcAft>
              <a:buNone/>
              <a:defRPr/>
            </a:pPr>
            <a:endParaRPr/>
          </a:p>
        </p:txBody>
      </p:sp>
      <p:pic>
        <p:nvPicPr>
          <p:cNvPr id="801152561" name="Google Shape;107;p18"/>
          <p:cNvPicPr/>
          <p:nvPr/>
        </p:nvPicPr>
        <p:blipFill rotWithShape="1">
          <a:blip r:embed="rId3">
            <a:alphaModFix/>
          </a:blip>
          <a:stretch/>
        </p:blipFill>
        <p:spPr bwMode="auto">
          <a:xfrm>
            <a:off x="1273575" y="1242713"/>
            <a:ext cx="4724399" cy="1114425"/>
          </a:xfrm>
          <a:prstGeom prst="rect">
            <a:avLst/>
          </a:prstGeom>
          <a:noFill/>
          <a:ln>
            <a:noFill/>
          </a:ln>
        </p:spPr>
      </p:pic>
      <p:sp>
        <p:nvSpPr>
          <p:cNvPr id="413681407" name="Google Shape;108;p18"/>
          <p:cNvSpPr/>
          <p:nvPr/>
        </p:nvSpPr>
        <p:spPr bwMode="auto">
          <a:xfrm>
            <a:off x="623700" y="2628450"/>
            <a:ext cx="6381000" cy="30294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pic>
        <p:nvPicPr>
          <p:cNvPr id="392173043" name="Google Shape;109;p18"/>
          <p:cNvPicPr/>
          <p:nvPr/>
        </p:nvPicPr>
        <p:blipFill rotWithShape="1">
          <a:blip r:embed="rId4">
            <a:alphaModFix/>
          </a:blip>
          <a:stretch/>
        </p:blipFill>
        <p:spPr bwMode="auto">
          <a:xfrm>
            <a:off x="623703" y="6551454"/>
            <a:ext cx="6381000" cy="1585736"/>
          </a:xfrm>
          <a:prstGeom prst="rect">
            <a:avLst/>
          </a:prstGeom>
          <a:noFill/>
          <a:ln>
            <a:noFill/>
          </a:ln>
        </p:spPr>
      </p:pic>
      <p:sp>
        <p:nvSpPr>
          <p:cNvPr id="1123693425" name="Google Shape;110;p18"/>
          <p:cNvSpPr/>
          <p:nvPr/>
        </p:nvSpPr>
        <p:spPr bwMode="auto">
          <a:xfrm>
            <a:off x="623700" y="8820900"/>
            <a:ext cx="6381000" cy="8181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116643337" name=""/>
          <p:cNvSpPr txBox="1"/>
          <p:nvPr/>
        </p:nvSpPr>
        <p:spPr bwMode="auto">
          <a:xfrm rot="0" flipH="0" flipV="0">
            <a:off x="3293796" y="2857500"/>
            <a:ext cx="342698"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
              <a:t>E</a:t>
            </a:r>
            <a:endParaRPr/>
          </a:p>
        </p:txBody>
      </p:sp>
      <p:sp>
        <p:nvSpPr>
          <p:cNvPr id="1010700127" name=""/>
          <p:cNvSpPr txBox="1"/>
          <p:nvPr/>
        </p:nvSpPr>
        <p:spPr bwMode="auto">
          <a:xfrm rot="0" flipH="0" flipV="0">
            <a:off x="2611758" y="3304351"/>
            <a:ext cx="212026"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
              <a:t>B</a:t>
            </a:r>
            <a:endParaRPr/>
          </a:p>
        </p:txBody>
      </p:sp>
      <p:sp>
        <p:nvSpPr>
          <p:cNvPr id="1688276932" name=""/>
          <p:cNvSpPr txBox="1"/>
          <p:nvPr/>
        </p:nvSpPr>
        <p:spPr bwMode="auto">
          <a:xfrm rot="0" flipH="0" flipV="0">
            <a:off x="3814202" y="3374907"/>
            <a:ext cx="306100"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
              <a:t>G</a:t>
            </a:r>
            <a:endParaRPr/>
          </a:p>
        </p:txBody>
      </p:sp>
      <p:sp>
        <p:nvSpPr>
          <p:cNvPr id="734191795" name=""/>
          <p:cNvSpPr txBox="1"/>
          <p:nvPr/>
        </p:nvSpPr>
        <p:spPr bwMode="auto">
          <a:xfrm rot="0" flipH="0" flipV="0">
            <a:off x="2153148" y="3692407"/>
            <a:ext cx="236265"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
              <a:t>A</a:t>
            </a:r>
            <a:endParaRPr/>
          </a:p>
        </p:txBody>
      </p:sp>
      <p:sp>
        <p:nvSpPr>
          <p:cNvPr id="511123625" name=""/>
          <p:cNvSpPr txBox="1"/>
          <p:nvPr/>
        </p:nvSpPr>
        <p:spPr bwMode="auto">
          <a:xfrm rot="0" flipH="0" flipV="0">
            <a:off x="2858703" y="3657129"/>
            <a:ext cx="141471"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
              <a:t>C</a:t>
            </a:r>
            <a:endParaRPr/>
          </a:p>
        </p:txBody>
      </p:sp>
      <p:cxnSp>
        <p:nvCxnSpPr>
          <p:cNvPr id="1792695470" name=""/>
          <p:cNvCxnSpPr/>
          <p:nvPr/>
        </p:nvCxnSpPr>
        <p:spPr bwMode="auto">
          <a:xfrm flipH="1" flipV="0">
            <a:off x="2893981" y="3080925"/>
            <a:ext cx="411573" cy="270462"/>
          </a:xfrm>
          <a:prstGeom prst="line">
            <a:avLst/>
          </a:prstGeom>
          <a:ln>
            <a:tailEnd type="arrow" len="med"/>
          </a:ln>
        </p:spPr>
        <p:style>
          <a:lnRef idx="1">
            <a:schemeClr val="accent1">
              <a:shade val="50000"/>
            </a:schemeClr>
          </a:lnRef>
          <a:fillRef idx="0">
            <a:schemeClr val="accent1"/>
          </a:fillRef>
          <a:effectRef idx="0">
            <a:schemeClr val="accent1"/>
          </a:effectRef>
          <a:fontRef idx="minor">
            <a:schemeClr val="tx1"/>
          </a:fontRef>
        </p:style>
      </p:cxnSp>
      <p:cxnSp>
        <p:nvCxnSpPr>
          <p:cNvPr id="319709927" name=""/>
          <p:cNvCxnSpPr/>
          <p:nvPr/>
        </p:nvCxnSpPr>
        <p:spPr bwMode="auto">
          <a:xfrm flipH="1" flipV="0">
            <a:off x="2376573" y="3480740"/>
            <a:ext cx="317499" cy="258703"/>
          </a:xfrm>
          <a:prstGeom prst="line">
            <a:avLst/>
          </a:prstGeom>
          <a:ln>
            <a:tailEnd type="arrow" len="med"/>
          </a:ln>
        </p:spPr>
        <p:style>
          <a:lnRef idx="1">
            <a:schemeClr val="accent1">
              <a:shade val="50000"/>
            </a:schemeClr>
          </a:lnRef>
          <a:fillRef idx="0">
            <a:schemeClr val="accent1"/>
          </a:fillRef>
          <a:effectRef idx="0">
            <a:schemeClr val="accent1"/>
          </a:effectRef>
          <a:fontRef idx="minor">
            <a:schemeClr val="tx1"/>
          </a:fontRef>
        </p:style>
      </p:cxnSp>
      <p:cxnSp>
        <p:nvCxnSpPr>
          <p:cNvPr id="1198716893" name=""/>
          <p:cNvCxnSpPr/>
          <p:nvPr/>
        </p:nvCxnSpPr>
        <p:spPr bwMode="auto">
          <a:xfrm flipH="0" flipV="0">
            <a:off x="2811666" y="3539536"/>
            <a:ext cx="58796" cy="152870"/>
          </a:xfrm>
          <a:prstGeom prst="line">
            <a:avLst/>
          </a:prstGeom>
          <a:ln>
            <a:tailEnd type="arrow" len="med"/>
          </a:ln>
        </p:spPr>
        <p:style>
          <a:lnRef idx="1">
            <a:schemeClr val="accent1">
              <a:shade val="50000"/>
            </a:schemeClr>
          </a:lnRef>
          <a:fillRef idx="0">
            <a:schemeClr val="accent1"/>
          </a:fillRef>
          <a:effectRef idx="0">
            <a:schemeClr val="accent1"/>
          </a:effectRef>
          <a:fontRef idx="minor">
            <a:schemeClr val="tx1"/>
          </a:fontRef>
        </p:style>
      </p:cxnSp>
      <p:cxnSp>
        <p:nvCxnSpPr>
          <p:cNvPr id="2001127297" name=""/>
          <p:cNvCxnSpPr/>
          <p:nvPr/>
        </p:nvCxnSpPr>
        <p:spPr bwMode="auto">
          <a:xfrm flipH="0" flipV="0">
            <a:off x="3552499" y="3104444"/>
            <a:ext cx="235185" cy="270462"/>
          </a:xfrm>
          <a:prstGeom prst="line">
            <a:avLst/>
          </a:prstGeom>
          <a:ln>
            <a:tailEnd type="arrow" len="med"/>
          </a:ln>
        </p:spPr>
        <p:style>
          <a:lnRef idx="1">
            <a:schemeClr val="accent1">
              <a:shade val="50000"/>
            </a:schemeClr>
          </a:lnRef>
          <a:fillRef idx="0">
            <a:schemeClr val="accent1"/>
          </a:fillRef>
          <a:effectRef idx="0">
            <a:schemeClr val="accent1"/>
          </a:effectRef>
          <a:fontRef idx="minor">
            <a:schemeClr val="tx1"/>
          </a:fontRef>
        </p:style>
      </p:cxnSp>
      <p:sp>
        <p:nvSpPr>
          <p:cNvPr id="549372980" name=""/>
          <p:cNvSpPr txBox="1"/>
          <p:nvPr/>
        </p:nvSpPr>
        <p:spPr bwMode="auto">
          <a:xfrm rot="0" flipH="0" flipV="0">
            <a:off x="3481944" y="3645370"/>
            <a:ext cx="282582"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
              <a:t>F</a:t>
            </a:r>
            <a:endParaRPr/>
          </a:p>
        </p:txBody>
      </p:sp>
      <p:sp>
        <p:nvSpPr>
          <p:cNvPr id="443728785" name=""/>
          <p:cNvSpPr txBox="1"/>
          <p:nvPr/>
        </p:nvSpPr>
        <p:spPr bwMode="auto">
          <a:xfrm rot="0" flipH="0" flipV="0">
            <a:off x="4093425" y="3668888"/>
            <a:ext cx="270822"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
              <a:t>H</a:t>
            </a:r>
            <a:endParaRPr/>
          </a:p>
        </p:txBody>
      </p:sp>
      <p:cxnSp>
        <p:nvCxnSpPr>
          <p:cNvPr id="1016453528" name=""/>
          <p:cNvCxnSpPr>
            <a:stCxn id="1688276932" idx="1"/>
          </p:cNvCxnSpPr>
          <p:nvPr/>
        </p:nvCxnSpPr>
        <p:spPr bwMode="auto">
          <a:xfrm rot="10800000" flipH="0" flipV="1">
            <a:off x="3693610" y="3527487"/>
            <a:ext cx="120590" cy="94364"/>
          </a:xfrm>
          <a:prstGeom prst="line">
            <a:avLst/>
          </a:prstGeom>
          <a:ln>
            <a:tailEnd type="arrow" len="med"/>
          </a:ln>
        </p:spPr>
        <p:style>
          <a:lnRef idx="1">
            <a:schemeClr val="accent1">
              <a:shade val="50000"/>
            </a:schemeClr>
          </a:lnRef>
          <a:fillRef idx="0">
            <a:schemeClr val="accent1"/>
          </a:fillRef>
          <a:effectRef idx="0">
            <a:schemeClr val="accent1"/>
          </a:effectRef>
          <a:fontRef idx="minor">
            <a:schemeClr val="tx1"/>
          </a:fontRef>
        </p:style>
      </p:cxnSp>
      <p:cxnSp>
        <p:nvCxnSpPr>
          <p:cNvPr id="2104017386" name=""/>
          <p:cNvCxnSpPr/>
          <p:nvPr/>
        </p:nvCxnSpPr>
        <p:spPr bwMode="auto">
          <a:xfrm flipH="0" flipV="0">
            <a:off x="4011110" y="3574814"/>
            <a:ext cx="70555" cy="94073"/>
          </a:xfrm>
          <a:prstGeom prst="line">
            <a:avLst/>
          </a:prstGeom>
          <a:ln>
            <a:tailEnd type="arrow" len="med"/>
          </a:ln>
        </p:spPr>
        <p:style>
          <a:lnRef idx="1">
            <a:schemeClr val="accent1">
              <a:shade val="50000"/>
            </a:schemeClr>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19962043" name="Google Shape;115;p19"/>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449274297" name="Google Shape;116;p19"/>
          <p:cNvSpPr txBox="1"/>
          <p:nvPr/>
        </p:nvSpPr>
        <p:spPr bwMode="auto">
          <a:xfrm>
            <a:off x="-5371800" y="1310700"/>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endParaRPr/>
          </a:p>
        </p:txBody>
      </p:sp>
      <p:sp>
        <p:nvSpPr>
          <p:cNvPr id="339879951" name="Google Shape;117;p19"/>
          <p:cNvSpPr txBox="1"/>
          <p:nvPr/>
        </p:nvSpPr>
        <p:spPr bwMode="auto">
          <a:xfrm>
            <a:off x="293850" y="250425"/>
            <a:ext cx="6972300" cy="45834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Task two - Binary Tree code using an Array/List</a:t>
            </a:r>
            <a:endParaRPr b="1"/>
          </a:p>
          <a:p>
            <a:pPr marL="0" lvl="0" indent="0" algn="l" rtl="0">
              <a:spcBef>
                <a:spcPts val="0"/>
              </a:spcBef>
              <a:spcAft>
                <a:spcPts val="0"/>
              </a:spcAft>
              <a:buNone/>
              <a:defRPr/>
            </a:pPr>
            <a:endParaRPr b="1"/>
          </a:p>
          <a:p>
            <a:pPr marL="0" lvl="0" indent="0" algn="l" rtl="0">
              <a:spcBef>
                <a:spcPts val="0"/>
              </a:spcBef>
              <a:spcAft>
                <a:spcPts val="0"/>
              </a:spcAft>
              <a:buClr>
                <a:schemeClr val="dk1"/>
              </a:buClr>
              <a:buSzPts val="1100"/>
              <a:buFont typeface="Arial"/>
              <a:buNone/>
              <a:defRPr/>
            </a:pPr>
            <a:r>
              <a:rPr lang="en-GB">
                <a:solidFill>
                  <a:schemeClr val="dk1"/>
                </a:solidFill>
              </a:rPr>
              <a:t>Now return to the original binary tree and remove B and check using the code above. What has happened this time and why?</a:t>
            </a:r>
            <a:endParaRPr/>
          </a:p>
          <a:p>
            <a:pPr marL="0" lvl="0" indent="0" algn="l" rtl="0">
              <a:spcBef>
                <a:spcPts val="0"/>
              </a:spcBef>
              <a:spcAft>
                <a:spcPts val="0"/>
              </a:spcAft>
              <a:buNone/>
              <a:defRPr/>
            </a:pPr>
            <a:endParaRPr/>
          </a:p>
        </p:txBody>
      </p:sp>
      <p:sp>
        <p:nvSpPr>
          <p:cNvPr id="1701845371" name="Google Shape;118;p19"/>
          <p:cNvSpPr/>
          <p:nvPr/>
        </p:nvSpPr>
        <p:spPr bwMode="auto">
          <a:xfrm>
            <a:off x="589500" y="1514700"/>
            <a:ext cx="6381000" cy="30294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10454592" name="Google Shape;119;p19"/>
          <p:cNvSpPr txBox="1"/>
          <p:nvPr/>
        </p:nvSpPr>
        <p:spPr bwMode="auto">
          <a:xfrm>
            <a:off x="204750" y="5011875"/>
            <a:ext cx="7253700" cy="49710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Practical</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a:t>Alter the code given to you so that it can search the graph shown below. </a:t>
            </a:r>
            <a:endParaRPr/>
          </a:p>
        </p:txBody>
      </p:sp>
      <p:pic>
        <p:nvPicPr>
          <p:cNvPr id="1091525991" name="Google Shape;120;p19"/>
          <p:cNvPicPr/>
          <p:nvPr/>
        </p:nvPicPr>
        <p:blipFill rotWithShape="1">
          <a:blip r:embed="rId3">
            <a:alphaModFix/>
          </a:blip>
          <a:stretch/>
        </p:blipFill>
        <p:spPr bwMode="auto">
          <a:xfrm>
            <a:off x="1568437" y="6044799"/>
            <a:ext cx="4526325" cy="239742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00125426" name="Google Shape;125;p20"/>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254060250" name="Google Shape;126;p20"/>
          <p:cNvSpPr txBox="1"/>
          <p:nvPr/>
        </p:nvSpPr>
        <p:spPr bwMode="auto">
          <a:xfrm>
            <a:off x="-5371800" y="1310700"/>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endParaRPr/>
          </a:p>
        </p:txBody>
      </p:sp>
      <p:sp>
        <p:nvSpPr>
          <p:cNvPr id="1128995287" name="Google Shape;127;p20"/>
          <p:cNvSpPr txBox="1"/>
          <p:nvPr/>
        </p:nvSpPr>
        <p:spPr bwMode="auto">
          <a:xfrm>
            <a:off x="153150" y="200475"/>
            <a:ext cx="7253700" cy="49710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Practical</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a:t>Alter the code given to you so that it can search the graph shown below. </a:t>
            </a:r>
            <a:endParaRPr/>
          </a:p>
        </p:txBody>
      </p:sp>
      <p:pic>
        <p:nvPicPr>
          <p:cNvPr id="59272073" name="Google Shape;128;p20"/>
          <p:cNvPicPr/>
          <p:nvPr/>
        </p:nvPicPr>
        <p:blipFill rotWithShape="1">
          <a:blip r:embed="rId3">
            <a:alphaModFix/>
          </a:blip>
          <a:stretch/>
        </p:blipFill>
        <p:spPr bwMode="auto">
          <a:xfrm>
            <a:off x="1189987" y="1310700"/>
            <a:ext cx="5180024" cy="3162900"/>
          </a:xfrm>
          <a:prstGeom prst="rect">
            <a:avLst/>
          </a:prstGeom>
          <a:noFill/>
          <a:ln>
            <a:noFill/>
          </a:ln>
        </p:spPr>
      </p:pic>
      <p:sp>
        <p:nvSpPr>
          <p:cNvPr id="277644559" name="Google Shape;129;p20"/>
          <p:cNvSpPr txBox="1"/>
          <p:nvPr/>
        </p:nvSpPr>
        <p:spPr bwMode="auto">
          <a:xfrm>
            <a:off x="153150" y="5346000"/>
            <a:ext cx="6997200" cy="49710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Practical</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a:t>Alter the code given to you so that it can search the graph shown below. </a:t>
            </a:r>
            <a:endParaRPr/>
          </a:p>
        </p:txBody>
      </p:sp>
      <p:pic>
        <p:nvPicPr>
          <p:cNvPr id="1665461319" name="Google Shape;130;p20"/>
          <p:cNvPicPr/>
          <p:nvPr/>
        </p:nvPicPr>
        <p:blipFill rotWithShape="1">
          <a:blip r:embed="rId4">
            <a:alphaModFix/>
          </a:blip>
          <a:stretch/>
        </p:blipFill>
        <p:spPr bwMode="auto">
          <a:xfrm>
            <a:off x="1190000" y="6281700"/>
            <a:ext cx="5069275" cy="3762350"/>
          </a:xfrm>
          <a:prstGeom prst="rect">
            <a:avLst/>
          </a:prstGeom>
          <a:noFill/>
          <a:ln>
            <a:noFill/>
          </a:ln>
        </p:spPr>
      </p:pic>
      <p:pic>
        <p:nvPicPr>
          <p:cNvPr id="1187059162" name=""/>
          <p:cNvPicPr>
            <a:picLocks noChangeAspect="1"/>
          </p:cNvPicPr>
          <p:nvPr/>
        </p:nvPicPr>
        <p:blipFill rotWithShape="1">
          <a:blip r:embed="rId5"/>
          <a:stretch/>
        </p:blipFill>
        <p:spPr bwMode="auto">
          <a:xfrm>
            <a:off x="-55362" y="4601446"/>
            <a:ext cx="7560000" cy="570027"/>
          </a:xfrm>
          <a:prstGeom prst="rect">
            <a:avLst/>
          </a:prstGeom>
        </p:spPr>
      </p:pic>
      <p:pic>
        <p:nvPicPr>
          <p:cNvPr id="995082743" name=""/>
          <p:cNvPicPr>
            <a:picLocks noChangeAspect="1"/>
          </p:cNvPicPr>
          <p:nvPr/>
        </p:nvPicPr>
        <p:blipFill rotWithShape="1">
          <a:blip r:embed="rId6"/>
          <a:stretch/>
        </p:blipFill>
        <p:spPr bwMode="auto">
          <a:xfrm>
            <a:off x="0" y="9817651"/>
            <a:ext cx="7560000" cy="57002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49649079" name="Google Shape;135;p21"/>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934178632" name="Google Shape;136;p21"/>
          <p:cNvSpPr txBox="1"/>
          <p:nvPr/>
        </p:nvSpPr>
        <p:spPr bwMode="auto">
          <a:xfrm>
            <a:off x="293850" y="250425"/>
            <a:ext cx="6972300" cy="95952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Task two - Binary Tree code using objects</a:t>
            </a:r>
            <a:endParaRPr/>
          </a:p>
        </p:txBody>
      </p:sp>
      <p:pic>
        <p:nvPicPr>
          <p:cNvPr id="288139106" name="Google Shape;137;p21"/>
          <p:cNvPicPr/>
          <p:nvPr/>
        </p:nvPicPr>
        <p:blipFill rotWithShape="1">
          <a:blip r:embed="rId3">
            <a:alphaModFix/>
          </a:blip>
          <a:stretch/>
        </p:blipFill>
        <p:spPr bwMode="auto">
          <a:xfrm>
            <a:off x="559124" y="732424"/>
            <a:ext cx="6445674" cy="6936773"/>
          </a:xfrm>
          <a:prstGeom prst="rect">
            <a:avLst/>
          </a:prstGeom>
          <a:noFill/>
          <a:ln>
            <a:noFill/>
          </a:ln>
        </p:spPr>
      </p:pic>
      <p:pic>
        <p:nvPicPr>
          <p:cNvPr id="1085334281" name="Google Shape;138;p21"/>
          <p:cNvPicPr/>
          <p:nvPr/>
        </p:nvPicPr>
        <p:blipFill rotWithShape="1">
          <a:blip r:embed="rId4">
            <a:alphaModFix/>
          </a:blip>
          <a:stretch/>
        </p:blipFill>
        <p:spPr bwMode="auto">
          <a:xfrm>
            <a:off x="559125" y="7669187"/>
            <a:ext cx="6515100" cy="159067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79869228" name="Google Shape;143;p22"/>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815350906" name="Google Shape;144;p22"/>
          <p:cNvSpPr txBox="1"/>
          <p:nvPr/>
        </p:nvSpPr>
        <p:spPr bwMode="auto">
          <a:xfrm>
            <a:off x="293850" y="250425"/>
            <a:ext cx="6972300" cy="95952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Task three - Binary Tree code using objects</a:t>
            </a:r>
            <a:endParaRPr/>
          </a:p>
        </p:txBody>
      </p:sp>
      <p:pic>
        <p:nvPicPr>
          <p:cNvPr id="422491248" name="Google Shape;145;p22"/>
          <p:cNvPicPr/>
          <p:nvPr/>
        </p:nvPicPr>
        <p:blipFill rotWithShape="1">
          <a:blip r:embed="rId3">
            <a:alphaModFix/>
          </a:blip>
          <a:stretch/>
        </p:blipFill>
        <p:spPr bwMode="auto">
          <a:xfrm>
            <a:off x="467775" y="786500"/>
            <a:ext cx="6658525" cy="5049551"/>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63105586" name="Google Shape;150;p23"/>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192795364" name="Google Shape;151;p23"/>
          <p:cNvSpPr txBox="1"/>
          <p:nvPr/>
        </p:nvSpPr>
        <p:spPr bwMode="auto">
          <a:xfrm>
            <a:off x="293850" y="250425"/>
            <a:ext cx="6972300" cy="95952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Task three - Binary Tree code using objects</a:t>
            </a:r>
            <a:endParaRPr/>
          </a:p>
        </p:txBody>
      </p:sp>
      <p:pic>
        <p:nvPicPr>
          <p:cNvPr id="1885041049" name="Google Shape;152;p23"/>
          <p:cNvPicPr/>
          <p:nvPr/>
        </p:nvPicPr>
        <p:blipFill rotWithShape="1">
          <a:blip r:embed="rId3">
            <a:alphaModFix/>
          </a:blip>
          <a:stretch/>
        </p:blipFill>
        <p:spPr bwMode="auto">
          <a:xfrm>
            <a:off x="472049" y="793399"/>
            <a:ext cx="6667500" cy="7181049"/>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31260077" name="Google Shape;157;p24"/>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716939905" name="Google Shape;158;p24"/>
          <p:cNvSpPr txBox="1"/>
          <p:nvPr/>
        </p:nvSpPr>
        <p:spPr bwMode="auto">
          <a:xfrm>
            <a:off x="293850" y="250425"/>
            <a:ext cx="6972300" cy="74568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Task three - Binary Tree code using objects</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a:t>Look at the two versions of creating a binary tree. Write down the differences between the two pieces of code.</a:t>
            </a:r>
            <a:endParaRPr/>
          </a:p>
        </p:txBody>
      </p:sp>
      <p:sp>
        <p:nvSpPr>
          <p:cNvPr id="2087350362" name="Google Shape;159;p24"/>
          <p:cNvSpPr/>
          <p:nvPr/>
        </p:nvSpPr>
        <p:spPr bwMode="auto">
          <a:xfrm>
            <a:off x="512325" y="1358775"/>
            <a:ext cx="6492600" cy="61257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26949126" name="Google Shape;160;p24"/>
          <p:cNvSpPr txBox="1"/>
          <p:nvPr/>
        </p:nvSpPr>
        <p:spPr bwMode="auto">
          <a:xfrm>
            <a:off x="293850" y="7889300"/>
            <a:ext cx="6972300" cy="20232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Practical</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a:t>Now use the examples from the array version in your object version.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88508427" name="Google Shape;165;p25"/>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2079452985" name="Google Shape;166;p25"/>
          <p:cNvSpPr txBox="1"/>
          <p:nvPr/>
        </p:nvSpPr>
        <p:spPr bwMode="auto">
          <a:xfrm>
            <a:off x="293850" y="231375"/>
            <a:ext cx="6812399" cy="10148700"/>
          </a:xfrm>
          <a:prstGeom prst="rect">
            <a:avLst/>
          </a:prstGeom>
          <a:solidFill>
            <a:srgbClr val="D9D9D9"/>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Key concept - Binary tree Depth -first traversal</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a:t>For binary trees there are three principle ways of traversing the tree:</a:t>
            </a:r>
            <a:endParaRPr/>
          </a:p>
          <a:p>
            <a:pPr marL="0" lvl="0" indent="0" algn="l" rtl="0">
              <a:spcBef>
                <a:spcPts val="0"/>
              </a:spcBef>
              <a:spcAft>
                <a:spcPts val="0"/>
              </a:spcAft>
              <a:buNone/>
              <a:defRPr/>
            </a:pPr>
            <a:endParaRPr/>
          </a:p>
          <a:p>
            <a:pPr marL="457200" lvl="0" indent="-317500" algn="l" rtl="0">
              <a:spcBef>
                <a:spcPts val="0"/>
              </a:spcBef>
              <a:spcAft>
                <a:spcPts val="0"/>
              </a:spcAft>
              <a:buSzPts val="1400"/>
              <a:buChar char="●"/>
              <a:defRPr/>
            </a:pPr>
            <a:r>
              <a:rPr lang="en-GB"/>
              <a:t>Pre-order traversal</a:t>
            </a:r>
            <a:endParaRPr/>
          </a:p>
          <a:p>
            <a:pPr marL="457200" lvl="0" indent="-317500" algn="l" rtl="0">
              <a:spcBef>
                <a:spcPts val="0"/>
              </a:spcBef>
              <a:spcAft>
                <a:spcPts val="0"/>
              </a:spcAft>
              <a:buSzPts val="1400"/>
              <a:buChar char="●"/>
              <a:defRPr/>
            </a:pPr>
            <a:r>
              <a:rPr lang="en-GB"/>
              <a:t>In- order traversal</a:t>
            </a:r>
            <a:endParaRPr/>
          </a:p>
          <a:p>
            <a:pPr marL="457200" lvl="0" indent="-317500" algn="l" rtl="0">
              <a:spcBef>
                <a:spcPts val="0"/>
              </a:spcBef>
              <a:spcAft>
                <a:spcPts val="0"/>
              </a:spcAft>
              <a:buSzPts val="1400"/>
              <a:buChar char="●"/>
              <a:defRPr/>
            </a:pPr>
            <a:r>
              <a:rPr lang="en-GB"/>
              <a:t>Post-order traversal</a:t>
            </a:r>
            <a:endParaRPr/>
          </a:p>
          <a:p>
            <a:pPr marL="0" lvl="0" indent="0" algn="l" rtl="0">
              <a:spcBef>
                <a:spcPts val="0"/>
              </a:spcBef>
              <a:spcAft>
                <a:spcPts val="0"/>
              </a:spcAft>
              <a:buNone/>
              <a:defRPr/>
            </a:pPr>
            <a:endParaRPr/>
          </a:p>
        </p:txBody>
      </p:sp>
      <p:pic>
        <p:nvPicPr>
          <p:cNvPr id="396548906" name="Google Shape;167;p25"/>
          <p:cNvPicPr/>
          <p:nvPr/>
        </p:nvPicPr>
        <p:blipFill rotWithShape="1">
          <a:blip r:embed="rId3">
            <a:alphaModFix/>
          </a:blip>
          <a:stretch/>
        </p:blipFill>
        <p:spPr bwMode="auto">
          <a:xfrm>
            <a:off x="377600" y="2032724"/>
            <a:ext cx="6652376" cy="2973297"/>
          </a:xfrm>
          <a:prstGeom prst="rect">
            <a:avLst/>
          </a:prstGeom>
          <a:noFill/>
          <a:ln>
            <a:noFill/>
          </a:ln>
        </p:spPr>
      </p:pic>
      <p:pic>
        <p:nvPicPr>
          <p:cNvPr id="675570358" name="Google Shape;168;p25"/>
          <p:cNvPicPr/>
          <p:nvPr/>
        </p:nvPicPr>
        <p:blipFill rotWithShape="1">
          <a:blip r:embed="rId4">
            <a:alphaModFix/>
          </a:blip>
          <a:stretch/>
        </p:blipFill>
        <p:spPr bwMode="auto">
          <a:xfrm>
            <a:off x="377598" y="5125400"/>
            <a:ext cx="6652376" cy="2906852"/>
          </a:xfrm>
          <a:prstGeom prst="rect">
            <a:avLst/>
          </a:prstGeom>
          <a:noFill/>
          <a:ln>
            <a:noFill/>
          </a:ln>
        </p:spPr>
      </p:pic>
      <p:sp>
        <p:nvSpPr>
          <p:cNvPr id="1261392431" name="Google Shape;169;p25"/>
          <p:cNvSpPr/>
          <p:nvPr/>
        </p:nvSpPr>
        <p:spPr bwMode="auto">
          <a:xfrm>
            <a:off x="400950" y="8174925"/>
            <a:ext cx="6652500" cy="20493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01907918" name="Google Shape;174;p26"/>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661607654" name="Google Shape;175;p26"/>
          <p:cNvSpPr txBox="1"/>
          <p:nvPr/>
        </p:nvSpPr>
        <p:spPr bwMode="auto">
          <a:xfrm>
            <a:off x="293850" y="231375"/>
            <a:ext cx="6812399" cy="6495600"/>
          </a:xfrm>
          <a:prstGeom prst="rect">
            <a:avLst/>
          </a:prstGeom>
          <a:solidFill>
            <a:srgbClr val="D9D9D9"/>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Key concept - Binary tree Depth -first traversal</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a:t>For binary trees there are three principle ways of traversing the tree:</a:t>
            </a:r>
            <a:endParaRPr/>
          </a:p>
          <a:p>
            <a:pPr marL="0" lvl="0" indent="0" algn="l" rtl="0">
              <a:spcBef>
                <a:spcPts val="0"/>
              </a:spcBef>
              <a:spcAft>
                <a:spcPts val="0"/>
              </a:spcAft>
              <a:buNone/>
              <a:defRPr/>
            </a:pPr>
            <a:endParaRPr/>
          </a:p>
          <a:p>
            <a:pPr marL="457200" lvl="0" indent="-317500" algn="l" rtl="0">
              <a:spcBef>
                <a:spcPts val="0"/>
              </a:spcBef>
              <a:spcAft>
                <a:spcPts val="0"/>
              </a:spcAft>
              <a:buSzPts val="1400"/>
              <a:buChar char="●"/>
              <a:defRPr/>
            </a:pPr>
            <a:r>
              <a:rPr lang="en-GB"/>
              <a:t>Pre-order traversal</a:t>
            </a:r>
            <a:endParaRPr/>
          </a:p>
          <a:p>
            <a:pPr marL="457200" lvl="0" indent="-317500" algn="l" rtl="0">
              <a:spcBef>
                <a:spcPts val="0"/>
              </a:spcBef>
              <a:spcAft>
                <a:spcPts val="0"/>
              </a:spcAft>
              <a:buSzPts val="1400"/>
              <a:buChar char="●"/>
              <a:defRPr/>
            </a:pPr>
            <a:r>
              <a:rPr lang="en-GB"/>
              <a:t>In- order traversal</a:t>
            </a:r>
            <a:endParaRPr/>
          </a:p>
          <a:p>
            <a:pPr marL="457200" lvl="0" indent="-317500" algn="l" rtl="0">
              <a:spcBef>
                <a:spcPts val="0"/>
              </a:spcBef>
              <a:spcAft>
                <a:spcPts val="0"/>
              </a:spcAft>
              <a:buSzPts val="1400"/>
              <a:buChar char="●"/>
              <a:defRPr/>
            </a:pPr>
            <a:r>
              <a:rPr lang="en-GB"/>
              <a:t>Post-order traversal</a:t>
            </a:r>
            <a:endParaRPr/>
          </a:p>
          <a:p>
            <a:pPr marL="0" lvl="0" indent="0" algn="l" rtl="0">
              <a:spcBef>
                <a:spcPts val="0"/>
              </a:spcBef>
              <a:spcAft>
                <a:spcPts val="0"/>
              </a:spcAft>
              <a:buNone/>
              <a:defRPr/>
            </a:pPr>
            <a:endParaRPr/>
          </a:p>
        </p:txBody>
      </p:sp>
      <p:sp>
        <p:nvSpPr>
          <p:cNvPr id="493181629" name="Google Shape;176;p26"/>
          <p:cNvSpPr/>
          <p:nvPr/>
        </p:nvSpPr>
        <p:spPr bwMode="auto">
          <a:xfrm>
            <a:off x="373800" y="4695300"/>
            <a:ext cx="6652500" cy="1875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pic>
        <p:nvPicPr>
          <p:cNvPr id="471069318" name="Google Shape;177;p26"/>
          <p:cNvPicPr/>
          <p:nvPr/>
        </p:nvPicPr>
        <p:blipFill rotWithShape="1">
          <a:blip r:embed="rId3">
            <a:alphaModFix/>
          </a:blip>
          <a:stretch/>
        </p:blipFill>
        <p:spPr bwMode="auto">
          <a:xfrm>
            <a:off x="400950" y="1990825"/>
            <a:ext cx="6652500" cy="2541405"/>
          </a:xfrm>
          <a:prstGeom prst="rect">
            <a:avLst/>
          </a:prstGeom>
          <a:noFill/>
          <a:ln>
            <a:noFill/>
          </a:ln>
        </p:spPr>
      </p:pic>
      <p:sp>
        <p:nvSpPr>
          <p:cNvPr id="1589482851" name="Google Shape;178;p26"/>
          <p:cNvSpPr txBox="1"/>
          <p:nvPr/>
        </p:nvSpPr>
        <p:spPr bwMode="auto">
          <a:xfrm>
            <a:off x="293850" y="6972075"/>
            <a:ext cx="6812399" cy="3185400"/>
          </a:xfrm>
          <a:prstGeom prst="rect">
            <a:avLst/>
          </a:prstGeom>
          <a:solidFill>
            <a:srgbClr val="999999"/>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Support</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b="1">
                <a:solidFill>
                  <a:schemeClr val="lt1"/>
                </a:solidFill>
              </a:rPr>
              <a:t>PGonline - Section 8 p 225</a:t>
            </a:r>
            <a:endParaRPr b="1">
              <a:solidFill>
                <a:schemeClr val="lt1"/>
              </a:solidFill>
            </a:endParaRPr>
          </a:p>
          <a:p>
            <a:pPr marL="0" lvl="0" indent="0" algn="l" rtl="0">
              <a:spcBef>
                <a:spcPts val="0"/>
              </a:spcBef>
              <a:spcAft>
                <a:spcPts val="0"/>
              </a:spcAft>
              <a:buNone/>
              <a:defRPr/>
            </a:pPr>
            <a:endParaRPr b="1">
              <a:solidFill>
                <a:schemeClr val="lt1"/>
              </a:solidFill>
            </a:endParaRPr>
          </a:p>
          <a:p>
            <a:pPr marL="0" lvl="0" indent="0" algn="l" rtl="0">
              <a:spcBef>
                <a:spcPts val="0"/>
              </a:spcBef>
              <a:spcAft>
                <a:spcPts val="0"/>
              </a:spcAft>
              <a:buNone/>
              <a:defRPr/>
            </a:pPr>
            <a:r>
              <a:rPr lang="en-GB" b="1">
                <a:solidFill>
                  <a:schemeClr val="lt1"/>
                </a:solidFill>
              </a:rPr>
              <a:t>LMC - Paper 1 theory p145</a:t>
            </a:r>
            <a:endParaRPr b="1">
              <a:solidFill>
                <a:schemeClr val="lt1"/>
              </a:solidFill>
            </a:endParaRPr>
          </a:p>
          <a:p>
            <a:pPr marL="0" lvl="0" indent="0" algn="l" rtl="0">
              <a:spcBef>
                <a:spcPts val="0"/>
              </a:spcBef>
              <a:spcAft>
                <a:spcPts val="0"/>
              </a:spcAft>
              <a:buNone/>
              <a:defRPr/>
            </a:pPr>
            <a:endParaRPr b="1">
              <a:solidFill>
                <a:schemeClr val="lt1"/>
              </a:solidFill>
            </a:endParaRPr>
          </a:p>
          <a:p>
            <a:pPr marL="0" lvl="0" indent="0" algn="l" rtl="0">
              <a:spcBef>
                <a:spcPts val="0"/>
              </a:spcBef>
              <a:spcAft>
                <a:spcPts val="0"/>
              </a:spcAft>
              <a:buNone/>
              <a:defRPr/>
            </a:pPr>
            <a:r>
              <a:rPr lang="en-GB" b="1">
                <a:solidFill>
                  <a:schemeClr val="lt1"/>
                </a:solidFill>
              </a:rPr>
              <a:t>Lucid Programming You tube</a:t>
            </a:r>
            <a:endParaRPr b="1">
              <a:solidFill>
                <a:schemeClr val="lt1"/>
              </a:solidFill>
            </a:endParaRPr>
          </a:p>
          <a:p>
            <a:pPr marL="0" lvl="0" indent="0" algn="l" rtl="0">
              <a:spcBef>
                <a:spcPts val="0"/>
              </a:spcBef>
              <a:spcAft>
                <a:spcPts val="0"/>
              </a:spcAft>
              <a:buNone/>
              <a:defRPr/>
            </a:pPr>
            <a:endParaRPr b="1">
              <a:solidFill>
                <a:schemeClr val="lt1"/>
              </a:solidFill>
            </a:endParaRPr>
          </a:p>
          <a:p>
            <a:pPr marL="0" lvl="0" indent="0" algn="l" rtl="0">
              <a:spcBef>
                <a:spcPts val="0"/>
              </a:spcBef>
              <a:spcAft>
                <a:spcPts val="0"/>
              </a:spcAft>
              <a:buNone/>
              <a:defRPr/>
            </a:pPr>
            <a:r>
              <a:rPr lang="en-GB" b="1" u="sng">
                <a:solidFill>
                  <a:schemeClr val="hlink"/>
                </a:solidFill>
                <a:highlight>
                  <a:srgbClr val="000000"/>
                </a:highlight>
                <a:hlinkClick r:id="rId4" tooltip=""/>
              </a:rPr>
              <a:t>Video 1</a:t>
            </a:r>
            <a:r>
              <a:rPr lang="en-GB" b="1">
                <a:solidFill>
                  <a:schemeClr val="lt1"/>
                </a:solidFill>
                <a:highlight>
                  <a:srgbClr val="000000"/>
                </a:highlight>
              </a:rPr>
              <a:t>	</a:t>
            </a:r>
            <a:endParaRPr b="1">
              <a:solidFill>
                <a:schemeClr val="lt1"/>
              </a:solidFill>
              <a:highlight>
                <a:srgbClr val="000000"/>
              </a:highlight>
            </a:endParaRPr>
          </a:p>
          <a:p>
            <a:pPr marL="0" lvl="0" indent="0" algn="l" rtl="0">
              <a:spcBef>
                <a:spcPts val="0"/>
              </a:spcBef>
              <a:spcAft>
                <a:spcPts val="0"/>
              </a:spcAft>
              <a:buNone/>
              <a:defRPr/>
            </a:pPr>
            <a:endParaRPr b="1">
              <a:solidFill>
                <a:schemeClr val="lt1"/>
              </a:solidFill>
              <a:highlight>
                <a:srgbClr val="000000"/>
              </a:highlight>
            </a:endParaRPr>
          </a:p>
          <a:p>
            <a:pPr marL="0" lvl="0" indent="0" algn="l" rtl="0">
              <a:spcBef>
                <a:spcPts val="0"/>
              </a:spcBef>
              <a:spcAft>
                <a:spcPts val="0"/>
              </a:spcAft>
              <a:buNone/>
              <a:defRPr/>
            </a:pPr>
            <a:r>
              <a:rPr lang="en-GB" b="1">
                <a:solidFill>
                  <a:schemeClr val="lt1"/>
                </a:solidFill>
              </a:rPr>
              <a:t>William Fiset You tube</a:t>
            </a:r>
            <a:endParaRPr b="1">
              <a:solidFill>
                <a:schemeClr val="lt1"/>
              </a:solidFill>
            </a:endParaRPr>
          </a:p>
          <a:p>
            <a:pPr marL="0" lvl="0" indent="0" algn="l" rtl="0">
              <a:spcBef>
                <a:spcPts val="0"/>
              </a:spcBef>
              <a:spcAft>
                <a:spcPts val="0"/>
              </a:spcAft>
              <a:buNone/>
              <a:defRPr/>
            </a:pPr>
            <a:endParaRPr>
              <a:solidFill>
                <a:schemeClr val="lt1"/>
              </a:solidFill>
            </a:endParaRPr>
          </a:p>
          <a:p>
            <a:pPr marL="0" lvl="0" indent="0" algn="l" rtl="0">
              <a:spcBef>
                <a:spcPts val="0"/>
              </a:spcBef>
              <a:spcAft>
                <a:spcPts val="0"/>
              </a:spcAft>
              <a:buNone/>
              <a:defRPr/>
            </a:pPr>
            <a:r>
              <a:rPr lang="en-GB" b="1" u="sng">
                <a:solidFill>
                  <a:schemeClr val="hlink"/>
                </a:solidFill>
                <a:highlight>
                  <a:schemeClr val="dk1"/>
                </a:highlight>
                <a:hlinkClick r:id="rId5" tooltip=""/>
              </a:rPr>
              <a:t>Video 1</a:t>
            </a:r>
            <a:endParaRPr b="1">
              <a:solidFill>
                <a:schemeClr val="lt1"/>
              </a:solidFill>
              <a:highlight>
                <a:schemeClr val="dk1"/>
              </a:highligh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84459655" name="Google Shape;183;p27"/>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42870340" name="Google Shape;184;p27"/>
          <p:cNvSpPr txBox="1"/>
          <p:nvPr/>
        </p:nvSpPr>
        <p:spPr bwMode="auto">
          <a:xfrm>
            <a:off x="293850" y="250425"/>
            <a:ext cx="6972300" cy="95952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Task four</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a:t>Identify which code relates to the Arrat/List version and which one to the object version.</a:t>
            </a:r>
            <a:endParaRPr/>
          </a:p>
        </p:txBody>
      </p:sp>
      <p:pic>
        <p:nvPicPr>
          <p:cNvPr id="64835145" name="Google Shape;185;p27"/>
          <p:cNvPicPr/>
          <p:nvPr/>
        </p:nvPicPr>
        <p:blipFill rotWithShape="1">
          <a:blip r:embed="rId3">
            <a:alphaModFix/>
          </a:blip>
          <a:stretch/>
        </p:blipFill>
        <p:spPr bwMode="auto">
          <a:xfrm>
            <a:off x="612925" y="1249313"/>
            <a:ext cx="6334125" cy="3419475"/>
          </a:xfrm>
          <a:prstGeom prst="rect">
            <a:avLst/>
          </a:prstGeom>
          <a:noFill/>
          <a:ln>
            <a:noFill/>
          </a:ln>
        </p:spPr>
      </p:pic>
      <p:pic>
        <p:nvPicPr>
          <p:cNvPr id="125418178" name="Google Shape;186;p27"/>
          <p:cNvPicPr/>
          <p:nvPr/>
        </p:nvPicPr>
        <p:blipFill rotWithShape="1">
          <a:blip r:embed="rId4">
            <a:alphaModFix/>
          </a:blip>
          <a:stretch/>
        </p:blipFill>
        <p:spPr bwMode="auto">
          <a:xfrm>
            <a:off x="574825" y="4861688"/>
            <a:ext cx="6410325" cy="429577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11166196" name="Google Shape;191;p28"/>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723338932" name="Google Shape;192;p28"/>
          <p:cNvSpPr txBox="1"/>
          <p:nvPr/>
        </p:nvSpPr>
        <p:spPr bwMode="auto">
          <a:xfrm>
            <a:off x="293850" y="223050"/>
            <a:ext cx="6972300" cy="46998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Practical</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a:t>Now both versions of code with the below binary tree and check the three different traversals.</a:t>
            </a: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r>
              <a:rPr lang="en-GB"/>
              <a:t>Now try them using the numbers below.</a:t>
            </a:r>
            <a:endParaRPr/>
          </a:p>
          <a:p>
            <a:pPr marL="0" lvl="0" indent="0" algn="l" rtl="0">
              <a:spcBef>
                <a:spcPts val="0"/>
              </a:spcBef>
              <a:spcAft>
                <a:spcPts val="0"/>
              </a:spcAft>
              <a:buNone/>
              <a:defRPr/>
            </a:pPr>
            <a:endParaRPr/>
          </a:p>
          <a:p>
            <a:pPr marL="0" lvl="0" indent="0" algn="l" rtl="0">
              <a:spcBef>
                <a:spcPts val="0"/>
              </a:spcBef>
              <a:spcAft>
                <a:spcPts val="0"/>
              </a:spcAft>
              <a:buClr>
                <a:schemeClr val="dk1"/>
              </a:buClr>
              <a:buSzPts val="1100"/>
              <a:buFont typeface="Arial"/>
              <a:buNone/>
              <a:defRPr/>
            </a:pPr>
            <a:r>
              <a:rPr lang="en-GB"/>
              <a:t>36,21,100,6,34,78,178</a:t>
            </a:r>
            <a:endParaRPr/>
          </a:p>
          <a:p>
            <a:pPr marL="0" lvl="0" indent="0" algn="l" rtl="0">
              <a:spcBef>
                <a:spcPts val="0"/>
              </a:spcBef>
              <a:spcAft>
                <a:spcPts val="0"/>
              </a:spcAft>
              <a:buNone/>
              <a:defRPr/>
            </a:pPr>
            <a:endParaRPr/>
          </a:p>
        </p:txBody>
      </p:sp>
      <p:pic>
        <p:nvPicPr>
          <p:cNvPr id="1633428295" name="Google Shape;193;p28"/>
          <p:cNvPicPr/>
          <p:nvPr/>
        </p:nvPicPr>
        <p:blipFill rotWithShape="1">
          <a:blip r:embed="rId3">
            <a:alphaModFix/>
          </a:blip>
          <a:stretch/>
        </p:blipFill>
        <p:spPr bwMode="auto">
          <a:xfrm>
            <a:off x="1110225" y="1488900"/>
            <a:ext cx="5638800" cy="2152650"/>
          </a:xfrm>
          <a:prstGeom prst="rect">
            <a:avLst/>
          </a:prstGeom>
          <a:noFill/>
          <a:ln>
            <a:noFill/>
          </a:ln>
        </p:spPr>
      </p:pic>
      <p:sp>
        <p:nvSpPr>
          <p:cNvPr id="2106203831" name="Google Shape;194;p28"/>
          <p:cNvSpPr txBox="1"/>
          <p:nvPr/>
        </p:nvSpPr>
        <p:spPr bwMode="auto">
          <a:xfrm>
            <a:off x="317700" y="5142075"/>
            <a:ext cx="6832500" cy="53697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Exam style question</a:t>
            </a: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pic>
        <p:nvPicPr>
          <p:cNvPr id="348853628" name="Google Shape;195;p28"/>
          <p:cNvPicPr/>
          <p:nvPr/>
        </p:nvPicPr>
        <p:blipFill rotWithShape="1">
          <a:blip r:embed="rId4">
            <a:alphaModFix/>
          </a:blip>
          <a:stretch/>
        </p:blipFill>
        <p:spPr bwMode="auto">
          <a:xfrm>
            <a:off x="1016125" y="5565300"/>
            <a:ext cx="5527725" cy="3039200"/>
          </a:xfrm>
          <a:prstGeom prst="rect">
            <a:avLst/>
          </a:prstGeom>
          <a:noFill/>
          <a:ln>
            <a:noFill/>
          </a:ln>
        </p:spPr>
      </p:pic>
      <p:sp>
        <p:nvSpPr>
          <p:cNvPr id="2021810060" name="Google Shape;196;p28"/>
          <p:cNvSpPr/>
          <p:nvPr/>
        </p:nvSpPr>
        <p:spPr bwMode="auto">
          <a:xfrm>
            <a:off x="453750" y="8731875"/>
            <a:ext cx="6652500" cy="16485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r>
              <a:rPr lang="en"/>
              <a:t>124573689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1778388" name="Google Shape;201;p29"/>
          <p:cNvSpPr txBox="1"/>
          <p:nvPr/>
        </p:nvSpPr>
        <p:spPr bwMode="auto">
          <a:xfrm>
            <a:off x="363750" y="152475"/>
            <a:ext cx="6832500" cy="94257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Questions</a:t>
            </a: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sp>
        <p:nvSpPr>
          <p:cNvPr id="114462053" name="Google Shape;202;p29"/>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pic>
        <p:nvPicPr>
          <p:cNvPr id="1695972424" name="Google Shape;203;p29"/>
          <p:cNvPicPr/>
          <p:nvPr/>
        </p:nvPicPr>
        <p:blipFill rotWithShape="1">
          <a:blip r:embed="rId3">
            <a:alphaModFix/>
          </a:blip>
          <a:srcRect l="5572" t="23401" r="5555" b="25021"/>
          <a:stretch/>
        </p:blipFill>
        <p:spPr bwMode="auto">
          <a:xfrm>
            <a:off x="556038" y="661200"/>
            <a:ext cx="6447923" cy="2806648"/>
          </a:xfrm>
          <a:prstGeom prst="rect">
            <a:avLst/>
          </a:prstGeom>
          <a:noFill/>
          <a:ln>
            <a:noFill/>
          </a:ln>
        </p:spPr>
      </p:pic>
      <p:sp>
        <p:nvSpPr>
          <p:cNvPr id="1681130275" name="Google Shape;204;p29"/>
          <p:cNvSpPr/>
          <p:nvPr/>
        </p:nvSpPr>
        <p:spPr bwMode="auto">
          <a:xfrm>
            <a:off x="556050" y="4009500"/>
            <a:ext cx="6447899" cy="51456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r>
              <a:rPr lang="en"/>
              <a:t>+3^52 =</a:t>
            </a:r>
            <a:r>
              <a:rPr lang="en" sz="1400" b="0" i="0" u="none" strike="noStrike" cap="none" spc="0">
                <a:solidFill>
                  <a:srgbClr val="000000"/>
                </a:solidFill>
                <a:latin typeface="Arial"/>
                <a:ea typeface="Arial"/>
                <a:cs typeface="Arial"/>
              </a:rPr>
              <a:t> 6.461081889226673e24</a:t>
            </a:r>
            <a:endParaRPr lang="en"/>
          </a:p>
          <a:p>
            <a:pPr marL="0" lvl="0" indent="0" algn="l" rtl="0">
              <a:spcBef>
                <a:spcPts val="0"/>
              </a:spcBef>
              <a:spcAft>
                <a:spcPts val="0"/>
              </a:spcAft>
              <a:buNone/>
              <a:defRPr/>
            </a:pPr>
            <a:r>
              <a:rPr lang="en"/>
              <a:t>3+5^2 = </a:t>
            </a:r>
            <a:r>
              <a:rPr lang="en" sz="1400" b="0" i="0" u="none" strike="noStrike" cap="none" spc="0">
                <a:solidFill>
                  <a:srgbClr val="000000"/>
                </a:solidFill>
                <a:latin typeface="Arial"/>
                <a:ea typeface="Arial"/>
                <a:cs typeface="Arial"/>
              </a:rPr>
              <a:t>28</a:t>
            </a:r>
            <a:endParaRPr lang="en"/>
          </a:p>
          <a:p>
            <a:pPr marL="0" lvl="0" indent="0" algn="l" rtl="0">
              <a:spcBef>
                <a:spcPts val="0"/>
              </a:spcBef>
              <a:spcAft>
                <a:spcPts val="0"/>
              </a:spcAft>
              <a:buNone/>
              <a:defRPr/>
            </a:pPr>
            <a:r>
              <a:rPr lang="en"/>
              <a:t>+^253</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46275754" name="Google Shape;209;p30"/>
          <p:cNvSpPr txBox="1"/>
          <p:nvPr/>
        </p:nvSpPr>
        <p:spPr bwMode="auto">
          <a:xfrm>
            <a:off x="363750" y="152475"/>
            <a:ext cx="6832500" cy="98490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Questions</a:t>
            </a: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sp>
        <p:nvSpPr>
          <p:cNvPr id="1086369793" name="Google Shape;210;p30"/>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425941124" name="Google Shape;211;p30"/>
          <p:cNvSpPr/>
          <p:nvPr/>
        </p:nvSpPr>
        <p:spPr bwMode="auto">
          <a:xfrm>
            <a:off x="556050" y="3675375"/>
            <a:ext cx="6447899" cy="60183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r>
              <a:rPr lang="en"/>
              <a:t>*+53+64</a:t>
            </a:r>
            <a:endParaRPr lang="en"/>
          </a:p>
          <a:p>
            <a:pPr marL="0" lvl="0" indent="0" algn="l" rtl="0">
              <a:spcBef>
                <a:spcPts val="0"/>
              </a:spcBef>
              <a:spcAft>
                <a:spcPts val="0"/>
              </a:spcAft>
              <a:buNone/>
              <a:defRPr/>
            </a:pPr>
            <a:r>
              <a:rPr lang="en"/>
              <a:t>5+3*6+4 = </a:t>
            </a:r>
            <a:r>
              <a:rPr lang="en" sz="1400" b="0" i="0" u="none" strike="noStrike" cap="none" spc="0">
                <a:solidFill>
                  <a:srgbClr val="000000"/>
                </a:solidFill>
                <a:latin typeface="Arial"/>
                <a:ea typeface="Arial"/>
                <a:cs typeface="Arial"/>
              </a:rPr>
              <a:t>27</a:t>
            </a:r>
            <a:endParaRPr lang="en"/>
          </a:p>
          <a:p>
            <a:pPr marL="0" lvl="0" indent="0" algn="l" rtl="0">
              <a:spcBef>
                <a:spcPts val="0"/>
              </a:spcBef>
              <a:spcAft>
                <a:spcPts val="0"/>
              </a:spcAft>
              <a:buNone/>
              <a:defRPr/>
            </a:pPr>
            <a:r>
              <a:rPr lang="en"/>
              <a:t>53+64+*</a:t>
            </a:r>
            <a:endParaRPr lang="en"/>
          </a:p>
          <a:p>
            <a:pPr marL="0" lvl="0" indent="0" algn="l" rtl="0">
              <a:spcBef>
                <a:spcPts val="0"/>
              </a:spcBef>
              <a:spcAft>
                <a:spcPts val="0"/>
              </a:spcAft>
              <a:buNone/>
              <a:defRPr/>
            </a:pPr>
            <a:endParaRPr/>
          </a:p>
          <a:p>
            <a:pPr marL="0" lvl="0" indent="0" algn="l" rtl="0">
              <a:spcBef>
                <a:spcPts val="0"/>
              </a:spcBef>
              <a:spcAft>
                <a:spcPts val="0"/>
              </a:spcAft>
              <a:buNone/>
              <a:defRPr/>
            </a:pPr>
            <a:r>
              <a:rPr lang="en"/>
              <a:t>+*-AB+CD/EG</a:t>
            </a:r>
            <a:endParaRPr lang="en"/>
          </a:p>
          <a:p>
            <a:pPr marL="0" lvl="0" indent="0" algn="l" rtl="0">
              <a:spcBef>
                <a:spcPts val="0"/>
              </a:spcBef>
              <a:spcAft>
                <a:spcPts val="0"/>
              </a:spcAft>
              <a:buNone/>
              <a:defRPr/>
            </a:pPr>
            <a:r>
              <a:rPr lang="en"/>
              <a:t>A-B*C+D+E/G</a:t>
            </a:r>
            <a:endParaRPr lang="en"/>
          </a:p>
          <a:p>
            <a:pPr marL="0" lvl="0" indent="0" algn="l" rtl="0">
              <a:spcBef>
                <a:spcPts val="0"/>
              </a:spcBef>
              <a:spcAft>
                <a:spcPts val="0"/>
              </a:spcAft>
              <a:buNone/>
              <a:defRPr/>
            </a:pPr>
            <a:r>
              <a:rPr lang="en"/>
              <a:t>AB-CD+EG*/+</a:t>
            </a:r>
            <a:endParaRPr lang="en"/>
          </a:p>
          <a:p>
            <a:pPr marL="0" lvl="0" indent="0" algn="l" rtl="0">
              <a:spcBef>
                <a:spcPts val="0"/>
              </a:spcBef>
              <a:spcAft>
                <a:spcPts val="0"/>
              </a:spcAft>
              <a:buNone/>
              <a:defRPr/>
            </a:pPr>
            <a:endParaRPr/>
          </a:p>
        </p:txBody>
      </p:sp>
      <p:pic>
        <p:nvPicPr>
          <p:cNvPr id="653938829" name="Google Shape;212;p30"/>
          <p:cNvPicPr/>
          <p:nvPr/>
        </p:nvPicPr>
        <p:blipFill rotWithShape="1">
          <a:blip r:embed="rId3">
            <a:alphaModFix/>
          </a:blip>
          <a:srcRect l="30554" t="2111" r="16408" b="5296"/>
          <a:stretch/>
        </p:blipFill>
        <p:spPr bwMode="auto">
          <a:xfrm rot="-5400000">
            <a:off x="2419350" y="-1172774"/>
            <a:ext cx="2806648" cy="6533248"/>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52339915" name="Google Shape;217;p31"/>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945391399" name="Google Shape;218;p31"/>
          <p:cNvSpPr txBox="1"/>
          <p:nvPr/>
        </p:nvSpPr>
        <p:spPr bwMode="auto">
          <a:xfrm>
            <a:off x="257700" y="277225"/>
            <a:ext cx="7044600" cy="9603900"/>
          </a:xfrm>
          <a:prstGeom prst="rect">
            <a:avLst/>
          </a:prstGeom>
          <a:solidFill>
            <a:srgbClr val="EFEFEF"/>
          </a:solid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GB" b="1"/>
              <a:t>Vocabulary</a:t>
            </a:r>
            <a:endParaRPr b="1"/>
          </a:p>
          <a:p>
            <a:pPr marL="0" lvl="0" indent="0" algn="l" rtl="0">
              <a:spcBef>
                <a:spcPts val="0"/>
              </a:spcBef>
              <a:spcAft>
                <a:spcPts val="0"/>
              </a:spcAft>
              <a:buNone/>
              <a:defRPr/>
            </a:pPr>
            <a:endParaRPr b="1"/>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a:p>
            <a:pPr marL="0" lvl="0" indent="0" algn="l" rtl="0">
              <a:spcBef>
                <a:spcPts val="0"/>
              </a:spcBef>
              <a:spcAft>
                <a:spcPts val="0"/>
              </a:spcAft>
              <a:buNone/>
              <a:defRPr/>
            </a:pPr>
            <a:endParaRPr/>
          </a:p>
        </p:txBody>
      </p:sp>
      <p:graphicFrame>
        <p:nvGraphicFramePr>
          <p:cNvPr id="1368112700" name="Google Shape;219;p31"/>
          <p:cNvGraphicFramePr>
            <a:graphicFrameLocks xmlns:a="http://schemas.openxmlformats.org/drawingml/2006/main"/>
          </p:cNvGraphicFramePr>
          <p:nvPr/>
        </p:nvGraphicFramePr>
        <p:xfrm rot="0">
          <a:off x="496425" y="770375"/>
          <a:ext cx="3000000" cy="3000000"/>
        </p:xfrm>
        <a:graphic>
          <a:graphicData uri="http://schemas.openxmlformats.org/drawingml/2006/table">
            <a:tbl>
              <a:tblPr firstRow="0" firstCol="0" lastRow="0" lastCol="0" bandRow="0" bandCol="0">
                <a:tableStyleId>{63040797-A219-4A2E-ABFE-67BBE4557044}</a:tableStyleId>
                <a:noFill/>
              </a:tblPr>
              <a:tblGrid>
                <a:gridCol w="1465650"/>
                <a:gridCol w="5164800"/>
              </a:tblGrid>
              <a:tr h="716050">
                <a:tc>
                  <a:txBody>
                    <a:bodyPr/>
                    <a:p>
                      <a:pPr marL="0" lvl="0" indent="0" algn="ctr" rtl="0">
                        <a:spcBef>
                          <a:spcPts val="0"/>
                        </a:spcBef>
                        <a:spcAft>
                          <a:spcPts val="0"/>
                        </a:spcAft>
                        <a:buNone/>
                        <a:defRPr/>
                      </a:pPr>
                      <a:r>
                        <a:rPr lang="en-GB" b="1"/>
                        <a:t>Term</a:t>
                      </a:r>
                      <a:endParaRPr b="1"/>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c>
                  <a:txBody>
                    <a:bodyPr/>
                    <a:p>
                      <a:pPr marL="0" lvl="0" indent="0" algn="ctr" rtl="0">
                        <a:spcBef>
                          <a:spcPts val="0"/>
                        </a:spcBef>
                        <a:spcAft>
                          <a:spcPts val="0"/>
                        </a:spcAft>
                        <a:buNone/>
                        <a:defRPr/>
                      </a:pPr>
                      <a:r>
                        <a:rPr lang="en-GB" b="1"/>
                        <a:t>Description</a:t>
                      </a:r>
                      <a:endParaRPr b="1"/>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r>
              <a:tr h="1181150">
                <a:tc>
                  <a:txBody>
                    <a:bodyPr/>
                    <a:p>
                      <a:pPr marL="0" lvl="0" indent="0" algn="ctr" rtl="0">
                        <a:spcBef>
                          <a:spcPts val="0"/>
                        </a:spcBef>
                        <a:spcAft>
                          <a:spcPts val="0"/>
                        </a:spcAft>
                        <a:buNone/>
                        <a:defRPr/>
                      </a:pPr>
                      <a:r>
                        <a:rPr lang="en-GB"/>
                        <a:t>Binary tree</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r>
              <a:tr h="1181150">
                <a:tc>
                  <a:txBody>
                    <a:bodyPr/>
                    <a:p>
                      <a:pPr marL="0" lvl="0" indent="0" algn="ctr" rtl="0">
                        <a:spcBef>
                          <a:spcPts val="0"/>
                        </a:spcBef>
                        <a:spcAft>
                          <a:spcPts val="0"/>
                        </a:spcAft>
                        <a:buNone/>
                        <a:defRPr/>
                      </a:pPr>
                      <a:r>
                        <a:rPr lang="en-GB"/>
                        <a:t>Pre-order</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r>
              <a:tr h="1181150">
                <a:tc>
                  <a:txBody>
                    <a:bodyPr/>
                    <a:p>
                      <a:pPr marL="0" lvl="0" indent="0" algn="ctr" rtl="0">
                        <a:spcBef>
                          <a:spcPts val="0"/>
                        </a:spcBef>
                        <a:spcAft>
                          <a:spcPts val="0"/>
                        </a:spcAft>
                        <a:buNone/>
                        <a:defRPr/>
                      </a:pPr>
                      <a:r>
                        <a:rPr lang="en-GB"/>
                        <a:t>In-order</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r>
              <a:tr h="1228375">
                <a:tc>
                  <a:txBody>
                    <a:bodyPr/>
                    <a:p>
                      <a:pPr marL="0" lvl="0" indent="0" algn="ctr" rtl="0">
                        <a:spcBef>
                          <a:spcPts val="0"/>
                        </a:spcBef>
                        <a:spcAft>
                          <a:spcPts val="0"/>
                        </a:spcAft>
                        <a:buNone/>
                        <a:defRPr/>
                      </a:pPr>
                      <a:r>
                        <a:rPr lang="en-GB"/>
                        <a:t>Post-order</a:t>
                      </a: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r>
              <a:tr h="1228375">
                <a:tc>
                  <a:txBody>
                    <a:bodyPr/>
                    <a:p>
                      <a:pPr marL="0" lvl="0" indent="0" algn="ctr" rtl="0">
                        <a:spcBef>
                          <a:spcPts val="0"/>
                        </a:spcBef>
                        <a:spcAft>
                          <a:spcPts val="0"/>
                        </a:spcAft>
                        <a:buNone/>
                        <a:defRPr/>
                      </a:pP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r>
              <a:tr h="1228375">
                <a:tc>
                  <a:txBody>
                    <a:bodyPr/>
                    <a:p>
                      <a:pPr marL="0" lvl="0" indent="0" algn="ctr" rtl="0">
                        <a:spcBef>
                          <a:spcPts val="0"/>
                        </a:spcBef>
                        <a:spcAft>
                          <a:spcPts val="0"/>
                        </a:spcAft>
                        <a:buNone/>
                        <a:defRPr/>
                      </a:pPr>
                      <a:endParaRPr/>
                    </a:p>
                  </a:txBody>
                  <a:tcPr marL="91425" marR="91425" marT="91425" marB="91425" anchor="ctr">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c>
                  <a:txBody>
                    <a:bodyPr/>
                    <a:p>
                      <a:pPr marL="0" lvl="0" indent="0" algn="l" rtl="0">
                        <a:spcBef>
                          <a:spcPts val="0"/>
                        </a:spcBef>
                        <a:spcAft>
                          <a:spcPts val="0"/>
                        </a:spcAft>
                        <a:buNone/>
                        <a:defRPr/>
                      </a:pPr>
                      <a:endParaRPr/>
                    </a:p>
                  </a:txBody>
                  <a:tcPr marL="91425" marR="91425" marT="91425" marB="91425">
                    <a:lnL w="9525" algn="ctr">
                      <a:solidFill>
                        <a:schemeClr val="dk1"/>
                      </a:solidFill>
                    </a:lnL>
                    <a:lnR w="9525" algn="ctr">
                      <a:solidFill>
                        <a:schemeClr val="dk1"/>
                      </a:solidFill>
                    </a:lnR>
                    <a:lnT w="9525" algn="ctr">
                      <a:solidFill>
                        <a:schemeClr val="dk1"/>
                      </a:solidFill>
                    </a:lnT>
                    <a:lnB w="9525" algn="ctr">
                      <a:solidFill>
                        <a:schemeClr val="dk1"/>
                      </a:solidFill>
                    </a:lnB>
                    <a:solidFill>
                      <a:srgbClr val="FFFFFF"/>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85090288" name="Google Shape;224;p32"/>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pic>
        <p:nvPicPr>
          <p:cNvPr id="1518016548" name="Google Shape;225;p32"/>
          <p:cNvPicPr/>
          <p:nvPr/>
        </p:nvPicPr>
        <p:blipFill rotWithShape="1">
          <a:blip r:embed="rId3">
            <a:alphaModFix/>
          </a:blip>
          <a:stretch/>
        </p:blipFill>
        <p:spPr bwMode="auto">
          <a:xfrm>
            <a:off x="152400" y="152400"/>
            <a:ext cx="7255200" cy="447143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3389999" name="Google Shape;230;p33"/>
          <p:cNvSpPr txBox="1"/>
          <p:nvPr>
            <p:ph type="sldNum" idx="12"/>
          </p:nvPr>
        </p:nvSpPr>
        <p:spPr bwMode="auto">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defRPr/>
            </a:pPr>
            <a:fld id="{00000000-1234-1234-1234-123412341234}" type="slidenum">
              <a:rPr lang="en-GB"/>
              <a:t>‹#›</a:t>
            </a:fld>
            <a:endParaRPr/>
          </a:p>
        </p:txBody>
      </p:sp>
      <p:sp>
        <p:nvSpPr>
          <p:cNvPr id="1607631035" name="Google Shape;231;p33"/>
          <p:cNvSpPr txBox="1"/>
          <p:nvPr/>
        </p:nvSpPr>
        <p:spPr bwMode="auto">
          <a:xfrm>
            <a:off x="375450" y="240300"/>
            <a:ext cx="6809100" cy="5029200"/>
          </a:xfrm>
          <a:prstGeom prst="rect">
            <a:avLst/>
          </a:prstGeom>
          <a:solidFill>
            <a:srgbClr val="EFEFEF"/>
          </a:solidFill>
          <a:ln>
            <a:noFill/>
          </a:ln>
        </p:spPr>
        <p:txBody>
          <a:bodyPr spcFirstLastPara="1" wrap="square" lIns="64650" tIns="64650" rIns="64650" bIns="64650" anchor="t" anchorCtr="0">
            <a:noAutofit/>
          </a:bodyPr>
          <a:lstStyle/>
          <a:p>
            <a:pPr marL="0" lvl="0" indent="0" algn="l" rtl="0">
              <a:spcBef>
                <a:spcPts val="0"/>
              </a:spcBef>
              <a:spcAft>
                <a:spcPts val="0"/>
              </a:spcAft>
              <a:buNone/>
              <a:defRPr/>
            </a:pPr>
            <a:r>
              <a:rPr lang="en-GB" b="1"/>
              <a:t>Useful links</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b="1" u="sng">
                <a:solidFill>
                  <a:schemeClr val="hlink"/>
                </a:solidFill>
                <a:hlinkClick r:id="rId3" tooltip=""/>
              </a:rPr>
              <a:t>Video 1 </a:t>
            </a:r>
            <a:r>
              <a:rPr lang="en-GB" b="1"/>
              <a:t>- Craig N Dave  Trees and Binary Trees  Youtube video</a:t>
            </a:r>
            <a:endParaRPr b="1"/>
          </a:p>
          <a:p>
            <a:pPr marL="0" lvl="0" indent="0" algn="l" rtl="0">
              <a:spcBef>
                <a:spcPts val="0"/>
              </a:spcBef>
              <a:spcAft>
                <a:spcPts val="0"/>
              </a:spcAft>
              <a:buNone/>
              <a:defRPr/>
            </a:pPr>
            <a:endParaRPr/>
          </a:p>
          <a:p>
            <a:pPr marL="0" lvl="0" indent="0" algn="l" rtl="0">
              <a:spcBef>
                <a:spcPts val="0"/>
              </a:spcBef>
              <a:spcAft>
                <a:spcPts val="0"/>
              </a:spcAft>
              <a:buNone/>
              <a:defRPr/>
            </a:pPr>
            <a:r>
              <a:rPr lang="en-GB" b="1" u="sng">
                <a:solidFill>
                  <a:schemeClr val="hlink"/>
                </a:solidFill>
                <a:hlinkClick r:id="rId4" tooltip=""/>
              </a:rPr>
              <a:t>Video</a:t>
            </a:r>
            <a:r>
              <a:rPr lang="en-GB" b="1" u="sng">
                <a:solidFill>
                  <a:schemeClr val="hlink"/>
                </a:solidFill>
                <a:hlinkClick r:id="rId4" tooltip=""/>
              </a:rPr>
              <a:t> 2</a:t>
            </a:r>
            <a:r>
              <a:rPr lang="en-GB" b="1"/>
              <a:t> - Craig N Dave Tree-traversal </a:t>
            </a:r>
            <a:r>
              <a:rPr lang="en-GB" b="1">
                <a:solidFill>
                  <a:srgbClr val="000000"/>
                </a:solidFill>
              </a:rPr>
              <a:t> Youtube </a:t>
            </a:r>
            <a:r>
              <a:rPr lang="en-GB" b="1"/>
              <a:t>video</a:t>
            </a:r>
            <a:endParaRPr b="1"/>
          </a:p>
          <a:p>
            <a:pPr marL="0" lvl="0" indent="0" algn="l" rtl="0">
              <a:spcBef>
                <a:spcPts val="0"/>
              </a:spcBef>
              <a:spcAft>
                <a:spcPts val="0"/>
              </a:spcAft>
              <a:buNone/>
              <a:defRPr/>
            </a:pPr>
            <a:endParaRPr b="1"/>
          </a:p>
          <a:p>
            <a:pPr marL="0" lvl="0" indent="0" algn="l" rtl="0">
              <a:spcBef>
                <a:spcPts val="0"/>
              </a:spcBef>
              <a:spcAft>
                <a:spcPts val="0"/>
              </a:spcAft>
              <a:buNone/>
              <a:defRPr/>
            </a:pPr>
            <a:r>
              <a:rPr lang="en-GB" b="1" u="sng">
                <a:solidFill>
                  <a:schemeClr val="hlink"/>
                </a:solidFill>
                <a:hlinkClick r:id="rId5" tooltip=""/>
              </a:rPr>
              <a:t>Video 3</a:t>
            </a:r>
            <a:r>
              <a:rPr lang="en-GB" b="1"/>
              <a:t> - My Code School Binary Tree Traversal Youtube video</a:t>
            </a:r>
            <a:endParaRPr b="1"/>
          </a:p>
          <a:p>
            <a:pPr marL="0" lvl="0" indent="0" algn="l" rtl="0">
              <a:spcBef>
                <a:spcPts val="0"/>
              </a:spcBef>
              <a:spcAft>
                <a:spcPts val="0"/>
              </a:spcAft>
              <a:buNone/>
              <a:defRPr/>
            </a:pPr>
            <a:endParaRPr/>
          </a:p>
          <a:p>
            <a:pPr marL="0" lvl="0" indent="0" algn="l" rtl="0">
              <a:spcBef>
                <a:spcPts val="0"/>
              </a:spcBef>
              <a:spcAft>
                <a:spcPts val="0"/>
              </a:spcAft>
              <a:buNone/>
              <a:defRPr/>
            </a:pPr>
            <a:r>
              <a:rPr lang="en-GB" b="1" u="sng">
                <a:solidFill>
                  <a:schemeClr val="hlink"/>
                </a:solidFill>
                <a:hlinkClick r:id="rId6" tooltip=""/>
              </a:rPr>
              <a:t>Website 1</a:t>
            </a:r>
            <a:r>
              <a:rPr lang="en-GB" b="1"/>
              <a:t> - Isaac Computer Science website -  section on Tree traversal</a:t>
            </a:r>
            <a:endParaRPr b="1"/>
          </a:p>
          <a:p>
            <a:pPr marL="0" lvl="0" indent="0" algn="l" rtl="0">
              <a:spcBef>
                <a:spcPts val="0"/>
              </a:spcBef>
              <a:spcAft>
                <a:spcPts val="0"/>
              </a:spcAft>
              <a:buNone/>
              <a:defRPr/>
            </a:pPr>
            <a:endParaRPr sz="1000"/>
          </a:p>
          <a:p>
            <a:pPr marL="0" lvl="0" indent="0" algn="l" rtl="0">
              <a:spcBef>
                <a:spcPts val="0"/>
              </a:spcBef>
              <a:spcAft>
                <a:spcPts val="0"/>
              </a:spcAft>
              <a:buNone/>
              <a:defRPr/>
            </a:pPr>
            <a:endParaRPr sz="1000"/>
          </a:p>
          <a:p>
            <a:pPr marL="0" lvl="0" indent="0" algn="l" rtl="0">
              <a:spcBef>
                <a:spcPts val="0"/>
              </a:spcBef>
              <a:spcAft>
                <a:spcPts val="0"/>
              </a:spcAft>
              <a:buNone/>
              <a:defRPr/>
            </a:pPr>
            <a:endParaRPr sz="1000"/>
          </a:p>
          <a:p>
            <a:pPr marL="0" lvl="0" indent="0" algn="l" rtl="0">
              <a:spcBef>
                <a:spcPts val="0"/>
              </a:spcBef>
              <a:spcAft>
                <a:spcPts val="0"/>
              </a:spcAft>
              <a:buNone/>
              <a:defRPr/>
            </a:pPr>
            <a:endParaRPr sz="1000"/>
          </a:p>
          <a:p>
            <a:pPr marL="0" lvl="0" indent="0" algn="l" rtl="0">
              <a:spcBef>
                <a:spcPts val="0"/>
              </a:spcBef>
              <a:spcAft>
                <a:spcPts val="0"/>
              </a:spcAft>
              <a:buNone/>
              <a:defRPr/>
            </a:pPr>
            <a:endParaRPr sz="1000"/>
          </a:p>
          <a:p>
            <a:pPr marL="0" lvl="0" indent="0" algn="l" rtl="0">
              <a:spcBef>
                <a:spcPts val="0"/>
              </a:spcBef>
              <a:spcAft>
                <a:spcPts val="0"/>
              </a:spcAft>
              <a:buNone/>
              <a:defRPr/>
            </a:pPr>
            <a:endParaRPr sz="1000"/>
          </a:p>
        </p:txBody>
      </p:sp>
      <p:graphicFrame>
        <p:nvGraphicFramePr>
          <p:cNvPr id="177413988" name="Google Shape;232;p33"/>
          <p:cNvGraphicFramePr>
            <a:graphicFrameLocks xmlns:a="http://schemas.openxmlformats.org/drawingml/2006/main"/>
          </p:cNvGraphicFramePr>
          <p:nvPr/>
        </p:nvGraphicFramePr>
        <p:xfrm rot="0">
          <a:off x="1203850" y="2728600"/>
          <a:ext cx="3000000" cy="3000000"/>
        </p:xfrm>
        <a:graphic>
          <a:graphicData uri="http://schemas.openxmlformats.org/drawingml/2006/table">
            <a:tbl>
              <a:tblPr firstRow="0" firstCol="0" lastRow="0" lastCol="0" bandRow="0" bandCol="0">
                <a:tableStyleId>{63040797-A219-4A2E-ABFE-67BBE4557044}</a:tableStyleId>
                <a:noFill/>
              </a:tblPr>
              <a:tblGrid>
                <a:gridCol w="1225925"/>
                <a:gridCol w="1225925"/>
                <a:gridCol w="1225925"/>
                <a:gridCol w="1225925"/>
              </a:tblGrid>
              <a:tr h="453275">
                <a:tc>
                  <a:txBody>
                    <a:bodyPr/>
                    <a:p>
                      <a:pPr marL="0" lvl="0" indent="0" algn="ctr" rtl="0">
                        <a:spcBef>
                          <a:spcPts val="0"/>
                        </a:spcBef>
                        <a:spcAft>
                          <a:spcPts val="0"/>
                        </a:spcAft>
                        <a:buNone/>
                        <a:defRPr/>
                      </a:pPr>
                      <a:r>
                        <a:rPr lang="en-GB"/>
                        <a:t>Video</a:t>
                      </a:r>
                      <a:r>
                        <a:rPr lang="en-GB"/>
                        <a:t> 1</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tcPr>
                </a:tc>
                <a:tc>
                  <a:txBody>
                    <a:bodyPr/>
                    <a:p>
                      <a:pPr marL="0" lvl="0" indent="0" algn="ctr" rtl="0">
                        <a:spcBef>
                          <a:spcPts val="0"/>
                        </a:spcBef>
                        <a:spcAft>
                          <a:spcPts val="0"/>
                        </a:spcAft>
                        <a:buNone/>
                        <a:defRPr/>
                      </a:pPr>
                      <a:r>
                        <a:rPr lang="en-GB"/>
                        <a:t>Video</a:t>
                      </a:r>
                      <a:r>
                        <a:rPr lang="en-GB"/>
                        <a:t> 2</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tcPr>
                </a:tc>
                <a:tc>
                  <a:txBody>
                    <a:bodyPr/>
                    <a:p>
                      <a:pPr marL="0" lvl="0" indent="0" algn="ctr" rtl="0">
                        <a:spcBef>
                          <a:spcPts val="0"/>
                        </a:spcBef>
                        <a:spcAft>
                          <a:spcPts val="0"/>
                        </a:spcAft>
                        <a:buNone/>
                        <a:defRPr/>
                      </a:pPr>
                      <a:r>
                        <a:rPr lang="en-GB"/>
                        <a:t>Playlist 1</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tcPr>
                </a:tc>
                <a:tc>
                  <a:txBody>
                    <a:bodyPr/>
                    <a:p>
                      <a:pPr marL="0" lvl="0" indent="0" algn="ctr" rtl="0">
                        <a:spcBef>
                          <a:spcPts val="0"/>
                        </a:spcBef>
                        <a:spcAft>
                          <a:spcPts val="0"/>
                        </a:spcAft>
                        <a:buNone/>
                        <a:defRPr/>
                      </a:pPr>
                      <a:r>
                        <a:rPr lang="en-GB"/>
                        <a:t>Website 1</a:t>
                      </a: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tcPr>
                </a:tc>
              </a:tr>
              <a:tr h="1230800">
                <a:tc>
                  <a:txBody>
                    <a:bodyPr/>
                    <a:p>
                      <a:pPr marL="0" lvl="0" indent="0" algn="l" rtl="0">
                        <a:spcBef>
                          <a:spcPts val="0"/>
                        </a:spcBef>
                        <a:spcAft>
                          <a:spcPts val="0"/>
                        </a:spcAft>
                        <a:buNone/>
                        <a:defRPr/>
                      </a:pP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tcPr>
                </a:tc>
                <a:tc>
                  <a:txBody>
                    <a:bodyPr/>
                    <a:p>
                      <a:pPr marL="0" lvl="0" indent="0" algn="l" rtl="0">
                        <a:spcBef>
                          <a:spcPts val="0"/>
                        </a:spcBef>
                        <a:spcAft>
                          <a:spcPts val="0"/>
                        </a:spcAft>
                        <a:buNone/>
                        <a:defRPr/>
                      </a:pP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tcPr>
                </a:tc>
                <a:tc>
                  <a:txBody>
                    <a:bodyPr/>
                    <a:p>
                      <a:pPr marL="0" lvl="0" indent="0" algn="l" rtl="0">
                        <a:spcBef>
                          <a:spcPts val="0"/>
                        </a:spcBef>
                        <a:spcAft>
                          <a:spcPts val="0"/>
                        </a:spcAft>
                        <a:buNone/>
                        <a:defRPr/>
                      </a:pP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tcPr>
                </a:tc>
                <a:tc>
                  <a:txBody>
                    <a:bodyPr/>
                    <a:p>
                      <a:pPr marL="0" lvl="0" indent="0" algn="l" rtl="0">
                        <a:spcBef>
                          <a:spcPts val="0"/>
                        </a:spcBef>
                        <a:spcAft>
                          <a:spcPts val="0"/>
                        </a:spcAft>
                        <a:buNone/>
                        <a:defRPr/>
                      </a:pPr>
                      <a:endParaRPr/>
                    </a:p>
                  </a:txBody>
                  <a:tcPr marL="91425" marR="91425" marT="91425" marB="91425">
                    <a:lnL w="9525" algn="ctr">
                      <a:solidFill>
                        <a:srgbClr val="000000"/>
                      </a:solidFill>
                    </a:lnL>
                    <a:lnR w="9525" algn="ctr">
                      <a:solidFill>
                        <a:srgbClr val="000000"/>
                      </a:solidFill>
                    </a:lnR>
                    <a:lnT w="9525" algn="ctr">
                      <a:solidFill>
                        <a:srgbClr val="000000"/>
                      </a:solidFill>
                    </a:lnT>
                    <a:lnB w="9525" algn="ctr">
                      <a:solidFill>
                        <a:srgbClr val="000000"/>
                      </a:solidFill>
                    </a:lnB>
                  </a:tcPr>
                </a:tc>
              </a:tr>
            </a:tbl>
          </a:graphicData>
        </a:graphic>
      </p:graphicFrame>
      <p:sp>
        <p:nvSpPr>
          <p:cNvPr id="825656980" name="Google Shape;233;p33"/>
          <p:cNvSpPr txBox="1"/>
          <p:nvPr/>
        </p:nvSpPr>
        <p:spPr bwMode="auto">
          <a:xfrm>
            <a:off x="375450" y="5797113"/>
            <a:ext cx="6809100" cy="3074100"/>
          </a:xfrm>
          <a:prstGeom prst="rect">
            <a:avLst/>
          </a:prstGeom>
          <a:solidFill>
            <a:srgbClr val="FFFFFF"/>
          </a:solidFill>
          <a:ln w="76200" cap="flat" cmpd="sng">
            <a:solidFill>
              <a:srgbClr val="D9D9D9"/>
            </a:solidFill>
            <a:prstDash val="solid"/>
            <a:round/>
            <a:headEnd type="none" w="sm" len="sm"/>
            <a:tailEnd type="none" w="sm" len="sm"/>
          </a:ln>
        </p:spPr>
        <p:txBody>
          <a:bodyPr spcFirstLastPara="1" wrap="square" lIns="64650" tIns="64650" rIns="64650" bIns="64650" anchor="t" anchorCtr="0">
            <a:noAutofit/>
          </a:bodyPr>
          <a:lstStyle/>
          <a:p>
            <a:pPr marL="0" lvl="0" indent="0" algn="l" rtl="0">
              <a:spcBef>
                <a:spcPts val="0"/>
              </a:spcBef>
              <a:spcAft>
                <a:spcPts val="0"/>
              </a:spcAft>
              <a:buNone/>
              <a:defRPr/>
            </a:pPr>
            <a:r>
              <a:rPr lang="en-GB" sz="1000" b="1"/>
              <a:t>Action Plan</a:t>
            </a:r>
            <a:endParaRPr sz="1000" b="1"/>
          </a:p>
          <a:p>
            <a:pPr marL="0" lvl="0" indent="0" algn="l" rtl="0">
              <a:spcBef>
                <a:spcPts val="0"/>
              </a:spcBef>
              <a:spcAft>
                <a:spcPts val="0"/>
              </a:spcAft>
              <a:buNone/>
              <a:defRPr/>
            </a:pPr>
            <a:endParaRPr sz="1000"/>
          </a:p>
          <a:p>
            <a:pPr marL="0" lvl="0" indent="0" algn="l" rtl="0">
              <a:spcBef>
                <a:spcPts val="0"/>
              </a:spcBef>
              <a:spcAft>
                <a:spcPts val="0"/>
              </a:spcAft>
              <a:buNone/>
              <a:defRPr/>
            </a:pPr>
            <a:endParaRPr sz="1000"/>
          </a:p>
        </p:txBody>
      </p:sp>
      <p:pic>
        <p:nvPicPr>
          <p:cNvPr id="392698614" name="Google Shape;234;p33"/>
          <p:cNvPicPr/>
          <p:nvPr/>
        </p:nvPicPr>
        <p:blipFill rotWithShape="1">
          <a:blip r:embed="rId7">
            <a:alphaModFix/>
          </a:blip>
          <a:stretch/>
        </p:blipFill>
        <p:spPr bwMode="auto">
          <a:xfrm>
            <a:off x="1203845" y="3181870"/>
            <a:ext cx="1225925" cy="1213351"/>
          </a:xfrm>
          <a:prstGeom prst="rect">
            <a:avLst/>
          </a:prstGeom>
          <a:noFill/>
          <a:ln>
            <a:noFill/>
          </a:ln>
        </p:spPr>
      </p:pic>
      <p:pic>
        <p:nvPicPr>
          <p:cNvPr id="1019918969" name="Google Shape;235;p33"/>
          <p:cNvPicPr/>
          <p:nvPr/>
        </p:nvPicPr>
        <p:blipFill rotWithShape="1">
          <a:blip r:embed="rId8">
            <a:alphaModFix/>
          </a:blip>
          <a:stretch/>
        </p:blipFill>
        <p:spPr bwMode="auto">
          <a:xfrm>
            <a:off x="2429770" y="3181875"/>
            <a:ext cx="1225925" cy="1184064"/>
          </a:xfrm>
          <a:prstGeom prst="rect">
            <a:avLst/>
          </a:prstGeom>
          <a:noFill/>
          <a:ln>
            <a:noFill/>
          </a:ln>
        </p:spPr>
      </p:pic>
      <p:pic>
        <p:nvPicPr>
          <p:cNvPr id="1819768008" name="Google Shape;236;p33"/>
          <p:cNvPicPr/>
          <p:nvPr/>
        </p:nvPicPr>
        <p:blipFill rotWithShape="1">
          <a:blip r:embed="rId9">
            <a:alphaModFix/>
          </a:blip>
          <a:stretch/>
        </p:blipFill>
        <p:spPr bwMode="auto">
          <a:xfrm>
            <a:off x="3655700" y="3181875"/>
            <a:ext cx="1225925" cy="1225925"/>
          </a:xfrm>
          <a:prstGeom prst="rect">
            <a:avLst/>
          </a:prstGeom>
          <a:noFill/>
          <a:ln>
            <a:noFill/>
          </a:ln>
        </p:spPr>
      </p:pic>
      <p:pic>
        <p:nvPicPr>
          <p:cNvPr id="413670562" name="Google Shape;237;p33"/>
          <p:cNvPicPr/>
          <p:nvPr/>
        </p:nvPicPr>
        <p:blipFill rotWithShape="1">
          <a:blip r:embed="rId10">
            <a:alphaModFix/>
          </a:blip>
          <a:stretch/>
        </p:blipFill>
        <p:spPr bwMode="auto">
          <a:xfrm>
            <a:off x="4881620" y="3181875"/>
            <a:ext cx="1225925" cy="1231847"/>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customXml/_rels/item1.xml.rels><?xml version="1.0" encoding="UTF-8" standalone="yes"?><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67F294950C7884E8FE4B76F01B4BA6B" ma:contentTypeVersion="11" ma:contentTypeDescription="Create a new document." ma:contentTypeScope="" ma:versionID="8365bd8d0a391930816543019944d6a6">
  <xsd:schema xmlns:xsd="http://www.w3.org/2001/XMLSchema" xmlns:xs="http://www.w3.org/2001/XMLSchema" xmlns:p="http://schemas.microsoft.com/office/2006/metadata/properties" xmlns:ns2="20b0890a-fba0-492d-b60c-f556a549982e" xmlns:ns3="a89d9e9c-ee92-411a-8d95-187c9d227507" targetNamespace="http://schemas.microsoft.com/office/2006/metadata/properties" ma:root="true" ma:fieldsID="99d4def2894b940b56ff66f83499826c" ns2:_="" ns3:_="">
    <xsd:import namespace="20b0890a-fba0-492d-b60c-f556a549982e"/>
    <xsd:import namespace="a89d9e9c-ee92-411a-8d95-187c9d227507"/>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b0890a-fba0-492d-b60c-f556a549982e"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414d2c0e-eedf-4631-bc1a-62436814b3ed"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89d9e9c-ee92-411a-8d95-187c9d227507"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8dbb42c4-5597-4b5c-a98f-459a7307402e}" ma:internalName="TaxCatchAll" ma:showField="CatchAllData" ma:web="a89d9e9c-ee92-411a-8d95-187c9d22750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This value indicates the number of saves or revisions. The application is responsible for updating this value after each revision.</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a89d9e9c-ee92-411a-8d95-187c9d227507" xsi:nil="true"/>
    <lcf76f155ced4ddcb4097134ff3c332f xmlns="20b0890a-fba0-492d-b60c-f556a549982e">
      <Terms xmlns="http://schemas.microsoft.com/office/infopath/2007/PartnerControls"/>
    </lcf76f155ced4ddcb4097134ff3c332f>
    <ReferenceId xmlns="20b0890a-fba0-492d-b60c-f556a549982e" xsi:nil="true"/>
  </documentManagement>
</p:properties>
</file>

<file path=customXml/itemProps1.xml><?xml version="1.0" encoding="utf-8"?>
<ds:datastoreItem xmlns:ds="http://schemas.openxmlformats.org/officeDocument/2006/customXml" ds:itemID="58084602-2915-49BB-869F-30AD6A270FC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0b0890a-fba0-492d-b60c-f556a549982e"/>
    <ds:schemaRef ds:uri="a89d9e9c-ee92-411a-8d95-187c9d227507"/>
    <ds:schemaRef ds:uri="http://schemas.microsoft.com/office/2006/documentManagement/types"/>
    <ds:schemaRef ds:uri="http://schemas.microsoft.com/office/infopath/2007/PartnerControls"/>
    <ds:schemaRef ds:uri="http://schemas.openxmlformats.org/package/2006/metadata/core-properties"/>
    <ds:schemaRef ds:uri="http://www.w3.org/2001/XMLSchema-instance"/>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9553288-990C-4FAA-BA1B-A9F8A8FEF047">
  <ds:schemaRefs>
    <ds:schemaRef ds:uri="http://schemas.microsoft.com/sharepoint/v3/contenttype/forms"/>
  </ds:schemaRefs>
</ds:datastoreItem>
</file>

<file path=customXml/itemProps3.xml><?xml version="1.0" encoding="utf-8"?>
<ds:datastoreItem xmlns:ds="http://schemas.openxmlformats.org/officeDocument/2006/customXml" ds:itemID="6DA2331A-8342-460D-A845-BB7F6B2C0F8F">
  <ds:schemaRefs>
    <ds:schemaRef ds:uri="http://schemas.microsoft.com/office/2006/metadata/properties"/>
    <ds:schemaRef ds:uri="http://www.w3.org/2001/XMLSchema-instance"/>
    <ds:schemaRef ds:uri="http://schemas.microsoft.com/office/infopath/2007/PartnerControls"/>
    <ds:schemaRef ds:uri="a89d9e9c-ee92-411a-8d95-187c9d227507"/>
    <ds:schemaRef ds:uri="20b0890a-fba0-492d-b60c-f556a549982e"/>
  </ds:schemaRefs>
</ds:datastoreItem>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21</Slides>
  <Notes>21</Notes>
  <HiddenSlides>0</HiddenSlides>
  <MMClips>2</MMClips>
  <ScaleCrop>0</ScaleCrop>
  <HeadingPairs>
    <vt:vector size="4" baseType="variant">
      <vt:variant>
        <vt:lpstr>Theme</vt:lpstr>
      </vt:variant>
      <vt:variant>
        <vt:i4>1</vt:i4>
      </vt:variant>
      <vt:variant>
        <vt:lpstr>Slide Titles</vt:lpstr>
      </vt:variant>
      <vt:variant>
        <vt:i4>21</vt:i4>
      </vt:variant>
    </vt:vector>
  </HeadingPairs>
  <TitlesOfParts>
    <vt:vector size="22"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revision>2</cp:revision>
  <dcterms:modified xsi:type="dcterms:W3CDTF">2026-10-08T12:47:00Z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0x010100E67F294950C7884E8FE4B76F01B4BA6B</vt:lpwstr>
  </property>
</Properties>
</file>