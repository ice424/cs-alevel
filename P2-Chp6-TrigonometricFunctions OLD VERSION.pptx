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6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notesSlides/notesSlide28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2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3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9144000" cy="6858000" type="screen4x3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2" d="100"/>
          <a:sy n="102" d="100"/>
        </p:scale>
        <p:origin x="1746" y="318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 /><Relationship Id="rId35" Type="http://schemas.openxmlformats.org/officeDocument/2006/relationships/tableStyles" Target="tableStyles.xml" /><Relationship Id="rId3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46016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4079235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4E87F4A-DD11-41AF-8B76-F2E5B6202836}" type="datetimeFigureOut">
              <a:rPr lang="en-GB"/>
              <a:t>29/09/2025</a:t>
            </a:fld>
            <a:endParaRPr lang="en-GB"/>
          </a:p>
        </p:txBody>
      </p:sp>
      <p:sp>
        <p:nvSpPr>
          <p:cNvPr id="169808614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38509690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2603775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5766254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62F2399-CD51-4C4C-BC34-03B9F40F9CF8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6253AF-947D-0CBF-D591-CDDAD6B47E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C97973-85E8-4C7F-444E-8E1F654912F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A4905-E5E4-C15F-858A-98D326FB97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F368D7-17D5-65AC-9A77-BCE9D6E832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067B3F-2422-D024-AEE1-9D860C8412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93CC8C-5377-9D21-05A9-4EEBE6D520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5135FC-844C-4724-D9FD-C6E20A09EC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1DAF10-5EF4-CDE0-2BEB-FB213369BF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7353AA-F37D-5777-FE82-609CBCA20A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33D65E-4C8C-75C2-0FAB-924870E2ED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12D36C-BB8B-54D2-4B12-84B9D699476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F0599-D809-57FE-8754-FF7590042A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DF721-D25B-330A-9D38-D9FE844216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B4A71C-048B-C089-804F-179E80231B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D1B-7252-6261-140F-22FA6D22AE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991B11-3A0C-69C2-81D5-6547C3679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146816-7914-D390-6DFE-4CECF8D28A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F6C6B2-F9E4-3DF8-B0A5-BDA901BDE6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65FBA-B090-C66A-661A-5A667698C0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C3E0E6-9D0C-FBB1-B27B-5189C88EFF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FF1001-811C-4FE0-24AC-1E5BD0FCD7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7213CC-3330-75D9-A760-C2827BCF95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5373E5-5031-09AF-9F77-58459535C6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09281C-5E70-FC3C-C7C5-F64691E51D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BDB121-BF52-787A-275A-B0FCEF34D1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31248D-6E3A-C770-8C78-83750292A0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0BEBB-4636-B983-0734-341C64D219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673A8-F0BB-5F46-D94F-B771EA57E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1EA144-52D3-452B-8B1E-491C45839C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86464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06473600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82151521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9AFE4D-3339-4F90-AB07-DAB31D79E32A}" type="datetimeFigureOut">
              <a:rPr lang="en-GB"/>
              <a:t>29/09/2025</a:t>
            </a:fld>
            <a:endParaRPr lang="en-GB"/>
          </a:p>
        </p:txBody>
      </p:sp>
      <p:sp>
        <p:nvSpPr>
          <p:cNvPr id="639947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550840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8177B05-5D28-4021-9BD2-A7A72850B659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4004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3607586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7326598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9AFE4D-3339-4F90-AB07-DAB31D79E32A}" type="datetimeFigureOut">
              <a:rPr lang="en-GB"/>
              <a:t>29/09/2025</a:t>
            </a:fld>
            <a:endParaRPr lang="en-GB"/>
          </a:p>
        </p:txBody>
      </p:sp>
      <p:sp>
        <p:nvSpPr>
          <p:cNvPr id="18117516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53518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8177B05-5D28-4021-9BD2-A7A72850B659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367116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25462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67141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9AFE4D-3339-4F90-AB07-DAB31D79E32A}" type="datetimeFigureOut">
              <a:rPr lang="en-GB"/>
              <a:t>29/09/2025</a:t>
            </a:fld>
            <a:endParaRPr lang="en-GB"/>
          </a:p>
        </p:txBody>
      </p:sp>
      <p:sp>
        <p:nvSpPr>
          <p:cNvPr id="1617143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960638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8177B05-5D28-4021-9BD2-A7A72850B659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7907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4332227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793688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4081627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9AFE4D-3339-4F90-AB07-DAB31D79E32A}" type="datetimeFigureOut">
              <a:rPr lang="en-GB"/>
              <a:t>29/09/2025</a:t>
            </a:fld>
            <a:endParaRPr lang="en-GB"/>
          </a:p>
        </p:txBody>
      </p:sp>
      <p:sp>
        <p:nvSpPr>
          <p:cNvPr id="69194199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95296697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8177B05-5D28-4021-9BD2-A7A72850B659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9491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667186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115972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9673742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95702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5212674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9AFE4D-3339-4F90-AB07-DAB31D79E32A}" type="datetimeFigureOut">
              <a:rPr lang="en-GB"/>
              <a:t>29/09/2025</a:t>
            </a:fld>
            <a:endParaRPr lang="en-GB"/>
          </a:p>
        </p:txBody>
      </p:sp>
      <p:sp>
        <p:nvSpPr>
          <p:cNvPr id="91177287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4572652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8177B05-5D28-4021-9BD2-A7A72850B659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2465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1890374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9AFE4D-3339-4F90-AB07-DAB31D79E32A}" type="datetimeFigureOut">
              <a:rPr lang="en-GB"/>
              <a:t>29/09/2025</a:t>
            </a:fld>
            <a:endParaRPr lang="en-GB"/>
          </a:p>
        </p:txBody>
      </p:sp>
      <p:sp>
        <p:nvSpPr>
          <p:cNvPr id="170371493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8591262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8177B05-5D28-4021-9BD2-A7A72850B659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03926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9AFE4D-3339-4F90-AB07-DAB31D79E32A}" type="datetimeFigureOut">
              <a:rPr lang="en-GB"/>
              <a:t>29/09/2025</a:t>
            </a:fld>
            <a:endParaRPr lang="en-GB"/>
          </a:p>
        </p:txBody>
      </p:sp>
      <p:sp>
        <p:nvSpPr>
          <p:cNvPr id="149114595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7664957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8177B05-5D28-4021-9BD2-A7A72850B659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889514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67509775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246501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3785188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9AFE4D-3339-4F90-AB07-DAB31D79E32A}" type="datetimeFigureOut">
              <a:rPr lang="en-GB"/>
              <a:t>29/09/2025</a:t>
            </a:fld>
            <a:endParaRPr lang="en-GB"/>
          </a:p>
        </p:txBody>
      </p:sp>
      <p:sp>
        <p:nvSpPr>
          <p:cNvPr id="893814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7726424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8177B05-5D28-4021-9BD2-A7A72850B659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352836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6280327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74958269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279831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9AFE4D-3339-4F90-AB07-DAB31D79E32A}" type="datetimeFigureOut">
              <a:rPr lang="en-GB"/>
              <a:t>29/09/2025</a:t>
            </a:fld>
            <a:endParaRPr lang="en-GB"/>
          </a:p>
        </p:txBody>
      </p:sp>
      <p:sp>
        <p:nvSpPr>
          <p:cNvPr id="1336075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6730659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8177B05-5D28-4021-9BD2-A7A72850B659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7039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1702579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093693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9AFE4D-3339-4F90-AB07-DAB31D79E32A}" type="datetimeFigureOut">
              <a:rPr lang="en-GB"/>
              <a:t>29/09/2025</a:t>
            </a:fld>
            <a:endParaRPr lang="en-GB"/>
          </a:p>
        </p:txBody>
      </p:sp>
      <p:sp>
        <p:nvSpPr>
          <p:cNvPr id="7062793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898064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8177B05-5D28-4021-9BD2-A7A72850B659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63205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1160661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1326969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9AFE4D-3339-4F90-AB07-DAB31D79E32A}" type="datetimeFigureOut">
              <a:rPr lang="en-GB"/>
              <a:t>29/09/2025</a:t>
            </a:fld>
            <a:endParaRPr lang="en-GB"/>
          </a:p>
        </p:txBody>
      </p:sp>
      <p:sp>
        <p:nvSpPr>
          <p:cNvPr id="12002659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449820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8177B05-5D28-4021-9BD2-A7A72850B659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96489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477219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19393239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B9AFE4D-3339-4F90-AB07-DAB31D79E32A}" type="datetimeFigureOut">
              <a:rPr lang="en-GB"/>
              <a:t>29/09/2025</a:t>
            </a:fld>
            <a:endParaRPr lang="en-GB"/>
          </a:p>
        </p:txBody>
      </p:sp>
      <p:sp>
        <p:nvSpPr>
          <p:cNvPr id="206624534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7229823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8177B05-5D28-4021-9BD2-A7A72850B659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Relationship Id="rId4" Type="http://schemas.openxmlformats.org/officeDocument/2006/relationships/image" Target="../media/image16.jp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734441" name="Title 1"/>
          <p:cNvSpPr>
            <a:spLocks noGrp="1"/>
          </p:cNvSpPr>
          <p:nvPr>
            <p:ph type="ctrTitle"/>
          </p:nvPr>
        </p:nvSpPr>
        <p:spPr bwMode="auto">
          <a:xfrm>
            <a:off x="611560" y="2130425"/>
            <a:ext cx="8136904" cy="1470025"/>
          </a:xfrm>
        </p:spPr>
        <p:txBody>
          <a:bodyPr/>
          <a:lstStyle/>
          <a:p>
            <a:pPr>
              <a:defRPr/>
            </a:pPr>
            <a:r>
              <a:rPr lang="en-GB" b="1">
                <a:solidFill>
                  <a:srgbClr val="92D050"/>
                </a:solidFill>
              </a:rPr>
              <a:t>P2 Chapter 6 :: </a:t>
            </a:r>
            <a:r>
              <a:rPr lang="en-GB"/>
              <a:t>Trigonometry</a:t>
            </a:r>
            <a:endParaRPr/>
          </a:p>
        </p:txBody>
      </p:sp>
      <p:sp>
        <p:nvSpPr>
          <p:cNvPr id="1433580955" name="Subtitle 2"/>
          <p:cNvSpPr>
            <a:spLocks noGrp="1"/>
          </p:cNvSpPr>
          <p:nvPr>
            <p:ph type="subTitle" idx="1"/>
          </p:nvPr>
        </p:nvSpPr>
        <p:spPr bwMode="auto">
          <a:xfrm>
            <a:off x="1079612" y="3645024"/>
            <a:ext cx="6984776" cy="14177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2800"/>
              <a:t>jfrost@tiffin.kingston.sch.uk</a:t>
            </a:r>
            <a:endParaRPr/>
          </a:p>
          <a:p>
            <a:pPr>
              <a:defRPr/>
            </a:pPr>
            <a:r>
              <a:rPr lang="en-GB" sz="2000" b="1"/>
              <a:t>www.drfrostmaths.com</a:t>
            </a:r>
            <a:br>
              <a:rPr lang="en-GB" sz="2000" b="1"/>
            </a:br>
            <a:r>
              <a:rPr lang="en-GB" sz="2000" b="1"/>
              <a:t>@DrFrostMaths</a:t>
            </a:r>
            <a:r>
              <a:rPr lang="en-GB" sz="2000"/>
              <a:t> </a:t>
            </a:r>
            <a:endParaRPr/>
          </a:p>
        </p:txBody>
      </p:sp>
      <p:cxnSp>
        <p:nvCxnSpPr>
          <p:cNvPr id="2052653715" name="Straight Connector 7"/>
          <p:cNvCxnSpPr/>
          <p:nvPr/>
        </p:nvCxnSpPr>
        <p:spPr bwMode="auto"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68726856" name="Picture 2" descr="E:\TiffinSchoolLogoSmall.png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192212" y="111910"/>
            <a:ext cx="1008112" cy="1013363"/>
          </a:xfrm>
          <a:prstGeom prst="rect">
            <a:avLst/>
          </a:prstGeom>
          <a:noFill/>
        </p:spPr>
      </p:pic>
      <p:sp>
        <p:nvSpPr>
          <p:cNvPr id="1802698197" name="TextBox 3"/>
          <p:cNvSpPr txBox="1"/>
          <p:nvPr/>
        </p:nvSpPr>
        <p:spPr bwMode="auto">
          <a:xfrm>
            <a:off x="107504" y="6461720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Last modified: 29</a:t>
            </a:r>
            <a:r>
              <a:rPr lang="en-GB" baseline="30000"/>
              <a:t>th</a:t>
            </a:r>
            <a:r>
              <a:rPr lang="en-GB"/>
              <a:t> September 2025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826149" name="Rectangle 13"/>
          <p:cNvSpPr/>
          <p:nvPr/>
        </p:nvSpPr>
        <p:spPr bwMode="auto">
          <a:xfrm>
            <a:off x="12919" y="0"/>
            <a:ext cx="9142856" cy="6858000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979658869" name="Rectangle 9"/>
          <p:cNvSpPr/>
          <p:nvPr/>
        </p:nvSpPr>
        <p:spPr bwMode="auto">
          <a:xfrm>
            <a:off x="0" y="0"/>
            <a:ext cx="9155775" cy="1422050"/>
          </a:xfrm>
          <a:prstGeom prst="rect">
            <a:avLst/>
          </a:prstGeom>
          <a:solidFill>
            <a:schemeClr val="tx1">
              <a:alpha val="76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27578233" name="TextBox 7"/>
          <p:cNvSpPr txBox="1"/>
          <p:nvPr/>
        </p:nvSpPr>
        <p:spPr bwMode="auto">
          <a:xfrm>
            <a:off x="323148" y="217786"/>
            <a:ext cx="3816424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400" b="1">
                <a:solidFill>
                  <a:schemeClr val="bg1"/>
                </a:solidFill>
              </a:rPr>
              <a:t>www.drfrostmaths.com</a:t>
            </a:r>
            <a:endParaRPr/>
          </a:p>
          <a:p>
            <a:pPr>
              <a:defRPr/>
            </a:pPr>
            <a:r>
              <a:rPr lang="en-GB" sz="1600">
                <a:solidFill>
                  <a:schemeClr val="bg1"/>
                </a:solidFill>
              </a:rPr>
              <a:t>Everything is </a:t>
            </a:r>
            <a:r>
              <a:rPr lang="en-GB" sz="1600" b="1">
                <a:solidFill>
                  <a:schemeClr val="bg1"/>
                </a:solidFill>
              </a:rPr>
              <a:t>completely free</a:t>
            </a:r>
            <a:r>
              <a:rPr lang="en-GB" sz="1600">
                <a:solidFill>
                  <a:schemeClr val="bg1"/>
                </a:solidFill>
              </a:rPr>
              <a:t>.</a:t>
            </a:r>
            <a:endParaRPr/>
          </a:p>
          <a:p>
            <a:pPr>
              <a:defRPr/>
            </a:pPr>
            <a:r>
              <a:rPr lang="en-GB" sz="1600">
                <a:solidFill>
                  <a:schemeClr val="bg1"/>
                </a:solidFill>
              </a:rPr>
              <a:t>Why not register?</a:t>
            </a:r>
            <a:endParaRPr/>
          </a:p>
        </p:txBody>
      </p:sp>
      <p:pic>
        <p:nvPicPr>
          <p:cNvPr id="815174502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52499" y="1806461"/>
            <a:ext cx="5829955" cy="3383987"/>
          </a:xfrm>
          <a:prstGeom prst="rect">
            <a:avLst/>
          </a:prstGeom>
        </p:spPr>
      </p:pic>
      <p:pic>
        <p:nvPicPr>
          <p:cNvPr id="1065302283" name="Picture 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124575" y="2827488"/>
            <a:ext cx="2458051" cy="1528359"/>
          </a:xfrm>
          <a:prstGeom prst="rect">
            <a:avLst/>
          </a:prstGeom>
        </p:spPr>
      </p:pic>
      <p:pic>
        <p:nvPicPr>
          <p:cNvPr id="566242118" name="Picture 5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602129" y="4873621"/>
            <a:ext cx="2946634" cy="1817923"/>
          </a:xfrm>
          <a:prstGeom prst="rect">
            <a:avLst/>
          </a:prstGeom>
        </p:spPr>
      </p:pic>
      <p:sp>
        <p:nvSpPr>
          <p:cNvPr id="880698102" name="TextBox 3"/>
          <p:cNvSpPr txBox="1"/>
          <p:nvPr/>
        </p:nvSpPr>
        <p:spPr bwMode="auto">
          <a:xfrm>
            <a:off x="743444" y="6239336"/>
            <a:ext cx="1769021" cy="400110"/>
          </a:xfrm>
          <a:prstGeom prst="rect">
            <a:avLst/>
          </a:prstGeom>
          <a:solidFill>
            <a:schemeClr val="dk1">
              <a:alpha val="86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000"/>
              <a:t>Teaching videos with topic tests to check understanding.</a:t>
            </a:r>
            <a:endParaRPr/>
          </a:p>
        </p:txBody>
      </p:sp>
      <p:sp>
        <p:nvSpPr>
          <p:cNvPr id="101949306" name="TextBox 8"/>
          <p:cNvSpPr txBox="1"/>
          <p:nvPr/>
        </p:nvSpPr>
        <p:spPr bwMode="auto">
          <a:xfrm>
            <a:off x="4191000" y="288231"/>
            <a:ext cx="4686300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200"/>
              <a:t>Register now to interactively practise questions on this topic, including past paper questions and extension questions (including MAT + UKMT).</a:t>
            </a:r>
            <a:endParaRPr/>
          </a:p>
          <a:p>
            <a:pPr>
              <a:defRPr/>
            </a:pPr>
            <a:r>
              <a:rPr lang="en-GB" sz="1200"/>
              <a:t>Teachers: you can create student accounts (or students can register themselves), to set work, monitor progress and even create worksheets.</a:t>
            </a:r>
            <a:endParaRPr/>
          </a:p>
        </p:txBody>
      </p:sp>
      <p:sp>
        <p:nvSpPr>
          <p:cNvPr id="170763744" name="TextBox 15"/>
          <p:cNvSpPr txBox="1"/>
          <p:nvPr/>
        </p:nvSpPr>
        <p:spPr bwMode="auto">
          <a:xfrm>
            <a:off x="7639050" y="3953334"/>
            <a:ext cx="1419225" cy="553998"/>
          </a:xfrm>
          <a:prstGeom prst="rect">
            <a:avLst/>
          </a:prstGeom>
          <a:solidFill>
            <a:schemeClr val="dk1">
              <a:alpha val="86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000"/>
              <a:t>Dashboard with points, trophies, notifications and student progress.</a:t>
            </a:r>
            <a:endParaRPr/>
          </a:p>
        </p:txBody>
      </p:sp>
      <p:pic>
        <p:nvPicPr>
          <p:cNvPr id="1140272891" name="Picture 4" descr="Image result for ocr"/>
          <p:cNvPicPr>
            <a:picLocks noChangeAspect="1" noChangeArrowheads="1"/>
          </p:cNvPicPr>
          <p:nvPr/>
        </p:nvPicPr>
        <p:blipFill rotWithShape="1">
          <a:blip r:embed="rId6"/>
          <a:stretch/>
        </p:blipFill>
        <p:spPr bwMode="auto">
          <a:xfrm>
            <a:off x="8137247" y="1970180"/>
            <a:ext cx="682729" cy="277720"/>
          </a:xfrm>
          <a:prstGeom prst="rect">
            <a:avLst/>
          </a:prstGeom>
          <a:noFill/>
        </p:spPr>
      </p:pic>
      <p:pic>
        <p:nvPicPr>
          <p:cNvPr id="126260353" name="Picture 17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860710" y="2309414"/>
            <a:ext cx="808401" cy="287736"/>
          </a:xfrm>
          <a:prstGeom prst="rect">
            <a:avLst/>
          </a:prstGeom>
        </p:spPr>
      </p:pic>
      <p:pic>
        <p:nvPicPr>
          <p:cNvPr id="1460722525" name="Picture 18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8108726" y="2328005"/>
            <a:ext cx="471556" cy="432260"/>
          </a:xfrm>
          <a:prstGeom prst="rect">
            <a:avLst/>
          </a:prstGeom>
        </p:spPr>
      </p:pic>
      <p:pic>
        <p:nvPicPr>
          <p:cNvPr id="1999985591" name="Picture 19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6838323" y="1974048"/>
            <a:ext cx="1061077" cy="235405"/>
          </a:xfrm>
          <a:prstGeom prst="rect">
            <a:avLst/>
          </a:prstGeom>
        </p:spPr>
      </p:pic>
      <p:sp>
        <p:nvSpPr>
          <p:cNvPr id="242203040" name="TextBox 20"/>
          <p:cNvSpPr txBox="1"/>
          <p:nvPr/>
        </p:nvSpPr>
        <p:spPr bwMode="auto">
          <a:xfrm>
            <a:off x="6790698" y="1653183"/>
            <a:ext cx="14780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050"/>
              <a:t>With questions by:</a:t>
            </a:r>
            <a:endParaRPr/>
          </a:p>
        </p:txBody>
      </p:sp>
      <p:cxnSp>
        <p:nvCxnSpPr>
          <p:cNvPr id="1718082320" name="Straight Connector 21"/>
          <p:cNvCxnSpPr/>
          <p:nvPr/>
        </p:nvCxnSpPr>
        <p:spPr bwMode="auto">
          <a:xfrm flipV="1">
            <a:off x="0" y="1416050"/>
            <a:ext cx="9156700" cy="3175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7359477" name="Picture 22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5635827" y="4851044"/>
            <a:ext cx="2572414" cy="13161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47628075" name="TextBox 11"/>
          <p:cNvSpPr txBox="1"/>
          <p:nvPr/>
        </p:nvSpPr>
        <p:spPr bwMode="auto">
          <a:xfrm>
            <a:off x="7014889" y="5861226"/>
            <a:ext cx="1769021" cy="400110"/>
          </a:xfrm>
          <a:prstGeom prst="rect">
            <a:avLst/>
          </a:prstGeom>
          <a:solidFill>
            <a:schemeClr val="dk1">
              <a:alpha val="86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000"/>
              <a:t>Questions organised by topic, difficulty and past paper.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79479367" name="Group 1"/>
          <p:cNvGrpSpPr/>
          <p:nvPr/>
        </p:nvGrpSpPr>
        <p:grpSpPr bwMode="auto"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>
                  <a:latin typeface="+mj-lt"/>
                </a:rPr>
                <a:t>Chapter Overview</a:t>
              </a:r>
              <a:endParaRPr lang="en-GB" sz="3200"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269776561" name="TextBox 5"/>
          <p:cNvSpPr txBox="1"/>
          <p:nvPr/>
        </p:nvSpPr>
        <p:spPr bwMode="auto">
          <a:xfrm>
            <a:off x="415408" y="2696627"/>
            <a:ext cx="3436511" cy="646331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“Draw a graph of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𝑦</m:t>
                      </m:r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𝑐𝑜𝑠𝑒𝑐</m:t>
                      </m:r>
                      <m:r>
                        <m:rPr/>
                        <a:rPr lang="en-GB" b="0" i="1">
                          <a:latin typeface="Cambria Math"/>
                        </a:rPr>
                        <m:t> 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𝑥</m:t>
                      </m:r>
                    </m:oMath>
                  </m:oMathPara>
                </a14:m>
              </mc:Choice>
              <mc:Fallback/>
            </mc:AlternateContent>
            <a:r>
              <a:rPr lang="en-GB"/>
              <a:t> for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0≤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𝑥</m:t>
                      </m:r>
                      <m:r>
                        <m:rPr/>
                        <a:rPr lang="en-GB" b="0" i="1">
                          <a:latin typeface="Cambria Math"/>
                        </a:rPr>
                        <m:t>&lt;2</m:t>
                      </m:r>
                      <m:r>
                        <m:rPr/>
                        <a:rPr lang="en-GB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r>
              <a:rPr lang="en-GB"/>
              <a:t>.”</a:t>
            </a:r>
            <a:endParaRPr/>
          </a:p>
        </p:txBody>
      </p:sp>
      <p:sp>
        <p:nvSpPr>
          <p:cNvPr id="2132627119" name="TextBox 6"/>
          <p:cNvSpPr txBox="1"/>
          <p:nvPr/>
        </p:nvSpPr>
        <p:spPr bwMode="auto">
          <a:xfrm>
            <a:off x="421202" y="2039626"/>
            <a:ext cx="3430718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/>
              <a:t>1</a:t>
            </a:r>
            <a:r>
              <a:rPr lang="en-GB"/>
              <a:t>:: Understanding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𝑠𝑒𝑐</m:t>
                      </m:r>
                      <m:r>
                        <m:rPr/>
                        <a:rPr lang="en-GB" b="0" i="1">
                          <a:latin typeface="Cambria Math"/>
                        </a:rPr>
                        <m:t>, 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𝑐𝑜𝑠𝑒𝑐</m:t>
                      </m:r>
                      <m:r>
                        <m:rPr/>
                        <a:rPr lang="en-GB" b="0" i="1">
                          <a:latin typeface="Cambria Math"/>
                        </a:rPr>
                        <m:t>, 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𝑡𝑎𝑛</m:t>
                      </m:r>
                    </m:oMath>
                  </m:oMathPara>
                </a14:m>
              </mc:Choice>
              <mc:Fallback/>
            </mc:AlternateContent>
            <a:r>
              <a:rPr lang="en-GB"/>
              <a:t> and draw their graphs.</a:t>
            </a:r>
            <a:endParaRPr/>
          </a:p>
        </p:txBody>
      </p:sp>
      <p:sp>
        <p:nvSpPr>
          <p:cNvPr id="1824486290" name="TextBox 7"/>
          <p:cNvSpPr txBox="1"/>
          <p:nvPr/>
        </p:nvSpPr>
        <p:spPr bwMode="auto">
          <a:xfrm>
            <a:off x="4355976" y="2295155"/>
            <a:ext cx="3805792" cy="92333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b="0"/>
              <a:t>“</a:t>
            </a:r>
            <a:r>
              <a:rPr lang="en-GB"/>
              <a:t>Solve, for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i="1">
                          <a:latin typeface="Cambria Math"/>
                        </a:rPr>
                        <m:t>0≤</m:t>
                      </m:r>
                      <m:r>
                        <m:rPr/>
                        <a:rPr lang="en-GB" i="1">
                          <a:latin typeface="Cambria Math"/>
                        </a:rPr>
                        <m:t>𝑥</m:t>
                      </m:r>
                      <m:r>
                        <m:rPr/>
                        <a:rPr lang="en-GB" i="1">
                          <a:latin typeface="Cambria Math"/>
                        </a:rPr>
                        <m:t>&lt;2</m:t>
                      </m:r>
                      <m:r>
                        <m:rPr/>
                        <a:rPr lang="en-GB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r>
              <a:rPr lang="en-GB"/>
              <a:t>, the equation</a:t>
            </a:r>
            <a:endParaRPr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i="1">
                          <a:latin typeface="Cambria Math"/>
                        </a:rPr>
                        <m:t>2</m:t>
                      </m:r>
                      <m:r>
                        <m:rPr/>
                        <a:rPr lang="en-GB" i="1">
                          <a:latin typeface="Cambria Math"/>
                        </a:rPr>
                        <m:t>𝑐𝑜𝑠𝑒</m:t>
                      </m:r>
                      <m:sSup>
                        <m:sSupPr>
                          <m:ctrlPr>
                            <a:rPr lang="en-GB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GB" i="1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m:rPr/>
                            <a:rPr lang="en-GB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m:rPr/>
                        <a:rPr lang="en-GB" i="1">
                          <a:latin typeface="Cambria Math"/>
                        </a:rPr>
                        <m:t>𝑥</m:t>
                      </m:r>
                      <m:r>
                        <m:rPr/>
                        <a:rPr lang="en-GB" i="1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m:rPr/>
                            <a:rPr lang="en-GB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i="1">
                          <a:latin typeface="Cambria Math"/>
                        </a:rPr>
                        <m:t>=5</m:t>
                      </m:r>
                    </m:oMath>
                  </m:oMathPara>
                </a14:m>
              </mc:Choice>
              <mc:Fallback/>
            </mc:AlternateContent>
            <a:endParaRPr lang="en-GB"/>
          </a:p>
          <a:p>
            <a:pPr>
              <a:defRPr/>
            </a:pPr>
            <a:r>
              <a:rPr lang="en-GB"/>
              <a:t>giving your solutions to 3sf.”</a:t>
            </a:r>
            <a:endParaRPr/>
          </a:p>
        </p:txBody>
      </p:sp>
      <p:sp>
        <p:nvSpPr>
          <p:cNvPr id="1319966023" name="TextBox 8"/>
          <p:cNvSpPr txBox="1"/>
          <p:nvPr/>
        </p:nvSpPr>
        <p:spPr bwMode="auto">
          <a:xfrm>
            <a:off x="4355976" y="1911519"/>
            <a:ext cx="380579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/>
              <a:t>2</a:t>
            </a:r>
            <a:r>
              <a:rPr lang="en-GB"/>
              <a:t>:: ‘</a:t>
            </a:r>
            <a:r>
              <a:rPr lang="en-GB"/>
              <a:t>Solvey</a:t>
            </a:r>
            <a:r>
              <a:rPr lang="en-GB"/>
              <a:t>’ questions.</a:t>
            </a:r>
            <a:endParaRPr/>
          </a:p>
        </p:txBody>
      </p:sp>
      <p:sp>
        <p:nvSpPr>
          <p:cNvPr id="1526694353" name="TextBox 9"/>
          <p:cNvSpPr txBox="1"/>
          <p:nvPr/>
        </p:nvSpPr>
        <p:spPr bwMode="auto">
          <a:xfrm>
            <a:off x="397659" y="4578601"/>
            <a:ext cx="3494664" cy="646331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“Prove that </a:t>
            </a:r>
            <a:endParaRPr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unc>
                        <m:funcPr>
                          <m:ctrlPr>
                            <a:rPr lang="en-GB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/>
                            </a:rPr>
                            <m:t>sec</m:t>
                          </m:r>
                        </m:fName>
                        <m:e>
                          <m:r>
                            <m:rPr/>
                            <a:rPr lang="en-GB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i="1">
                          <a:latin typeface="Cambria Math"/>
                        </a:rPr>
                        <m:t>−</m:t>
                      </m:r>
                      <m:func>
                        <m:funcPr>
                          <m:ctrlPr>
                            <a:rPr lang="en-GB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m:rPr/>
                            <a:rPr lang="en-GB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i="1">
                          <a:latin typeface="Cambria Math"/>
                        </a:rPr>
                        <m:t>≡</m:t>
                      </m:r>
                      <m:func>
                        <m:funcPr>
                          <m:ctrlPr>
                            <a:rPr lang="en-GB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GB" i="1">
                              <a:latin typeface="Cambria Math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m:rPr/>
                            <a:rPr lang="en-GB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sp>
        <p:nvSpPr>
          <p:cNvPr id="1791857811" name="TextBox 10"/>
          <p:cNvSpPr txBox="1"/>
          <p:nvPr/>
        </p:nvSpPr>
        <p:spPr bwMode="auto">
          <a:xfrm>
            <a:off x="397659" y="4198599"/>
            <a:ext cx="3494664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/>
              <a:t>3</a:t>
            </a:r>
            <a:r>
              <a:rPr lang="en-GB"/>
              <a:t>:: ‘</a:t>
            </a:r>
            <a:r>
              <a:rPr lang="en-GB"/>
              <a:t>Provey</a:t>
            </a:r>
            <a:r>
              <a:rPr lang="en-GB"/>
              <a:t>’ questions.</a:t>
            </a:r>
            <a:endParaRPr/>
          </a:p>
        </p:txBody>
      </p:sp>
      <p:sp>
        <p:nvSpPr>
          <p:cNvPr id="1576644778" name="TextBox 13"/>
          <p:cNvSpPr txBox="1"/>
          <p:nvPr/>
        </p:nvSpPr>
        <p:spPr bwMode="auto">
          <a:xfrm>
            <a:off x="395536" y="836712"/>
            <a:ext cx="7992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This chapter is very similar to the trigonometry chapters in Year 1. The only difference is that new trig functions: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𝑠𝑒𝑐</m:t>
                      </m:r>
                      <m:r>
                        <m:rPr/>
                        <a:rPr lang="en-GB" b="0" i="1">
                          <a:latin typeface="Cambria Math"/>
                        </a:rPr>
                        <m:t>, 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𝑐𝑜𝑠𝑒𝑐</m:t>
                      </m:r>
                    </m:oMath>
                  </m:oMathPara>
                </a14:m>
              </mc:Choice>
              <mc:Fallback/>
            </mc:AlternateContent>
            <a:r>
              <a:rPr lang="en-GB"/>
              <a:t> and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𝑐𝑜𝑡</m:t>
                      </m:r>
                    </m:oMath>
                  </m:oMathPara>
                </a14:m>
              </mc:Choice>
              <mc:Fallback/>
            </mc:AlternateContent>
            <a:r>
              <a:rPr lang="en-GB"/>
              <a:t>, are introduced. </a:t>
            </a:r>
            <a:endParaRPr/>
          </a:p>
        </p:txBody>
      </p:sp>
      <p:sp>
        <p:nvSpPr>
          <p:cNvPr id="1089170383" name="TextBox 30"/>
          <p:cNvSpPr txBox="1"/>
          <p:nvPr/>
        </p:nvSpPr>
        <p:spPr bwMode="auto">
          <a:xfrm>
            <a:off x="4402901" y="4561880"/>
            <a:ext cx="4352718" cy="646331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“Show that, when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𝜃</m:t>
                      </m:r>
                    </m:oMath>
                  </m:oMathPara>
                </a14:m>
              </mc:Choice>
              <mc:Fallback/>
            </mc:AlternateContent>
            <a:r>
              <a:rPr lang="en-GB"/>
              <a:t> is small, </a:t>
            </a:r>
            <a:endParaRPr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5</m:t>
                          </m:r>
                          <m:r>
                            <m:rPr/>
                            <a:rPr lang="en-GB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2</m:t>
                          </m:r>
                          <m:r>
                            <m:rPr/>
                            <a:rPr lang="en-GB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−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𝑐𝑜𝑠</m:t>
                      </m:r>
                      <m:r>
                        <m:rPr/>
                        <a:rPr lang="en-GB" b="0" i="1">
                          <a:latin typeface="Cambria Math"/>
                        </a:rPr>
                        <m:t>2</m:t>
                      </m:r>
                      <m:r>
                        <m:rPr/>
                        <a:rPr lang="en-GB" b="0" i="1">
                          <a:latin typeface="Cambria Math"/>
                        </a:rPr>
                        <m:t>𝜃</m:t>
                      </m:r>
                      <m:r>
                        <m:rPr/>
                        <a:rPr lang="en-GB" b="0" i="1">
                          <a:latin typeface="Cambria Math"/>
                        </a:rPr>
                        <m:t>≈2</m:t>
                      </m:r>
                      <m:sSup>
                        <m:sSup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𝜃</m:t>
                          </m:r>
                        </m:e>
                        <m:sup>
                          <m:r>
                            <m:rPr/>
                            <a:rPr lang="en-GB" b="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m:rPr/>
                        <a:rPr lang="en-GB" b="0" i="1">
                          <a:latin typeface="Cambria Math"/>
                        </a:rPr>
                        <m:t>+7</m:t>
                      </m:r>
                      <m:r>
                        <m:rPr/>
                        <a:rPr lang="en-GB" b="0" i="1">
                          <a:latin typeface="Cambria Math"/>
                        </a:rPr>
                        <m:t>𝜃</m:t>
                      </m:r>
                      <m:r>
                        <m:rPr/>
                        <a:rPr lang="en-GB" b="0" i="1">
                          <a:latin typeface="Cambria Math"/>
                        </a:rPr>
                        <m:t>−1</m:t>
                      </m:r>
                    </m:oMath>
                  </m:oMathPara>
                </a14:m>
              </mc:Choice>
              <mc:Fallback/>
            </mc:AlternateContent>
            <a:r>
              <a:rPr lang="en-GB"/>
              <a:t>.”</a:t>
            </a:r>
            <a:endParaRPr/>
          </a:p>
        </p:txBody>
      </p:sp>
      <p:sp>
        <p:nvSpPr>
          <p:cNvPr id="64417051" name="TextBox 31"/>
          <p:cNvSpPr txBox="1"/>
          <p:nvPr/>
        </p:nvSpPr>
        <p:spPr bwMode="auto">
          <a:xfrm>
            <a:off x="4402901" y="3955834"/>
            <a:ext cx="4352718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/>
              <a:t>4</a:t>
            </a:r>
            <a:r>
              <a:rPr lang="en-GB"/>
              <a:t>:: Inverse trig functions and their domains/ranges.</a:t>
            </a:r>
            <a:endParaRPr/>
          </a:p>
        </p:txBody>
      </p:sp>
      <p:sp>
        <p:nvSpPr>
          <p:cNvPr id="22377378" name="TextBox 32"/>
          <p:cNvSpPr txBox="1"/>
          <p:nvPr/>
        </p:nvSpPr>
        <p:spPr bwMode="auto">
          <a:xfrm>
            <a:off x="2162294" y="5953982"/>
            <a:ext cx="4608512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/>
              <a:t>Teacher Note</a:t>
            </a:r>
            <a:r>
              <a:rPr lang="en-GB"/>
              <a:t>: There is no change in this chapter relative to the old pre-2017 syllabus.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38753353" name="Group 1"/>
          <p:cNvGrpSpPr/>
          <p:nvPr/>
        </p:nvGrpSpPr>
        <p:grpSpPr bwMode="auto"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/>
                <a:t>A new member of the trig family…</a:t>
              </a:r>
              <a:endParaRPr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068626016" name="TextBox 4"/>
          <p:cNvSpPr txBox="1"/>
          <p:nvPr/>
        </p:nvSpPr>
        <p:spPr bwMode="auto">
          <a:xfrm>
            <a:off x="614143" y="1004389"/>
            <a:ext cx="18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sz="3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600" b="0" i="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sz="3600" b="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 sz="3600"/>
          </a:p>
        </p:txBody>
      </p:sp>
      <p:sp>
        <p:nvSpPr>
          <p:cNvPr id="1897622944" name="TextBox 5"/>
          <p:cNvSpPr txBox="1"/>
          <p:nvPr/>
        </p:nvSpPr>
        <p:spPr bwMode="auto">
          <a:xfrm>
            <a:off x="611560" y="3054980"/>
            <a:ext cx="4608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sz="3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3600" b="0" i="0">
                                  <a:latin typeface="Cambria Math"/>
                                </a:rPr>
                                <m:t>cos</m:t>
                              </m:r>
                            </m:e>
                            <m:sup>
                              <m:r>
                                <m:rPr/>
                                <a:rPr lang="en-GB" sz="3600" b="0" i="1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sz="3600" b="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m:rPr/>
                        <a:rPr lang="en-GB" sz="3600" b="0" i="1">
                          <a:latin typeface="Cambria Math"/>
                        </a:rPr>
                        <m:t> </m:t>
                      </m:r>
                      <m:r>
                        <m:rPr/>
                        <a:rPr lang="en-GB" sz="3600" b="0" i="1">
                          <a:latin typeface="Cambria Math"/>
                        </a:rPr>
                        <m:t>𝑜𝑟</m:t>
                      </m:r>
                      <m:r>
                        <m:rPr/>
                        <a:rPr lang="en-GB" sz="3600" b="0" i="1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3600" b="0" i="0">
                          <a:latin typeface="Cambria Math"/>
                        </a:rPr>
                        <m:t>arccos</m:t>
                      </m:r>
                      <m:r>
                        <m:rPr/>
                        <a:rPr lang="en-GB" sz="3600" b="0" i="1">
                          <a:latin typeface="Cambria Math"/>
                        </a:rPr>
                        <m:t>⁡(</m:t>
                      </m:r>
                      <m:r>
                        <m:rPr/>
                        <a:rPr lang="en-GB" sz="3600" b="0" i="1">
                          <a:latin typeface="Cambria Math"/>
                        </a:rPr>
                        <m:t>𝑥</m:t>
                      </m:r>
                      <m:r>
                        <m:rPr/>
                        <a:rPr lang="en-GB" sz="3600" b="0" i="1">
                          <a:latin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en-GB" sz="3600"/>
          </a:p>
        </p:txBody>
      </p:sp>
      <p:sp>
        <p:nvSpPr>
          <p:cNvPr id="1584371196" name="TextBox 6"/>
          <p:cNvSpPr txBox="1"/>
          <p:nvPr/>
        </p:nvSpPr>
        <p:spPr bwMode="auto">
          <a:xfrm>
            <a:off x="611560" y="4606135"/>
            <a:ext cx="4608512" cy="1211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sz="3600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/>
                            <a:rPr lang="en-GB" sz="3600" b="1" i="0">
                              <a:latin typeface="Cambria Math"/>
                            </a:rPr>
                            <m:t>𝐬𝐞𝐜</m:t>
                          </m:r>
                        </m:fName>
                        <m:e>
                          <m:d>
                            <m:dPr>
                              <m:ctrlPr>
                                <a:rPr lang="en-GB" sz="3600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sz="3600" b="1" i="1">
                                  <a:latin typeface="Cambria Math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m:rPr/>
                        <a:rPr lang="en-GB" sz="3600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3600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3600" b="1" i="1">
                              <a:latin typeface="Cambria Math"/>
                            </a:rPr>
                            <m:t>𝟏</m:t>
                          </m:r>
                        </m:num>
                        <m:den>
                          <m:func>
                            <m:funcPr>
                              <m:ctrlPr>
                                <a:rPr lang="en-GB" sz="3600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/>
                                <a:rPr lang="en-GB" sz="3600" b="1" i="0">
                                  <a:latin typeface="Cambria Math"/>
                                </a:rPr>
                                <m:t>𝐜𝐨𝐬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3600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GB" sz="3600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</mc:Choice>
              <mc:Fallback/>
            </mc:AlternateContent>
            <a:endParaRPr lang="en-GB" sz="3600" b="1"/>
          </a:p>
        </p:txBody>
      </p:sp>
      <p:sp>
        <p:nvSpPr>
          <p:cNvPr id="1542831119" name="TextBox 7"/>
          <p:cNvSpPr txBox="1"/>
          <p:nvPr/>
        </p:nvSpPr>
        <p:spPr bwMode="auto">
          <a:xfrm>
            <a:off x="611560" y="2002714"/>
            <a:ext cx="18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sz="3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3600" b="0" i="0">
                                  <a:latin typeface="Cambria Math"/>
                                </a:rPr>
                                <m:t>cos</m:t>
                              </m:r>
                            </m:e>
                            <m:sup>
                              <m:r>
                                <m:rPr/>
                                <a:rPr lang="en-GB" sz="3600" b="0" i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sz="3600" b="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m:rPr/>
                            <a:rPr lang="en-GB" sz="3600" b="0" i="1">
                              <a:latin typeface="Cambria Math"/>
                            </a:rPr>
                            <m:t>=</m:t>
                          </m:r>
                          <m:sSup>
                            <m:sSupPr>
                              <m:ctrlPr>
                                <a:rPr lang="en-GB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36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GB" sz="3600" b="0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 sz="3600" b="0" i="0">
                                          <a:latin typeface="Cambria Math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m:rPr/>
                                        <a:rPr lang="en-GB" sz="3600" b="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m:rPr/>
                                <a:rPr lang="en-GB" sz="36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 sz="3600"/>
          </a:p>
        </p:txBody>
      </p:sp>
      <p:sp>
        <p:nvSpPr>
          <p:cNvPr id="195027127" name="TextBox 8"/>
          <p:cNvSpPr txBox="1"/>
          <p:nvPr/>
        </p:nvSpPr>
        <p:spPr bwMode="auto">
          <a:xfrm>
            <a:off x="5612556" y="1106957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Original and best. Like the ‘Classic Cola’ of trig functions*.</a:t>
            </a:r>
            <a:endParaRPr/>
          </a:p>
        </p:txBody>
      </p:sp>
      <p:sp>
        <p:nvSpPr>
          <p:cNvPr id="1357566987" name="TextBox 9"/>
          <p:cNvSpPr txBox="1"/>
          <p:nvPr/>
        </p:nvSpPr>
        <p:spPr bwMode="auto">
          <a:xfrm>
            <a:off x="5584655" y="1956512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The latter form is particularly useful for differentiation (see Chp9)</a:t>
            </a:r>
            <a:endParaRPr/>
          </a:p>
        </p:txBody>
      </p:sp>
      <p:sp>
        <p:nvSpPr>
          <p:cNvPr id="1284574415" name="TextBox 10"/>
          <p:cNvSpPr txBox="1"/>
          <p:nvPr/>
        </p:nvSpPr>
        <p:spPr bwMode="auto">
          <a:xfrm>
            <a:off x="5597049" y="2851809"/>
            <a:ext cx="34308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Be careful: the -1 here doesn’t mean a power of -1 UNLIKE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/>
                                </a:rPr>
                                <m:t>cos</m:t>
                              </m:r>
                            </m:e>
                            <m:sup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/>
              <a:t> above. This is an unfortunate historical accident.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𝑎𝑟𝑐𝑐𝑜𝑠</m:t>
                      </m:r>
                    </m:oMath>
                  </m:oMathPara>
                </a14:m>
              </mc:Choice>
              <mc:Fallback/>
            </mc:AlternateContent>
            <a:r>
              <a:rPr lang="en-GB"/>
              <a:t> is an alternative notation we’ll see later this chapter.</a:t>
            </a:r>
            <a:endParaRPr/>
          </a:p>
        </p:txBody>
      </p:sp>
      <p:sp>
        <p:nvSpPr>
          <p:cNvPr id="1293968139" name="TextBox 11"/>
          <p:cNvSpPr txBox="1"/>
          <p:nvPr/>
        </p:nvSpPr>
        <p:spPr bwMode="auto">
          <a:xfrm>
            <a:off x="5584655" y="4802992"/>
            <a:ext cx="3305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We have a convenient way of representing the reciprocal of the trig functions. </a:t>
            </a:r>
            <a:endParaRPr/>
          </a:p>
        </p:txBody>
      </p:sp>
      <p:sp>
        <p:nvSpPr>
          <p:cNvPr id="229767200" name="TextBox 12"/>
          <p:cNvSpPr txBox="1"/>
          <p:nvPr/>
        </p:nvSpPr>
        <p:spPr bwMode="auto">
          <a:xfrm>
            <a:off x="1562178" y="6352863"/>
            <a:ext cx="6048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/>
              <a:t>* Actually, I’ll contradict this in the ‘Just For Your Interest’ slides coming up soon.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56392238" name="Group 1"/>
          <p:cNvGrpSpPr/>
          <p:nvPr/>
        </p:nvGrpSpPr>
        <p:grpSpPr bwMode="auto"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/>
                <a:t>Reciprocal Trigonometric Functions</a:t>
              </a:r>
              <a:endParaRPr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9650056" name="TextBox 4"/>
          <p:cNvSpPr txBox="1"/>
          <p:nvPr/>
        </p:nvSpPr>
        <p:spPr bwMode="auto">
          <a:xfrm>
            <a:off x="683568" y="1052736"/>
            <a:ext cx="4608512" cy="1211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sz="3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600" b="0" i="0">
                              <a:latin typeface="Cambria Math"/>
                            </a:rPr>
                            <m:t>sec</m:t>
                          </m:r>
                        </m:fName>
                        <m:e>
                          <m:d>
                            <m:dPr>
                              <m:ctrlPr>
                                <a:rPr lang="en-GB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sz="3600" b="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m:rPr/>
                        <a:rPr lang="en-GB" sz="36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3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3600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600" b="0" i="0"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36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GB" sz="3600" b="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</mc:Choice>
              <mc:Fallback/>
            </mc:AlternateContent>
            <a:endParaRPr lang="en-GB" sz="3600"/>
          </a:p>
        </p:txBody>
      </p:sp>
      <p:sp>
        <p:nvSpPr>
          <p:cNvPr id="753264796" name="TextBox 5"/>
          <p:cNvSpPr txBox="1"/>
          <p:nvPr/>
        </p:nvSpPr>
        <p:spPr bwMode="auto">
          <a:xfrm>
            <a:off x="687414" y="2690850"/>
            <a:ext cx="4608512" cy="1211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sz="3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600" b="0" i="0">
                              <a:latin typeface="Cambria Math"/>
                            </a:rPr>
                            <m:t>cosec</m:t>
                          </m:r>
                        </m:fName>
                        <m:e>
                          <m:d>
                            <m:dPr>
                              <m:ctrlPr>
                                <a:rPr lang="en-GB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sz="3600" b="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m:rPr/>
                        <a:rPr lang="en-GB" sz="36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3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3600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sz="3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600" b="0" i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36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GB" sz="3600" b="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</mc:Choice>
              <mc:Fallback/>
            </mc:AlternateContent>
            <a:endParaRPr lang="en-GB" sz="3600"/>
          </a:p>
        </p:txBody>
      </p:sp>
      <p:sp>
        <p:nvSpPr>
          <p:cNvPr id="1504205261" name="TextBox 6"/>
          <p:cNvSpPr txBox="1"/>
          <p:nvPr/>
        </p:nvSpPr>
        <p:spPr bwMode="auto">
          <a:xfrm>
            <a:off x="107504" y="692696"/>
            <a:ext cx="432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3600">
                <a:latin typeface="Wingdings"/>
              </a:rPr>
              <a:t>!</a:t>
            </a:r>
            <a:endParaRPr/>
          </a:p>
        </p:txBody>
      </p:sp>
      <p:sp>
        <p:nvSpPr>
          <p:cNvPr id="2054662318" name="TextBox 7"/>
          <p:cNvSpPr txBox="1"/>
          <p:nvPr/>
        </p:nvSpPr>
        <p:spPr bwMode="auto">
          <a:xfrm>
            <a:off x="218" y="4355881"/>
            <a:ext cx="4991035" cy="11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sz="32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b="0" i="0">
                              <a:latin typeface="Cambria Math"/>
                            </a:rPr>
                            <m:t>co</m:t>
                          </m:r>
                          <m:r>
                            <m:rPr/>
                            <a:rPr lang="en-GB" sz="3200" b="0" i="1">
                              <a:latin typeface="Cambria Math"/>
                            </a:rPr>
                            <m:t>𝑡</m:t>
                          </m:r>
                        </m:fName>
                        <m:e>
                          <m:d>
                            <m:dPr>
                              <m:ctrlPr>
                                <a:rPr lang="en-GB" sz="32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sz="3200" b="0" i="1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m:rPr/>
                        <a:rPr lang="en-GB" sz="32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32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3200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sz="32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 b="0" i="0">
                                  <a:latin typeface="Cambria Math"/>
                                </a:rPr>
                                <m:t>tan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32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GB" sz="3200" b="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m:rPr/>
                        <a:rPr lang="en-GB" sz="3200" b="0" i="1">
                          <a:latin typeface="Cambria Math"/>
                        </a:rPr>
                        <m:t> </m:t>
                      </m:r>
                      <m:r>
                        <m:rPr/>
                        <a:rPr lang="en-GB" sz="3200" b="0" i="1">
                          <a:latin typeface="Cambria Math"/>
                        </a:rPr>
                        <m:t>𝑜𝑟</m:t>
                      </m:r>
                      <m:r>
                        <m:rPr/>
                        <a:rPr lang="en-GB" sz="3200" b="0" i="1"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GB" sz="32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32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 b="0" i="0"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32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GB" sz="3200" b="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sz="32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3200" b="0" i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32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GB" sz="3200" b="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</mc:Choice>
              <mc:Fallback/>
            </mc:AlternateContent>
            <a:endParaRPr lang="en-GB" sz="3200"/>
          </a:p>
        </p:txBody>
      </p:sp>
      <p:sp>
        <p:nvSpPr>
          <p:cNvPr id="2062178614" name="TextBox 8"/>
          <p:cNvSpPr txBox="1"/>
          <p:nvPr/>
        </p:nvSpPr>
        <p:spPr bwMode="auto">
          <a:xfrm>
            <a:off x="5292080" y="5420747"/>
            <a:ext cx="3312368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/>
              <a:t>Fro</a:t>
            </a:r>
            <a:r>
              <a:rPr lang="en-GB" b="1"/>
              <a:t> Tip: </a:t>
            </a:r>
            <a:r>
              <a:rPr lang="en-GB"/>
              <a:t>To remember these, look at the </a:t>
            </a:r>
            <a:r>
              <a:rPr lang="en-GB" b="1" u="sng"/>
              <a:t>3</a:t>
            </a:r>
            <a:r>
              <a:rPr lang="en-GB" b="1" u="sng" baseline="30000"/>
              <a:t>rd</a:t>
            </a:r>
            <a:r>
              <a:rPr lang="en-GB" b="1" u="sng"/>
              <a:t>  letter</a:t>
            </a:r>
            <a:r>
              <a:rPr lang="en-GB"/>
              <a:t>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𝑠𝑒𝑐</m:t>
                      </m:r>
                    </m:oMath>
                  </m:oMathPara>
                </a14:m>
              </mc:Choice>
              <mc:Fallback/>
            </mc:AlternateContent>
            <a:r>
              <a:rPr lang="en-GB"/>
              <a:t>’s 3</a:t>
            </a:r>
            <a:r>
              <a:rPr lang="en-GB" baseline="30000"/>
              <a:t>rd</a:t>
            </a:r>
            <a:r>
              <a:rPr lang="en-GB"/>
              <a:t> is ‘c’ so it’s 1 over </a:t>
            </a:r>
            <a:r>
              <a:rPr lang="en-GB" b="1"/>
              <a:t>cos</a:t>
            </a:r>
            <a:r>
              <a:rPr lang="en-GB"/>
              <a:t>.</a:t>
            </a:r>
            <a:endParaRPr/>
          </a:p>
        </p:txBody>
      </p:sp>
      <p:sp>
        <p:nvSpPr>
          <p:cNvPr id="694909767" name="TextBox 9"/>
          <p:cNvSpPr txBox="1"/>
          <p:nvPr/>
        </p:nvSpPr>
        <p:spPr bwMode="auto">
          <a:xfrm>
            <a:off x="5220072" y="1313911"/>
            <a:ext cx="3240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Short for “</a:t>
            </a:r>
            <a:r>
              <a:rPr lang="en-GB" b="1"/>
              <a:t>secant</a:t>
            </a:r>
            <a:r>
              <a:rPr lang="en-GB"/>
              <a:t>”</a:t>
            </a:r>
            <a:endParaRPr/>
          </a:p>
          <a:p>
            <a:pPr>
              <a:defRPr/>
            </a:pPr>
            <a:r>
              <a:rPr lang="en-GB"/>
              <a:t>Pronounced “</a:t>
            </a:r>
            <a:r>
              <a:rPr lang="en-GB"/>
              <a:t>sehk</a:t>
            </a:r>
            <a:r>
              <a:rPr lang="en-GB"/>
              <a:t>” in shortened form or “sea-Kant” in full.</a:t>
            </a:r>
            <a:endParaRPr/>
          </a:p>
        </p:txBody>
      </p:sp>
      <p:sp>
        <p:nvSpPr>
          <p:cNvPr id="1918135207" name="TextBox 10"/>
          <p:cNvSpPr txBox="1"/>
          <p:nvPr/>
        </p:nvSpPr>
        <p:spPr bwMode="auto">
          <a:xfrm>
            <a:off x="5224192" y="2906983"/>
            <a:ext cx="3668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Short for “</a:t>
            </a:r>
            <a:r>
              <a:rPr lang="en-GB" b="1"/>
              <a:t>cosecant</a:t>
            </a:r>
            <a:r>
              <a:rPr lang="en-GB"/>
              <a:t>”</a:t>
            </a:r>
            <a:endParaRPr/>
          </a:p>
        </p:txBody>
      </p:sp>
      <p:sp>
        <p:nvSpPr>
          <p:cNvPr id="116623747" name="TextBox 11"/>
          <p:cNvSpPr txBox="1"/>
          <p:nvPr/>
        </p:nvSpPr>
        <p:spPr bwMode="auto">
          <a:xfrm>
            <a:off x="5098540" y="4526307"/>
            <a:ext cx="3919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Short for “</a:t>
            </a:r>
            <a:r>
              <a:rPr lang="en-GB" b="1"/>
              <a:t>cotangent</a:t>
            </a:r>
            <a:r>
              <a:rPr lang="en-GB"/>
              <a:t>”</a:t>
            </a:r>
            <a:endParaRPr/>
          </a:p>
          <a:p>
            <a:pPr>
              <a:defRPr/>
            </a:pPr>
            <a:r>
              <a:rPr lang="en-GB"/>
              <a:t>In shortened form, rhymes with “pot”.</a:t>
            </a:r>
            <a:endParaRPr/>
          </a:p>
        </p:txBody>
      </p:sp>
      <p:sp>
        <p:nvSpPr>
          <p:cNvPr id="1340011176" name="TextBox 12"/>
          <p:cNvSpPr txBox="1"/>
          <p:nvPr/>
        </p:nvSpPr>
        <p:spPr bwMode="auto">
          <a:xfrm>
            <a:off x="683568" y="5863503"/>
            <a:ext cx="3685232" cy="7619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We typically use this version instead of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en-GB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/>
                            <a:rPr lang="en-GB" b="0" i="1">
                              <a:latin typeface="Cambria Math"/>
                            </a:rPr>
                            <m:t>𝑡𝑎𝑛</m:t>
                          </m:r>
                          <m:r>
                            <m:rPr/>
                            <a:rPr lang="en-GB" b="0" i="1">
                              <a:latin typeface="Cambria Math"/>
                            </a:rPr>
                            <m:t> </m:t>
                          </m:r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en-GB"/>
              <a:t> when doing proof questions.</a:t>
            </a:r>
            <a:endParaRPr/>
          </a:p>
        </p:txBody>
      </p:sp>
      <p:cxnSp>
        <p:nvCxnSpPr>
          <p:cNvPr id="1629070897" name="Straight Arrow Connector 14"/>
          <p:cNvCxnSpPr/>
          <p:nvPr/>
        </p:nvCxnSpPr>
        <p:spPr bwMode="auto">
          <a:xfrm flipV="1">
            <a:off x="3275856" y="5473559"/>
            <a:ext cx="288032" cy="389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360530" name="Pie 6"/>
          <p:cNvSpPr/>
          <p:nvPr/>
        </p:nvSpPr>
        <p:spPr bwMode="auto">
          <a:xfrm>
            <a:off x="-242709" y="2766874"/>
            <a:ext cx="7200000" cy="7200000"/>
          </a:xfrm>
          <a:prstGeom prst="pie">
            <a:avLst>
              <a:gd name="adj1" fmla="val 19300724"/>
              <a:gd name="adj2" fmla="val 858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1032266273" name="Rectangle 64"/>
          <p:cNvSpPr/>
          <p:nvPr/>
        </p:nvSpPr>
        <p:spPr bwMode="auto">
          <a:xfrm>
            <a:off x="0" y="1818168"/>
            <a:ext cx="4295553" cy="2466754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grpSp>
        <p:nvGrpSpPr>
          <p:cNvPr id="881986325" name="Group 17"/>
          <p:cNvGrpSpPr/>
          <p:nvPr/>
        </p:nvGrpSpPr>
        <p:grpSpPr bwMode="auto"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/>
                <a:t>Just for your interest…</a:t>
              </a:r>
              <a:endParaRPr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ln>
              <a:solidFill>
                <a:srgbClr val="92D050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33752075" name="TextBox 4"/>
          <p:cNvSpPr txBox="1"/>
          <p:nvPr/>
        </p:nvSpPr>
        <p:spPr bwMode="auto">
          <a:xfrm>
            <a:off x="648297" y="717334"/>
            <a:ext cx="61926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2800"/>
              <a:t>Is ‘tangent’ 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GB" sz="2800" i="1">
                          <a:latin typeface="Cambria Math"/>
                        </a:rPr>
                        <m:t>tan</m:t>
                      </m:r>
                    </m:oMath>
                  </m:oMathPara>
                </a14:m>
              </mc:Choice>
              <mc:Fallback/>
            </mc:AlternateContent>
            <a:r>
              <a:rPr lang="en-GB" sz="2800"/>
              <a:t>) in trigonometry related to the ‘tangent’ of a circle?</a:t>
            </a:r>
            <a:endParaRPr/>
          </a:p>
        </p:txBody>
      </p:sp>
      <p:pic>
        <p:nvPicPr>
          <p:cNvPr id="1840845479" name="Picture 2" descr="Image result for stick man scratching head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7027700" y="783549"/>
            <a:ext cx="787689" cy="938925"/>
          </a:xfrm>
          <a:prstGeom prst="rect">
            <a:avLst/>
          </a:prstGeom>
          <a:noFill/>
        </p:spPr>
      </p:pic>
      <p:sp>
        <p:nvSpPr>
          <p:cNvPr id="1904011031" name="TextBox 9"/>
          <p:cNvSpPr txBox="1"/>
          <p:nvPr/>
        </p:nvSpPr>
        <p:spPr bwMode="auto">
          <a:xfrm>
            <a:off x="4835988" y="1980026"/>
            <a:ext cx="4009993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A common myth is that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𝑠𝑖𝑛</m:t>
                      </m:r>
                    </m:oMath>
                  </m:oMathPara>
                </a14:m>
              </mc:Choice>
              <mc:Fallback/>
            </mc:AlternateContent>
            <a:r>
              <a:rPr lang="en-GB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𝑐𝑜𝑠</m:t>
                      </m:r>
                    </m:oMath>
                  </m:oMathPara>
                </a14:m>
              </mc:Choice>
              <mc:Fallback/>
            </mc:AlternateContent>
            <a:r>
              <a:rPr lang="en-GB"/>
              <a:t> and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𝑡𝑎𝑛</m:t>
                      </m:r>
                    </m:oMath>
                  </m:oMathPara>
                </a14:m>
              </mc:Choice>
              <mc:Fallback/>
            </mc:AlternateContent>
            <a:r>
              <a:rPr lang="en-GB"/>
              <a:t> are the ‘core’ trigonometric functions.</a:t>
            </a:r>
            <a:endParaRPr/>
          </a:p>
        </p:txBody>
      </p:sp>
      <p:sp>
        <p:nvSpPr>
          <p:cNvPr id="2021777131" name="TextBox 15"/>
          <p:cNvSpPr txBox="1"/>
          <p:nvPr/>
        </p:nvSpPr>
        <p:spPr bwMode="auto">
          <a:xfrm>
            <a:off x="364830" y="1911806"/>
            <a:ext cx="3540642" cy="1169551"/>
          </a:xfrm>
          <a:prstGeom prst="rect">
            <a:avLst/>
          </a:prstGeom>
          <a:solidFill>
            <a:schemeClr val="bg1">
              <a:alpha val="74000"/>
            </a:schemeClr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/>
              <a:t>A tangent is a </a:t>
            </a:r>
            <a:r>
              <a:rPr lang="en-GB" sz="1400" b="1"/>
              <a:t>trigonometric</a:t>
            </a:r>
            <a:r>
              <a:rPr lang="en-GB" sz="1400"/>
              <a:t> </a:t>
            </a:r>
            <a:r>
              <a:rPr lang="en-GB" sz="1400" b="1"/>
              <a:t>function</a:t>
            </a:r>
            <a:r>
              <a:rPr lang="en-GB" sz="1400"/>
              <a:t> (which inputs an angle and gives you the ratio between the opposite and adjacent sides of a right-angled triangle), but </a:t>
            </a:r>
            <a:r>
              <a:rPr lang="en-GB" sz="1400" b="1"/>
              <a:t>also a line which touches a circle</a:t>
            </a:r>
            <a:r>
              <a:rPr lang="en-GB" sz="1400"/>
              <a:t>. Are they related?</a:t>
            </a:r>
            <a:endParaRPr/>
          </a:p>
        </p:txBody>
      </p:sp>
      <p:sp>
        <p:nvSpPr>
          <p:cNvPr id="1703947726" name="TextBox 18"/>
          <p:cNvSpPr txBox="1"/>
          <p:nvPr/>
        </p:nvSpPr>
        <p:spPr bwMode="auto">
          <a:xfrm>
            <a:off x="487990" y="3408084"/>
            <a:ext cx="1361256" cy="615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0" i="1">
                              <a:latin typeface="Cambria Math"/>
                            </a:rPr>
                            <m:t>𝑜𝑝𝑝</m:t>
                          </m:r>
                        </m:num>
                        <m:den>
                          <m:r>
                            <m:rPr/>
                            <a:rPr lang="en-GB" b="0" i="1">
                              <a:latin typeface="Cambria Math"/>
                            </a:rPr>
                            <m:t>𝑎𝑑𝑗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sp>
        <p:nvSpPr>
          <p:cNvPr id="1958666814" name="Oval 21"/>
          <p:cNvSpPr/>
          <p:nvPr/>
        </p:nvSpPr>
        <p:spPr bwMode="auto">
          <a:xfrm>
            <a:off x="2595156" y="3407642"/>
            <a:ext cx="659219" cy="6721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904918327" name="Straight Connector 35"/>
          <p:cNvCxnSpPr/>
          <p:nvPr/>
        </p:nvCxnSpPr>
        <p:spPr bwMode="auto">
          <a:xfrm>
            <a:off x="2604240" y="3319872"/>
            <a:ext cx="851343" cy="21213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6341017" name="TextBox 41"/>
          <p:cNvSpPr txBox="1"/>
          <p:nvPr/>
        </p:nvSpPr>
        <p:spPr bwMode="auto">
          <a:xfrm rot="899600">
            <a:off x="2676525" y="3213100"/>
            <a:ext cx="7937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050"/>
              <a:t>tangent</a:t>
            </a:r>
            <a:endParaRPr/>
          </a:p>
        </p:txBody>
      </p:sp>
      <p:sp>
        <p:nvSpPr>
          <p:cNvPr id="203173791" name="TextBox 42"/>
          <p:cNvSpPr txBox="1"/>
          <p:nvPr/>
        </p:nvSpPr>
        <p:spPr bwMode="auto">
          <a:xfrm>
            <a:off x="2124075" y="3206750"/>
            <a:ext cx="424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/>
              <a:t>?</a:t>
            </a:r>
            <a:endParaRPr lang="en-GB" sz="2000" b="1"/>
          </a:p>
        </p:txBody>
      </p:sp>
      <p:sp>
        <p:nvSpPr>
          <p:cNvPr id="12239222" name="TextBox 61"/>
          <p:cNvSpPr txBox="1"/>
          <p:nvPr/>
        </p:nvSpPr>
        <p:spPr bwMode="auto">
          <a:xfrm>
            <a:off x="3470275" y="3041362"/>
            <a:ext cx="424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/>
              <a:t>?</a:t>
            </a:r>
            <a:endParaRPr lang="en-GB" sz="2000" b="1"/>
          </a:p>
        </p:txBody>
      </p:sp>
      <p:sp>
        <p:nvSpPr>
          <p:cNvPr id="1384889311" name="TextBox 62"/>
          <p:cNvSpPr txBox="1"/>
          <p:nvPr/>
        </p:nvSpPr>
        <p:spPr bwMode="auto">
          <a:xfrm>
            <a:off x="815975" y="3133802"/>
            <a:ext cx="424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/>
              <a:t>?</a:t>
            </a:r>
            <a:endParaRPr lang="en-GB" sz="2000" b="1"/>
          </a:p>
        </p:txBody>
      </p:sp>
      <p:sp>
        <p:nvSpPr>
          <p:cNvPr id="263114037" name="TextBox 63"/>
          <p:cNvSpPr txBox="1"/>
          <p:nvPr/>
        </p:nvSpPr>
        <p:spPr bwMode="auto">
          <a:xfrm>
            <a:off x="1833433" y="3746974"/>
            <a:ext cx="424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b="1"/>
              <a:t>?</a:t>
            </a:r>
            <a:endParaRPr lang="en-GB" sz="2000" b="1"/>
          </a:p>
        </p:txBody>
      </p:sp>
      <p:sp>
        <p:nvSpPr>
          <p:cNvPr id="979708429" name="Arrow: Right 58"/>
          <p:cNvSpPr/>
          <p:nvPr/>
        </p:nvSpPr>
        <p:spPr bwMode="auto">
          <a:xfrm>
            <a:off x="4061637" y="2179675"/>
            <a:ext cx="616687" cy="34024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8474887" name="TextBox 65"/>
          <p:cNvSpPr txBox="1"/>
          <p:nvPr/>
        </p:nvSpPr>
        <p:spPr bwMode="auto">
          <a:xfrm>
            <a:off x="4804090" y="2785731"/>
            <a:ext cx="343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Actually, they’re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𝑠𝑖𝑛</m:t>
                      </m:r>
                      <m:r>
                        <m:rPr/>
                        <a:rPr lang="en-GB" b="0" i="1">
                          <a:latin typeface="Cambria Math"/>
                        </a:rPr>
                        <m:t>, 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𝑡𝑎𝑛</m:t>
                      </m:r>
                    </m:oMath>
                  </m:oMathPara>
                </a14:m>
              </mc:Choice>
              <mc:Fallback/>
            </mc:AlternateContent>
            <a:r>
              <a:rPr lang="en-GB"/>
              <a:t> and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1" i="1">
                          <a:latin typeface="Cambria Math"/>
                        </a:rPr>
                        <m:t>𝒔𝒆𝒄</m:t>
                      </m:r>
                    </m:oMath>
                  </m:oMathPara>
                </a14:m>
              </mc:Choice>
              <mc:Fallback/>
            </mc:AlternateContent>
            <a:r>
              <a:rPr lang="en-GB"/>
              <a:t>!</a:t>
            </a:r>
            <a:endParaRPr/>
          </a:p>
        </p:txBody>
      </p:sp>
      <p:sp>
        <p:nvSpPr>
          <p:cNvPr id="668506518" name="Right Triangle 67"/>
          <p:cNvSpPr/>
          <p:nvPr/>
        </p:nvSpPr>
        <p:spPr bwMode="auto">
          <a:xfrm flipH="1">
            <a:off x="3364047" y="3526065"/>
            <a:ext cx="3600000" cy="2839147"/>
          </a:xfrm>
          <a:prstGeom prst="rtTriangl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514214285" name="Freeform 10"/>
          <p:cNvSpPr/>
          <p:nvPr/>
        </p:nvSpPr>
        <p:spPr bwMode="auto">
          <a:xfrm>
            <a:off x="4123371" y="5775477"/>
            <a:ext cx="171802" cy="609600"/>
          </a:xfrm>
          <a:custGeom>
            <a:avLst/>
            <a:gdLst>
              <a:gd name="connsiteX0" fmla="*/ 0 w 171802"/>
              <a:gd name="connsiteY0" fmla="*/ 0 h 609600"/>
              <a:gd name="connsiteX1" fmla="*/ 95250 w 171802"/>
              <a:gd name="connsiteY1" fmla="*/ 180975 h 609600"/>
              <a:gd name="connsiteX2" fmla="*/ 161925 w 171802"/>
              <a:gd name="connsiteY2" fmla="*/ 438150 h 609600"/>
              <a:gd name="connsiteX3" fmla="*/ 171450 w 171802"/>
              <a:gd name="connsiteY3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802" h="609600" fill="norm" stroke="1" extrusionOk="0">
                <a:moveTo>
                  <a:pt x="0" y="0"/>
                </a:moveTo>
                <a:cubicBezTo>
                  <a:pt x="34131" y="53975"/>
                  <a:pt x="68263" y="107950"/>
                  <a:pt x="95250" y="180975"/>
                </a:cubicBezTo>
                <a:cubicBezTo>
                  <a:pt x="122238" y="254000"/>
                  <a:pt x="149225" y="366713"/>
                  <a:pt x="161925" y="438150"/>
                </a:cubicBezTo>
                <a:cubicBezTo>
                  <a:pt x="174625" y="509587"/>
                  <a:pt x="171450" y="609600"/>
                  <a:pt x="171450" y="60960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489953593" name="TextBox 69"/>
          <p:cNvSpPr txBox="1"/>
          <p:nvPr/>
        </p:nvSpPr>
        <p:spPr bwMode="auto">
          <a:xfrm>
            <a:off x="4209272" y="5775477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400" b="0" i="1">
                          <a:latin typeface="Cambria Math"/>
                        </a:rPr>
                        <m:t>𝜃</m:t>
                      </m:r>
                    </m:oMath>
                  </m:oMathPara>
                </a14:m>
              </mc:Choice>
              <mc:Fallback/>
            </mc:AlternateContent>
            <a:endParaRPr lang="en-GB" sz="2400"/>
          </a:p>
        </p:txBody>
      </p:sp>
      <p:cxnSp>
        <p:nvCxnSpPr>
          <p:cNvPr id="739425603" name="Straight Connector 70"/>
          <p:cNvCxnSpPr/>
          <p:nvPr/>
        </p:nvCxnSpPr>
        <p:spPr bwMode="auto">
          <a:xfrm>
            <a:off x="6172759" y="4174137"/>
            <a:ext cx="0" cy="2191075"/>
          </a:xfrm>
          <a:prstGeom prst="line">
            <a:avLst/>
          </a:prstGeom>
          <a:ln w="5715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37158068" name="Straight Connector 71"/>
          <p:cNvCxnSpPr>
            <a:stCxn id="668506518" idx="0"/>
          </p:cNvCxnSpPr>
          <p:nvPr/>
        </p:nvCxnSpPr>
        <p:spPr bwMode="auto">
          <a:xfrm>
            <a:off x="6964047" y="3526065"/>
            <a:ext cx="0" cy="2839147"/>
          </a:xfrm>
          <a:prstGeom prst="line">
            <a:avLst/>
          </a:prstGeom>
          <a:ln w="571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21850609" name="TextBox 72"/>
          <p:cNvSpPr txBox="1"/>
          <p:nvPr/>
        </p:nvSpPr>
        <p:spPr bwMode="auto">
          <a:xfrm rot="5400000">
            <a:off x="6542450" y="4780022"/>
            <a:ext cx="124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1" i="1">
                          <a:solidFill>
                            <a:schemeClr val="accent6"/>
                          </a:solidFill>
                          <a:latin typeface="Cambria Math"/>
                        </a:rPr>
                        <m:t>𝒕𝒂𝒏𝒈𝒆𝒏𝒕</m:t>
                      </m:r>
                    </m:oMath>
                  </m:oMathPara>
                </a14:m>
              </mc:Choice>
              <mc:Fallback/>
            </mc:AlternateContent>
            <a:endParaRPr lang="en-GB" b="1">
              <a:solidFill>
                <a:schemeClr val="accent6"/>
              </a:solidFill>
            </a:endParaRPr>
          </a:p>
        </p:txBody>
      </p:sp>
      <p:sp>
        <p:nvSpPr>
          <p:cNvPr id="963492492" name="TextBox 73"/>
          <p:cNvSpPr txBox="1"/>
          <p:nvPr/>
        </p:nvSpPr>
        <p:spPr bwMode="auto">
          <a:xfrm>
            <a:off x="5488284" y="5255479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1" i="1">
                          <a:solidFill>
                            <a:schemeClr val="accent1"/>
                          </a:solidFill>
                          <a:latin typeface="Cambria Math"/>
                        </a:rPr>
                        <m:t>𝒔𝒊𝒏𝒆</m:t>
                      </m:r>
                    </m:oMath>
                  </m:oMathPara>
                </a14:m>
              </mc:Choice>
              <mc:Fallback/>
            </mc:AlternateContent>
            <a:endParaRPr lang="en-GB" b="1">
              <a:solidFill>
                <a:schemeClr val="accent1"/>
              </a:solidFill>
            </a:endParaRPr>
          </a:p>
        </p:txBody>
      </p:sp>
      <p:sp>
        <p:nvSpPr>
          <p:cNvPr id="165605014" name="TextBox 74"/>
          <p:cNvSpPr txBox="1"/>
          <p:nvPr/>
        </p:nvSpPr>
        <p:spPr bwMode="auto">
          <a:xfrm rot="19428821">
            <a:off x="4560404" y="4608538"/>
            <a:ext cx="974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1" i="1">
                          <a:solidFill>
                            <a:schemeClr val="accent4"/>
                          </a:solidFill>
                          <a:latin typeface="Cambria Math"/>
                        </a:rPr>
                        <m:t>𝒔𝒆𝒄𝒂𝒏𝒕</m:t>
                      </m:r>
                    </m:oMath>
                  </m:oMathPara>
                </a14:m>
              </mc:Choice>
              <mc:Fallback/>
            </mc:AlternateContent>
            <a:endParaRPr lang="en-GB" b="1">
              <a:solidFill>
                <a:schemeClr val="accent4"/>
              </a:solidFill>
            </a:endParaRPr>
          </a:p>
        </p:txBody>
      </p:sp>
      <p:cxnSp>
        <p:nvCxnSpPr>
          <p:cNvPr id="374830629" name="Straight Connector 75"/>
          <p:cNvCxnSpPr>
            <a:stCxn id="668506518" idx="0"/>
            <a:endCxn id="668506518" idx="4"/>
          </p:cNvCxnSpPr>
          <p:nvPr/>
        </p:nvCxnSpPr>
        <p:spPr bwMode="auto">
          <a:xfrm flipH="1">
            <a:off x="3364047" y="3526065"/>
            <a:ext cx="3600000" cy="2839147"/>
          </a:xfrm>
          <a:prstGeom prst="lin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54072069" name="TextBox 85"/>
          <p:cNvSpPr txBox="1"/>
          <p:nvPr/>
        </p:nvSpPr>
        <p:spPr bwMode="auto">
          <a:xfrm>
            <a:off x="252702" y="4465877"/>
            <a:ext cx="4117277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600"/>
              <a:t>Just as ‘radius’ can refer either to </a:t>
            </a:r>
            <a:r>
              <a:rPr lang="en-GB" sz="1600" b="1"/>
              <a:t>the line itself</a:t>
            </a:r>
            <a:r>
              <a:rPr lang="en-GB" sz="1600"/>
              <a:t> </a:t>
            </a:r>
            <a:r>
              <a:rPr lang="en-GB" sz="1600" u="sng"/>
              <a:t>or</a:t>
            </a:r>
            <a:r>
              <a:rPr lang="en-GB" sz="1600"/>
              <a:t> its </a:t>
            </a:r>
            <a:r>
              <a:rPr lang="en-GB" sz="1600" b="1"/>
              <a:t>length</a:t>
            </a:r>
            <a:r>
              <a:rPr lang="en-GB" sz="1600"/>
              <a:t>, we have names for other special lines, which can also refer to their lengths:</a:t>
            </a:r>
            <a:endParaRPr/>
          </a:p>
        </p:txBody>
      </p:sp>
      <p:cxnSp>
        <p:nvCxnSpPr>
          <p:cNvPr id="980402177" name="Straight Connector 87"/>
          <p:cNvCxnSpPr/>
          <p:nvPr/>
        </p:nvCxnSpPr>
        <p:spPr bwMode="auto">
          <a:xfrm flipH="1">
            <a:off x="3403600" y="6375400"/>
            <a:ext cx="3556000" cy="127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50589527" name="TextBox 90"/>
          <p:cNvSpPr txBox="1"/>
          <p:nvPr/>
        </p:nvSpPr>
        <p:spPr bwMode="auto">
          <a:xfrm>
            <a:off x="4727404" y="6375400"/>
            <a:ext cx="135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1" i="1">
                          <a:solidFill>
                            <a:srgbClr val="C00000"/>
                          </a:solidFill>
                          <a:latin typeface="Cambria Math"/>
                        </a:rPr>
                        <m:t>𝒓𝒂𝒅𝒊𝒖𝒔</m:t>
                      </m:r>
                    </m:oMath>
                  </m:oMathPara>
                </a14:m>
              </mc:Choice>
              <mc:Fallback/>
            </mc:AlternateContent>
            <a:endParaRPr lang="en-GB" b="1">
              <a:solidFill>
                <a:srgbClr val="C00000"/>
              </a:solidFill>
            </a:endParaRPr>
          </a:p>
        </p:txBody>
      </p:sp>
      <p:sp>
        <p:nvSpPr>
          <p:cNvPr id="160779886" name="Arrow: Right 91"/>
          <p:cNvSpPr/>
          <p:nvPr/>
        </p:nvSpPr>
        <p:spPr bwMode="auto">
          <a:xfrm rot="8322494">
            <a:off x="3091894" y="3697846"/>
            <a:ext cx="1775123" cy="19888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768143611" name="TextBox 89"/>
          <p:cNvSpPr txBox="1"/>
          <p:nvPr/>
        </p:nvSpPr>
        <p:spPr bwMode="auto">
          <a:xfrm>
            <a:off x="7301970" y="3299882"/>
            <a:ext cx="17843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200"/>
              <a:t>A </a:t>
            </a:r>
            <a:r>
              <a:rPr lang="en-GB" sz="1200" b="1"/>
              <a:t>tangent</a:t>
            </a:r>
            <a:r>
              <a:rPr lang="en-GB" sz="1200"/>
              <a:t> is </a:t>
            </a:r>
            <a:r>
              <a:rPr lang="en-GB" sz="1200" i="1"/>
              <a:t>a line which </a:t>
            </a:r>
            <a:r>
              <a:rPr lang="en-GB" sz="1200" i="1" u="sng"/>
              <a:t>touches</a:t>
            </a:r>
            <a:r>
              <a:rPr lang="en-GB" sz="1200" i="1"/>
              <a:t> the circle</a:t>
            </a:r>
            <a:r>
              <a:rPr lang="en-GB" sz="1200"/>
              <a:t>. We’re interested in the length just between the touching point and where it meets the secant.</a:t>
            </a:r>
            <a:endParaRPr/>
          </a:p>
        </p:txBody>
      </p:sp>
      <p:sp>
        <p:nvSpPr>
          <p:cNvPr id="1727348644" name="TextBox 93"/>
          <p:cNvSpPr txBox="1"/>
          <p:nvPr/>
        </p:nvSpPr>
        <p:spPr bwMode="auto">
          <a:xfrm>
            <a:off x="7164817" y="5714120"/>
            <a:ext cx="18363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200" b="1"/>
              <a:t>Sine</a:t>
            </a:r>
            <a:r>
              <a:rPr lang="en-GB" sz="1200"/>
              <a:t> (sort of) comes from the word for ‘bowstring’. It refers to half the line if we doubled up the arc and connected the two ends.</a:t>
            </a:r>
            <a:endParaRPr/>
          </a:p>
        </p:txBody>
      </p:sp>
      <p:sp>
        <p:nvSpPr>
          <p:cNvPr id="1770813298" name="TextBox 94"/>
          <p:cNvSpPr txBox="1"/>
          <p:nvPr/>
        </p:nvSpPr>
        <p:spPr bwMode="auto">
          <a:xfrm>
            <a:off x="977900" y="5787603"/>
            <a:ext cx="22142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200"/>
              <a:t>A </a:t>
            </a:r>
            <a:r>
              <a:rPr lang="en-GB" sz="1200" b="1"/>
              <a:t>secant</a:t>
            </a:r>
            <a:r>
              <a:rPr lang="en-GB" sz="1200"/>
              <a:t> (shortened to ‘</a:t>
            </a:r>
            <a:r>
              <a:rPr lang="en-GB" sz="1200" i="1"/>
              <a:t>sec</a:t>
            </a:r>
            <a:r>
              <a:rPr lang="en-GB" sz="1200"/>
              <a:t>’) is a line which </a:t>
            </a:r>
            <a:r>
              <a:rPr lang="en-GB" sz="1200" i="1" u="sng"/>
              <a:t>cuts</a:t>
            </a:r>
            <a:r>
              <a:rPr lang="en-GB" sz="1200"/>
              <a:t> the circle. In a trig setting, we’re interested in the length from the circle centre to where it meets the tangent.</a:t>
            </a:r>
            <a:endParaRPr/>
          </a:p>
        </p:txBody>
      </p:sp>
      <p:cxnSp>
        <p:nvCxnSpPr>
          <p:cNvPr id="247124747" name="Straight Arrow Connector 1023"/>
          <p:cNvCxnSpPr/>
          <p:nvPr/>
        </p:nvCxnSpPr>
        <p:spPr bwMode="auto">
          <a:xfrm flipV="1">
            <a:off x="3209112" y="5912483"/>
            <a:ext cx="491553" cy="105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9415846" name="Straight Arrow Connector 97"/>
          <p:cNvCxnSpPr/>
          <p:nvPr/>
        </p:nvCxnSpPr>
        <p:spPr bwMode="auto">
          <a:xfrm flipH="1" flipV="1">
            <a:off x="6315075" y="5753100"/>
            <a:ext cx="835718" cy="178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4478012" name="Straight Arrow Connector 99"/>
          <p:cNvCxnSpPr/>
          <p:nvPr/>
        </p:nvCxnSpPr>
        <p:spPr bwMode="auto">
          <a:xfrm flipH="1">
            <a:off x="7058025" y="3903267"/>
            <a:ext cx="216570" cy="173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77249256" name="Picture 10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229991" y="2704072"/>
            <a:ext cx="520308" cy="5286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01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0401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70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79708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7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474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24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7724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077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07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5407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21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14214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95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8995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4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394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15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3715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5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1850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49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63492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0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560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3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7483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40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80402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589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50589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14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6814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34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2734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81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7081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12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7124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41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5941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478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74478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6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7736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50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68506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7360530" grpId="0" animBg="1"/>
      <p:bldP spid="1904011031" grpId="0" animBg="1"/>
      <p:bldP spid="979708429" grpId="0" animBg="1"/>
      <p:bldP spid="48474887" grpId="0"/>
      <p:bldP spid="668506518" grpId="0" animBg="1"/>
      <p:bldP spid="1514214285" grpId="0" animBg="1"/>
      <p:bldP spid="1489953593" grpId="0"/>
      <p:bldP spid="421850609" grpId="0"/>
      <p:bldP spid="963492492" grpId="0"/>
      <p:bldP spid="165605014" grpId="0"/>
      <p:bldP spid="1754072069" grpId="0" animBg="1"/>
      <p:bldP spid="1150589527" grpId="0"/>
      <p:bldP spid="160779886" grpId="0" animBg="1"/>
      <p:bldP spid="1768143611" grpId="0"/>
      <p:bldP spid="1727348644" grpId="0"/>
      <p:bldP spid="177081329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309759" name="Rectangle 20"/>
          <p:cNvSpPr/>
          <p:nvPr/>
        </p:nvSpPr>
        <p:spPr bwMode="auto">
          <a:xfrm>
            <a:off x="0" y="3722824"/>
            <a:ext cx="9129891" cy="3135176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126170848" name="TextBox 21"/>
          <p:cNvSpPr txBox="1"/>
          <p:nvPr/>
        </p:nvSpPr>
        <p:spPr bwMode="auto">
          <a:xfrm>
            <a:off x="4105706" y="203200"/>
            <a:ext cx="4828744" cy="2653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600"/>
              <a:t>Suppose we let the radius of the sector be 1. Then if we define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6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600" b="0" i="1">
                              <a:latin typeface="Cambria Math"/>
                            </a:rPr>
                            <m:t>𝑜𝑝𝑝</m:t>
                          </m:r>
                        </m:num>
                        <m:den>
                          <m:r>
                            <m:rPr/>
                            <a:rPr lang="en-GB" sz="1600" b="0" i="1">
                              <a:latin typeface="Cambria Math"/>
                            </a:rPr>
                            <m:t>h𝑦𝑝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en-GB" sz="1600"/>
              <a:t> and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6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600" b="0" i="1">
                              <a:latin typeface="Cambria Math"/>
                            </a:rPr>
                            <m:t>𝑜𝑝𝑝</m:t>
                          </m:r>
                        </m:num>
                        <m:den>
                          <m:r>
                            <m:rPr/>
                            <a:rPr lang="en-GB" sz="1600" b="0" i="1">
                              <a:latin typeface="Cambria Math"/>
                            </a:rPr>
                            <m:t>𝑎𝑑𝑗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en-GB" sz="1600"/>
              <a:t> and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sec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6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600" b="0" i="1">
                              <a:latin typeface="Cambria Math"/>
                            </a:rPr>
                            <m:t>h𝑦𝑝</m:t>
                          </m:r>
                        </m:num>
                        <m:den>
                          <m:r>
                            <m:rPr/>
                            <a:rPr lang="en-GB" sz="1600" b="0" i="1">
                              <a:latin typeface="Cambria Math"/>
                            </a:rPr>
                            <m:t>𝑎𝑑𝑗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en-GB" sz="1600"/>
              <a:t> then this conveniently gives us:</a:t>
            </a:r>
            <a:endParaRPr/>
          </a:p>
          <a:p>
            <a:pPr>
              <a:defRPr/>
            </a:pPr>
            <a:r>
              <a:rPr lang="en-GB" sz="1000"/>
              <a:t> </a:t>
            </a:r>
            <a:endParaRPr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6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600" b="0" i="1">
                              <a:latin typeface="Cambria Math"/>
                            </a:rPr>
                            <m:t>𝑎</m:t>
                          </m:r>
                        </m:num>
                        <m:den>
                          <m:r>
                            <m:rPr/>
                            <a:rPr lang="en-GB" sz="1600" b="0" i="1">
                              <a:latin typeface="Cambria Math"/>
                            </a:rPr>
                            <m:t>1</m:t>
                          </m:r>
                        </m:den>
                      </m:f>
                      <m:r>
                        <m:rPr/>
                        <a:rPr lang="en-GB" sz="1600" b="0" i="1">
                          <a:latin typeface="Cambria Math"/>
                        </a:rPr>
                        <m:t>=</m:t>
                      </m:r>
                      <m:r>
                        <m:rPr/>
                        <a:rPr lang="en-GB" sz="1600" b="0" i="1">
                          <a:latin typeface="Cambria Math"/>
                        </a:rPr>
                        <m:t>𝑎</m:t>
                      </m:r>
                      <m:r>
                        <m:rPr/>
                        <a:rPr lang="en-GB" sz="1600" b="0" i="1">
                          <a:latin typeface="Cambria Math"/>
                        </a:rPr>
                        <m:t>         </m:t>
                      </m:r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6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600" b="0" i="1"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m:rPr/>
                            <a:rPr lang="en-GB" sz="1600" b="0" i="1">
                              <a:latin typeface="Cambria Math"/>
                            </a:rPr>
                            <m:t>1</m:t>
                          </m:r>
                        </m:den>
                      </m:f>
                      <m:r>
                        <m:rPr/>
                        <a:rPr lang="en-GB" sz="1600" b="0" i="1">
                          <a:latin typeface="Cambria Math"/>
                        </a:rPr>
                        <m:t>=</m:t>
                      </m:r>
                      <m:r>
                        <m:rPr/>
                        <a:rPr lang="en-GB" sz="1600" b="0" i="1">
                          <a:latin typeface="Cambria Math"/>
                        </a:rPr>
                        <m:t>𝑏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sec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6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600" b="0" i="1">
                              <a:latin typeface="Cambria Math"/>
                            </a:rPr>
                            <m:t>𝑐</m:t>
                          </m:r>
                        </m:num>
                        <m:den>
                          <m:r>
                            <m:rPr/>
                            <a:rPr lang="en-GB" sz="1600" b="0" i="1">
                              <a:latin typeface="Cambria Math"/>
                            </a:rPr>
                            <m:t>1</m:t>
                          </m:r>
                        </m:den>
                      </m:f>
                      <m:r>
                        <m:rPr/>
                        <a:rPr lang="en-GB" sz="1600" b="0" i="1">
                          <a:latin typeface="Cambria Math"/>
                        </a:rPr>
                        <m:t>=</m:t>
                      </m:r>
                      <m:r>
                        <m:rPr/>
                        <a:rPr lang="en-GB" sz="1600" b="0" i="1">
                          <a:latin typeface="Cambria Math"/>
                        </a:rPr>
                        <m:t>𝑐</m:t>
                      </m:r>
                    </m:oMath>
                  </m:oMathPara>
                </a14:m>
              </mc:Choice>
              <mc:Fallback/>
            </mc:AlternateContent>
            <a:endParaRPr lang="en-GB" sz="1600"/>
          </a:p>
          <a:p>
            <a:pPr>
              <a:defRPr/>
            </a:pPr>
            <a:r>
              <a:rPr lang="en-GB" sz="1000"/>
              <a:t> </a:t>
            </a:r>
            <a:endParaRPr/>
          </a:p>
          <a:p>
            <a:pPr>
              <a:defRPr/>
            </a:pPr>
            <a:r>
              <a:rPr lang="en-GB" sz="1600"/>
              <a:t>i.e.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 sz="1600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 sz="1600"/>
              <a:t> and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sec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 sz="1600"/>
              <a:t> actually give us the lengths of the sine, tangent and secant respectively.</a:t>
            </a:r>
            <a:endParaRPr/>
          </a:p>
        </p:txBody>
      </p:sp>
      <p:sp>
        <p:nvSpPr>
          <p:cNvPr id="1982170477" name="TextBox 28"/>
          <p:cNvSpPr txBox="1"/>
          <p:nvPr/>
        </p:nvSpPr>
        <p:spPr bwMode="auto">
          <a:xfrm>
            <a:off x="162666" y="3921868"/>
            <a:ext cx="2136034" cy="193899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000"/>
              <a:t>“So if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𝑠𝑖𝑛</m:t>
                      </m:r>
                    </m:oMath>
                  </m:oMathPara>
                </a14:m>
              </mc:Choice>
              <mc:Fallback/>
            </mc:AlternateContent>
            <a:r>
              <a:rPr lang="en-GB" sz="2000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𝑡𝑎𝑛</m:t>
                      </m:r>
                    </m:oMath>
                  </m:oMathPara>
                </a14:m>
              </mc:Choice>
              <mc:Fallback/>
            </mc:AlternateContent>
            <a:r>
              <a:rPr lang="en-GB" sz="2000"/>
              <a:t> and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𝑠𝑒𝑐</m:t>
                      </m:r>
                    </m:oMath>
                  </m:oMathPara>
                </a14:m>
              </mc:Choice>
              <mc:Fallback/>
            </mc:AlternateContent>
            <a:r>
              <a:rPr lang="en-GB" sz="2000"/>
              <a:t> are the ‘core’ trigonometric functions, </a:t>
            </a:r>
            <a:r>
              <a:rPr lang="en-GB" sz="2000" b="1"/>
              <a:t>where does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2000" b="1" i="1">
                          <a:latin typeface="Cambria Math"/>
                        </a:rPr>
                        <m:t>𝒄𝒐𝒔</m:t>
                      </m:r>
                    </m:oMath>
                  </m:oMathPara>
                </a14:m>
              </mc:Choice>
              <mc:Fallback/>
            </mc:AlternateContent>
            <a:r>
              <a:rPr lang="en-GB" sz="2000" b="1"/>
              <a:t> come into the fray</a:t>
            </a:r>
            <a:r>
              <a:rPr lang="en-GB" sz="2000"/>
              <a:t>?”</a:t>
            </a:r>
            <a:endParaRPr/>
          </a:p>
        </p:txBody>
      </p:sp>
      <p:sp>
        <p:nvSpPr>
          <p:cNvPr id="1731771169" name="Rectangle 29"/>
          <p:cNvSpPr/>
          <p:nvPr/>
        </p:nvSpPr>
        <p:spPr bwMode="auto">
          <a:xfrm>
            <a:off x="4162942" y="2921399"/>
            <a:ext cx="3683000" cy="584775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GB" sz="1600"/>
              <a:t>And hence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6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m:rPr/>
                            <a:rPr lang="en-GB" sz="1600" i="1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 sz="1600"/>
              <a:t> and the length of the ‘tangent’ are clearly linked!</a:t>
            </a:r>
            <a:endParaRPr/>
          </a:p>
        </p:txBody>
      </p:sp>
      <p:cxnSp>
        <p:nvCxnSpPr>
          <p:cNvPr id="372489269" name="Straight Connector 31"/>
          <p:cNvCxnSpPr/>
          <p:nvPr/>
        </p:nvCxnSpPr>
        <p:spPr bwMode="auto">
          <a:xfrm>
            <a:off x="0" y="37239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06467765" name="Group 51"/>
          <p:cNvGrpSpPr/>
          <p:nvPr/>
        </p:nvGrpSpPr>
        <p:grpSpPr bwMode="auto">
          <a:xfrm>
            <a:off x="-2305552" y="-111863"/>
            <a:ext cx="6296073" cy="5727810"/>
            <a:chOff x="-3074809" y="-128726"/>
            <a:chExt cx="7672458" cy="7200000"/>
          </a:xfrm>
        </p:grpSpPr>
        <p:sp>
          <p:nvSpPr>
            <p:cNvPr id="15" name="Pie 6"/>
            <p:cNvSpPr/>
            <p:nvPr/>
          </p:nvSpPr>
          <p:spPr bwMode="auto">
            <a:xfrm>
              <a:off x="-3074809" y="-128726"/>
              <a:ext cx="7200000" cy="7200000"/>
            </a:xfrm>
            <a:prstGeom prst="pie">
              <a:avLst>
                <a:gd name="adj1" fmla="val 19355950"/>
                <a:gd name="adj2" fmla="val 8587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" name="Right Triangle 1"/>
            <p:cNvSpPr/>
            <p:nvPr/>
          </p:nvSpPr>
          <p:spPr bwMode="auto">
            <a:xfrm flipH="1">
              <a:off x="544647" y="611415"/>
              <a:ext cx="3600000" cy="2839147"/>
            </a:xfrm>
            <a:prstGeom prst="rtTriangl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" name="Freeform 10"/>
            <p:cNvSpPr/>
            <p:nvPr/>
          </p:nvSpPr>
          <p:spPr bwMode="auto">
            <a:xfrm>
              <a:off x="1303971" y="2860828"/>
              <a:ext cx="171802" cy="609600"/>
            </a:xfrm>
            <a:custGeom>
              <a:avLst/>
              <a:gdLst>
                <a:gd name="connsiteX0" fmla="*/ 0 w 171802"/>
                <a:gd name="connsiteY0" fmla="*/ 0 h 609600"/>
                <a:gd name="connsiteX1" fmla="*/ 95250 w 171802"/>
                <a:gd name="connsiteY1" fmla="*/ 180975 h 609600"/>
                <a:gd name="connsiteX2" fmla="*/ 161925 w 171802"/>
                <a:gd name="connsiteY2" fmla="*/ 438150 h 609600"/>
                <a:gd name="connsiteX3" fmla="*/ 171450 w 171802"/>
                <a:gd name="connsiteY3" fmla="*/ 609600 h 60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802" h="609600" fill="norm" stroke="1" extrusionOk="0">
                  <a:moveTo>
                    <a:pt x="0" y="0"/>
                  </a:moveTo>
                  <a:cubicBezTo>
                    <a:pt x="34131" y="53975"/>
                    <a:pt x="68263" y="107950"/>
                    <a:pt x="95250" y="180975"/>
                  </a:cubicBezTo>
                  <a:cubicBezTo>
                    <a:pt x="122238" y="254000"/>
                    <a:pt x="149225" y="366713"/>
                    <a:pt x="161925" y="438150"/>
                  </a:cubicBezTo>
                  <a:cubicBezTo>
                    <a:pt x="174625" y="509587"/>
                    <a:pt x="171450" y="609600"/>
                    <a:pt x="171450" y="60960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4" name="TextBox 3"/>
            <p:cNvSpPr txBox="1"/>
            <p:nvPr/>
          </p:nvSpPr>
          <p:spPr bwMode="auto">
            <a:xfrm>
              <a:off x="1389872" y="2860828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sz="2400" b="0" i="1">
                            <a:latin typeface="Cambria Math"/>
                          </a:rPr>
                          <m:t>𝜃</m:t>
                        </m:r>
                      </m:oMath>
                    </m:oMathPara>
                  </a14:m>
                </mc:Choice>
                <mc:Fallback/>
              </mc:AlternateContent>
              <a:endParaRPr lang="en-GB" sz="2400"/>
            </a:p>
          </p:txBody>
        </p:sp>
        <p:cxnSp>
          <p:nvCxnSpPr>
            <p:cNvPr id="5" name="Straight Connector 4"/>
            <p:cNvCxnSpPr/>
            <p:nvPr/>
          </p:nvCxnSpPr>
          <p:spPr bwMode="auto">
            <a:xfrm>
              <a:off x="3353359" y="1259487"/>
              <a:ext cx="0" cy="2191075"/>
            </a:xfrm>
            <a:prstGeom prst="line">
              <a:avLst/>
            </a:prstGeom>
            <a:ln w="57150"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>
              <a:stCxn id="2" idx="0"/>
            </p:cNvCxnSpPr>
            <p:nvPr/>
          </p:nvCxnSpPr>
          <p:spPr bwMode="auto">
            <a:xfrm>
              <a:off x="4144646" y="611415"/>
              <a:ext cx="0" cy="2839147"/>
            </a:xfrm>
            <a:prstGeom prst="line">
              <a:avLst/>
            </a:prstGeom>
            <a:ln w="5715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 bwMode="auto">
            <a:xfrm rot="5400000">
              <a:off x="3792693" y="1733668"/>
              <a:ext cx="1240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b="1" i="1">
                            <a:solidFill>
                              <a:schemeClr val="accent6"/>
                            </a:solidFill>
                            <a:latin typeface="Cambria Math"/>
                          </a:rPr>
                          <m:t>𝒕𝒂𝒏𝒈𝒆𝒏𝒕</m:t>
                        </m:r>
                      </m:oMath>
                    </m:oMathPara>
                  </a14:m>
                </mc:Choice>
                <mc:Fallback/>
              </mc:AlternateContent>
              <a:endParaRPr lang="en-GB" b="1">
                <a:solidFill>
                  <a:schemeClr val="accent6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 bwMode="auto">
            <a:xfrm>
              <a:off x="2576026" y="2029526"/>
              <a:ext cx="720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b="1" i="1">
                            <a:solidFill>
                              <a:schemeClr val="accent1"/>
                            </a:solidFill>
                            <a:latin typeface="Cambria Math"/>
                          </a:rPr>
                          <m:t>𝒔𝒊𝒏𝒆</m:t>
                        </m:r>
                      </m:oMath>
                    </m:oMathPara>
                  </a14:m>
                </mc:Choice>
                <mc:Fallback/>
              </mc:AlternateContent>
              <a:endParaRPr lang="en-GB" b="1">
                <a:solidFill>
                  <a:schemeClr val="accent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 bwMode="auto">
            <a:xfrm rot="19428821">
              <a:off x="1725527" y="1677924"/>
              <a:ext cx="9743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b="1" i="1">
                            <a:solidFill>
                              <a:schemeClr val="accent4"/>
                            </a:solidFill>
                            <a:latin typeface="Cambria Math"/>
                          </a:rPr>
                          <m:t>𝒔𝒆𝒄𝒂𝒏𝒕</m:t>
                        </m:r>
                      </m:oMath>
                    </m:oMathPara>
                  </a14:m>
                </mc:Choice>
                <mc:Fallback/>
              </mc:AlternateContent>
              <a:endParaRPr lang="en-GB" b="1">
                <a:solidFill>
                  <a:schemeClr val="accent4"/>
                </a:solidFill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 bwMode="auto">
            <a:xfrm flipH="1">
              <a:off x="516316" y="610547"/>
              <a:ext cx="3629204" cy="2857595"/>
            </a:xfrm>
            <a:prstGeom prst="line">
              <a:avLst/>
            </a:prstGeom>
            <a:ln w="5715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auto">
            <a:xfrm flipH="1">
              <a:off x="531793" y="3460750"/>
              <a:ext cx="3608408" cy="7391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 bwMode="auto">
            <a:xfrm>
              <a:off x="1908004" y="3460750"/>
              <a:ext cx="13558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b="1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𝒓𝒂𝒅𝒊𝒖𝒔</m:t>
                        </m:r>
                      </m:oMath>
                    </m:oMathPara>
                  </a14:m>
                </mc:Choice>
                <mc:Fallback/>
              </mc:AlternateContent>
              <a:endParaRPr lang="en-GB" b="1">
                <a:solidFill>
                  <a:srgbClr val="C0000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3236564" y="2197100"/>
              <a:ext cx="509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b="0" i="1">
                            <a:latin typeface="Cambria Math"/>
                          </a:rPr>
                          <m:t>𝑎</m:t>
                        </m:r>
                      </m:oMath>
                    </m:oMathPara>
                  </a14:m>
                </mc:Choice>
                <mc:Fallback/>
              </mc:AlternateContent>
              <a:endParaRPr lang="en-GB"/>
            </a:p>
          </p:txBody>
        </p:sp>
        <p:sp>
          <p:nvSpPr>
            <p:cNvPr id="17" name="TextBox 16"/>
            <p:cNvSpPr txBox="1"/>
            <p:nvPr/>
          </p:nvSpPr>
          <p:spPr bwMode="auto">
            <a:xfrm>
              <a:off x="3771530" y="1778927"/>
              <a:ext cx="509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b="0" i="1">
                            <a:latin typeface="Cambria Math"/>
                          </a:rPr>
                          <m:t>𝑏</m:t>
                        </m:r>
                      </m:oMath>
                    </m:oMathPara>
                  </a14:m>
                </mc:Choice>
                <mc:Fallback/>
              </mc:AlternateContent>
              <a:endParaRPr lang="en-GB"/>
            </a:p>
          </p:txBody>
        </p:sp>
        <p:sp>
          <p:nvSpPr>
            <p:cNvPr id="18" name="TextBox 17"/>
            <p:cNvSpPr txBox="1"/>
            <p:nvPr/>
          </p:nvSpPr>
          <p:spPr bwMode="auto">
            <a:xfrm>
              <a:off x="1588267" y="1590804"/>
              <a:ext cx="509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b="0" i="1">
                            <a:latin typeface="Cambria Math"/>
                          </a:rPr>
                          <m:t>1</m:t>
                        </m:r>
                      </m:oMath>
                    </m:oMathPara>
                  </a14:m>
                </mc:Choice>
                <mc:Fallback/>
              </mc:AlternateContent>
              <a:endParaRPr lang="en-GB"/>
            </a:p>
          </p:txBody>
        </p:sp>
        <p:cxnSp>
          <p:nvCxnSpPr>
            <p:cNvPr id="20" name="Straight Arrow Connector 19"/>
            <p:cNvCxnSpPr/>
            <p:nvPr/>
          </p:nvCxnSpPr>
          <p:spPr bwMode="auto">
            <a:xfrm flipV="1">
              <a:off x="360562" y="1033774"/>
              <a:ext cx="2730500" cy="216232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 bwMode="auto">
            <a:xfrm>
              <a:off x="521433" y="3872960"/>
              <a:ext cx="3608252" cy="960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 bwMode="auto">
            <a:xfrm>
              <a:off x="1621764" y="1154606"/>
              <a:ext cx="509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b="0" i="1">
                            <a:latin typeface="Cambria Math"/>
                          </a:rPr>
                          <m:t>𝑐</m:t>
                        </m:r>
                      </m:oMath>
                    </m:oMathPara>
                  </a14:m>
                </mc:Choice>
                <mc:Fallback/>
              </mc:AlternateContent>
              <a:endParaRPr lang="en-GB"/>
            </a:p>
          </p:txBody>
        </p:sp>
        <p:cxnSp>
          <p:nvCxnSpPr>
            <p:cNvPr id="26" name="Straight Arrow Connector 25"/>
            <p:cNvCxnSpPr/>
            <p:nvPr/>
          </p:nvCxnSpPr>
          <p:spPr bwMode="auto">
            <a:xfrm flipV="1">
              <a:off x="138830" y="203459"/>
              <a:ext cx="3560972" cy="274121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 bwMode="auto">
            <a:xfrm>
              <a:off x="2092236" y="3824929"/>
              <a:ext cx="509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b="0" i="1">
                            <a:latin typeface="Cambria Math"/>
                          </a:rPr>
                          <m:t>1</m:t>
                        </m:r>
                      </m:oMath>
                    </m:oMathPara>
                  </a14:m>
                </mc:Choice>
                <mc:Fallback/>
              </mc:AlternateContent>
              <a:endParaRPr lang="en-GB"/>
            </a:p>
          </p:txBody>
        </p:sp>
      </p:grpSp>
      <p:grpSp>
        <p:nvGrpSpPr>
          <p:cNvPr id="293085906" name="Group 46"/>
          <p:cNvGrpSpPr/>
          <p:nvPr/>
        </p:nvGrpSpPr>
        <p:grpSpPr bwMode="auto">
          <a:xfrm rot="16199999">
            <a:off x="1100324" y="5202445"/>
            <a:ext cx="1646055" cy="1028003"/>
            <a:chOff x="2373952" y="5601134"/>
            <a:chExt cx="1646055" cy="1028003"/>
          </a:xfrm>
        </p:grpSpPr>
        <p:grpSp>
          <p:nvGrpSpPr>
            <p:cNvPr id="46" name="Group 45"/>
            <p:cNvGrpSpPr/>
            <p:nvPr/>
          </p:nvGrpSpPr>
          <p:grpSpPr bwMode="auto">
            <a:xfrm>
              <a:off x="2373952" y="5601134"/>
              <a:ext cx="1646055" cy="1025603"/>
              <a:chOff x="2373952" y="5601134"/>
              <a:chExt cx="1646055" cy="1025603"/>
            </a:xfrm>
          </p:grpSpPr>
          <p:grpSp>
            <p:nvGrpSpPr>
              <p:cNvPr id="34" name="Group 33"/>
              <p:cNvGrpSpPr/>
              <p:nvPr/>
            </p:nvGrpSpPr>
            <p:grpSpPr bwMode="auto">
              <a:xfrm>
                <a:off x="2375045" y="5601134"/>
                <a:ext cx="1644962" cy="1025603"/>
                <a:chOff x="683568" y="1052736"/>
                <a:chExt cx="2520280" cy="1440160"/>
              </a:xfrm>
            </p:grpSpPr>
            <p:sp>
              <p:nvSpPr>
                <p:cNvPr id="35" name="Right Triangle 34"/>
                <p:cNvSpPr/>
                <p:nvPr/>
              </p:nvSpPr>
              <p:spPr bwMode="auto">
                <a:xfrm>
                  <a:off x="683568" y="1052736"/>
                  <a:ext cx="2520280" cy="1440160"/>
                </a:xfrm>
                <a:prstGeom prst="rtTriangl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/>
                </a:p>
              </p:txBody>
            </p:sp>
            <p:sp>
              <p:nvSpPr>
                <p:cNvPr id="36" name="Rectangle 35"/>
                <p:cNvSpPr/>
                <p:nvPr/>
              </p:nvSpPr>
              <p:spPr bwMode="auto">
                <a:xfrm>
                  <a:off x="683568" y="2204864"/>
                  <a:ext cx="288032" cy="288032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GB"/>
                </a:p>
              </p:txBody>
            </p:sp>
          </p:grpSp>
          <p:sp>
            <p:nvSpPr>
              <p:cNvPr id="37" name="Freeform: Shape 36"/>
              <p:cNvSpPr/>
              <p:nvPr/>
            </p:nvSpPr>
            <p:spPr bwMode="auto">
              <a:xfrm>
                <a:off x="2373952" y="5762362"/>
                <a:ext cx="266700" cy="142875"/>
              </a:xfrm>
              <a:custGeom>
                <a:avLst/>
                <a:gdLst>
                  <a:gd name="connsiteX0" fmla="*/ 0 w 266700"/>
                  <a:gd name="connsiteY0" fmla="*/ 142875 h 142875"/>
                  <a:gd name="connsiteX1" fmla="*/ 152400 w 266700"/>
                  <a:gd name="connsiteY1" fmla="*/ 95250 h 142875"/>
                  <a:gd name="connsiteX2" fmla="*/ 266700 w 266700"/>
                  <a:gd name="connsiteY2" fmla="*/ 0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6700" h="142875" fill="norm" stroke="1" extrusionOk="0">
                    <a:moveTo>
                      <a:pt x="0" y="142875"/>
                    </a:moveTo>
                    <a:cubicBezTo>
                      <a:pt x="53975" y="130968"/>
                      <a:pt x="107950" y="119062"/>
                      <a:pt x="152400" y="95250"/>
                    </a:cubicBezTo>
                    <a:cubicBezTo>
                      <a:pt x="196850" y="71438"/>
                      <a:pt x="231775" y="35719"/>
                      <a:pt x="266700" y="0"/>
                    </a:cubicBezTo>
                  </a:path>
                </a:pathLst>
              </a:cu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/>
              </a:p>
            </p:txBody>
          </p:sp>
        </p:grpSp>
        <p:sp>
          <p:nvSpPr>
            <p:cNvPr id="38" name="Freeform: Shape 37"/>
            <p:cNvSpPr/>
            <p:nvPr/>
          </p:nvSpPr>
          <p:spPr bwMode="auto">
            <a:xfrm>
              <a:off x="3574102" y="6400537"/>
              <a:ext cx="57150" cy="228600"/>
            </a:xfrm>
            <a:custGeom>
              <a:avLst/>
              <a:gdLst>
                <a:gd name="connsiteX0" fmla="*/ 0 w 57150"/>
                <a:gd name="connsiteY0" fmla="*/ 228600 h 228600"/>
                <a:gd name="connsiteX1" fmla="*/ 9525 w 57150"/>
                <a:gd name="connsiteY1" fmla="*/ 104775 h 228600"/>
                <a:gd name="connsiteX2" fmla="*/ 57150 w 57150"/>
                <a:gd name="connsiteY2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0" h="228600" fill="norm" stroke="1" extrusionOk="0">
                  <a:moveTo>
                    <a:pt x="0" y="228600"/>
                  </a:moveTo>
                  <a:cubicBezTo>
                    <a:pt x="0" y="185737"/>
                    <a:pt x="0" y="142875"/>
                    <a:pt x="9525" y="104775"/>
                  </a:cubicBezTo>
                  <a:cubicBezTo>
                    <a:pt x="19050" y="66675"/>
                    <a:pt x="38100" y="33337"/>
                    <a:pt x="57150" y="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</p:grpSp>
      <p:sp>
        <p:nvSpPr>
          <p:cNvPr id="1640265323" name="TextBox 38"/>
          <p:cNvSpPr txBox="1"/>
          <p:nvPr/>
        </p:nvSpPr>
        <p:spPr bwMode="auto">
          <a:xfrm>
            <a:off x="1633159" y="6087910"/>
            <a:ext cx="49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0" i="1">
                          <a:latin typeface="Cambria Math"/>
                        </a:rPr>
                        <m:t>50°</m:t>
                      </m:r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sp>
        <p:nvSpPr>
          <p:cNvPr id="85825724" name="TextBox 39"/>
          <p:cNvSpPr txBox="1"/>
          <p:nvPr/>
        </p:nvSpPr>
        <p:spPr bwMode="auto">
          <a:xfrm>
            <a:off x="1983635" y="5380917"/>
            <a:ext cx="49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0" i="1">
                          <a:latin typeface="Cambria Math"/>
                        </a:rPr>
                        <m:t>40°</m:t>
                      </m:r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sp>
        <p:nvSpPr>
          <p:cNvPr id="897659300" name="TextBox 43"/>
          <p:cNvSpPr txBox="1"/>
          <p:nvPr/>
        </p:nvSpPr>
        <p:spPr bwMode="auto">
          <a:xfrm>
            <a:off x="2692399" y="3860855"/>
            <a:ext cx="64516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600"/>
              <a:t>“</a:t>
            </a:r>
            <a:r>
              <a:rPr lang="en-GB" sz="1600" b="1"/>
              <a:t>cosine</a:t>
            </a:r>
            <a:r>
              <a:rPr lang="en-GB" sz="1600"/>
              <a:t>” 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600" b="0" i="1">
                          <a:latin typeface="Cambria Math"/>
                        </a:rPr>
                        <m:t>𝑐𝑜𝑠</m:t>
                      </m:r>
                    </m:oMath>
                  </m:oMathPara>
                </a14:m>
              </mc:Choice>
              <mc:Fallback/>
            </mc:AlternateContent>
            <a:r>
              <a:rPr lang="en-GB" sz="1600"/>
              <a:t>), “</a:t>
            </a:r>
            <a:r>
              <a:rPr lang="en-GB" sz="1600" b="1"/>
              <a:t>cotangent</a:t>
            </a:r>
            <a:r>
              <a:rPr lang="en-GB" sz="1600"/>
              <a:t>” 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600" b="0" i="1">
                          <a:latin typeface="Cambria Math"/>
                        </a:rPr>
                        <m:t>𝑐𝑜𝑡</m:t>
                      </m:r>
                    </m:oMath>
                  </m:oMathPara>
                </a14:m>
              </mc:Choice>
              <mc:Fallback/>
            </mc:AlternateContent>
            <a:r>
              <a:rPr lang="en-GB" sz="1600"/>
              <a:t>) and “</a:t>
            </a:r>
            <a:r>
              <a:rPr lang="en-GB" sz="1600" b="1"/>
              <a:t>cosecant</a:t>
            </a:r>
            <a:r>
              <a:rPr lang="en-GB" sz="1600"/>
              <a:t>” 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600" b="0" i="1">
                          <a:latin typeface="Cambria Math"/>
                        </a:rPr>
                        <m:t>𝑐𝑜𝑠𝑒𝑐</m:t>
                      </m:r>
                    </m:oMath>
                  </m:oMathPara>
                </a14:m>
              </mc:Choice>
              <mc:Fallback/>
            </mc:AlternateContent>
            <a:r>
              <a:rPr lang="en-GB" sz="1600"/>
              <a:t>) are the ‘</a:t>
            </a:r>
            <a:r>
              <a:rPr lang="en-GB" sz="1600" b="1"/>
              <a:t>complementary</a:t>
            </a:r>
            <a:r>
              <a:rPr lang="en-GB" sz="1600"/>
              <a:t>’ trig functions. Complementary angles add to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600" b="0" i="1">
                          <a:latin typeface="Cambria Math"/>
                        </a:rPr>
                        <m:t>90°</m:t>
                      </m:r>
                    </m:oMath>
                  </m:oMathPara>
                </a14:m>
              </mc:Choice>
              <mc:Fallback/>
            </mc:AlternateContent>
            <a:r>
              <a:rPr lang="en-GB" sz="1600"/>
              <a:t>. </a:t>
            </a:r>
            <a:endParaRPr/>
          </a:p>
          <a:p>
            <a:pPr>
              <a:defRPr/>
            </a:pPr>
            <a:r>
              <a:rPr lang="en-GB" sz="1600"/>
              <a:t>The two smaller angles in a right-angled triangle are clearly complementary. </a:t>
            </a:r>
            <a:endParaRPr/>
          </a:p>
        </p:txBody>
      </p:sp>
      <p:sp>
        <p:nvSpPr>
          <p:cNvPr id="1027494560" name="TextBox 44"/>
          <p:cNvSpPr txBox="1"/>
          <p:nvPr/>
        </p:nvSpPr>
        <p:spPr bwMode="auto">
          <a:xfrm>
            <a:off x="3109685" y="4836188"/>
            <a:ext cx="5619750" cy="10310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/>
              <a:t>The complementary sine (cosine) of an angle is by definition the sine of the complementary angle, e.g.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40°</m:t>
                              </m:r>
                            </m:e>
                          </m:d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50°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 sz="1400" b="0"/>
              <a:t>. </a:t>
            </a:r>
            <a:r>
              <a:rPr lang="en-GB" sz="1400"/>
              <a:t>Thus:</a:t>
            </a:r>
            <a:endParaRPr/>
          </a:p>
          <a:p>
            <a:pPr>
              <a:defRPr/>
            </a:pPr>
            <a:endParaRPr lang="en-GB" sz="3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90°−</m:t>
                              </m:r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    </m:t>
                      </m:r>
                      <m:func>
                        <m:funcPr>
                          <m:ctrlPr>
                            <a:rPr lang="en-GB" sz="1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cosec</m:t>
                          </m:r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sz="1400" i="1">
                                  <a:latin typeface="Cambria Math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m:rPr/>
                        <a:rPr lang="en-GB" sz="140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1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sec</m:t>
                          </m:r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sz="1400" i="1">
                                  <a:latin typeface="Cambria Math"/>
                                </a:rPr>
                                <m:t>90°−</m:t>
                              </m:r>
                              <m:r>
                                <m:rPr/>
                                <a:rPr lang="en-GB" sz="1400" i="1">
                                  <a:latin typeface="Cambria Math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  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unc>
                        <m:funcPr>
                          <m:ctrlPr>
                            <a:rPr lang="en-GB" sz="1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>
                              <a:latin typeface="Cambria Math"/>
                            </a:rPr>
                            <m:t>co</m:t>
                          </m:r>
                          <m:r>
                            <m:rPr/>
                            <a:rPr lang="en-GB" sz="1400" b="0" i="1">
                              <a:latin typeface="Cambria Math"/>
                            </a:rPr>
                            <m:t>𝑡</m:t>
                          </m:r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sz="1400" i="1">
                                  <a:latin typeface="Cambria Math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m:rPr/>
                        <a:rPr lang="en-GB" sz="140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1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sz="1400" i="1">
                                  <a:latin typeface="Cambria Math"/>
                                </a:rPr>
                                <m:t>90°−</m:t>
                              </m:r>
                              <m:r>
                                <m:rPr/>
                                <a:rPr lang="en-GB" sz="1400" i="1">
                                  <a:latin typeface="Cambria Math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 sz="1400"/>
          </a:p>
        </p:txBody>
      </p:sp>
      <p:cxnSp>
        <p:nvCxnSpPr>
          <p:cNvPr id="593606608" name="Straight Arrow Connector 48"/>
          <p:cNvCxnSpPr/>
          <p:nvPr/>
        </p:nvCxnSpPr>
        <p:spPr bwMode="auto">
          <a:xfrm flipH="1">
            <a:off x="2510971" y="4557486"/>
            <a:ext cx="159658" cy="246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6775959" name="TextBox 50"/>
          <p:cNvSpPr txBox="1"/>
          <p:nvPr/>
        </p:nvSpPr>
        <p:spPr bwMode="auto">
          <a:xfrm>
            <a:off x="2991394" y="5964344"/>
            <a:ext cx="5600700" cy="670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/>
              <a:t>(A very common misconception is that the definition of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1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100" b="0" i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m:rPr/>
                            <a:rPr lang="en-GB" sz="11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100" b="0" i="1">
                          <a:latin typeface="Cambria Math"/>
                        </a:rPr>
                        <m:t>≡</m:t>
                      </m:r>
                      <m:f>
                        <m:fPr>
                          <m:ctrlPr>
                            <a:rPr lang="en-GB" sz="11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100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sz="11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100" b="0" i="0">
                                  <a:latin typeface="Cambria Math"/>
                                </a:rPr>
                                <m:t>tan</m:t>
                              </m:r>
                            </m:fName>
                            <m:e>
                              <m:r>
                                <m:rPr/>
                                <a:rPr lang="en-GB" sz="1100" b="0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en-GB" sz="1100"/>
              <a:t>. While this identity is true, this is not the </a:t>
            </a:r>
            <a:r>
              <a:rPr lang="en-GB" sz="1100" u="sng"/>
              <a:t>definition</a:t>
            </a:r>
            <a:r>
              <a:rPr lang="en-GB" sz="1100"/>
              <a:t> of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1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100" b="0" i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m:rPr/>
                            <a:rPr lang="en-GB" sz="1100" b="0" i="1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 sz="1100"/>
              <a:t>, and is a consequence of the adjacent and opposite swapping when we switch to the complementary angle.)</a:t>
            </a:r>
            <a:endParaRPr/>
          </a:p>
        </p:txBody>
      </p:sp>
      <p:sp>
        <p:nvSpPr>
          <p:cNvPr id="387939399" name="Arrow: Right 40"/>
          <p:cNvSpPr/>
          <p:nvPr/>
        </p:nvSpPr>
        <p:spPr bwMode="auto">
          <a:xfrm rot="5400000">
            <a:off x="1088553" y="-82117"/>
            <a:ext cx="444028" cy="626908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100666" name="TextBox 5"/>
          <p:cNvSpPr txBox="1"/>
          <p:nvPr/>
        </p:nvSpPr>
        <p:spPr bwMode="auto">
          <a:xfrm>
            <a:off x="539552" y="1988840"/>
            <a:ext cx="3456384" cy="3304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cot</m:t>
                          </m:r>
                        </m:fName>
                        <m:e>
                          <m:f>
                            <m:f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𝜋</m:t>
                              </m:r>
                            </m:num>
                            <m:den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e>
                      </m:func>
                      <m:r>
                        <m:rPr/>
                        <a:rPr lang="en-GB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1" i="1">
                              <a:latin typeface="Cambria Math"/>
                            </a:rPr>
                            <m:t>𝟏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𝒕𝒂𝒏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𝝅</m:t>
                                  </m:r>
                                </m:num>
                                <m:den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𝟒</m:t>
                                  </m:r>
                                </m:den>
                              </m:f>
                            </m:e>
                          </m:func>
                        </m:den>
                      </m:f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1" i="1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m:rPr/>
                            <a:rPr lang="en-GB" b="1" i="1">
                              <a:latin typeface="Cambria Math"/>
                            </a:rPr>
                            <m:t>𝟏</m:t>
                          </m:r>
                        </m:den>
                      </m:f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r>
                        <m:rPr/>
                        <a:rPr lang="en-GB" b="1" i="1">
                          <a:latin typeface="Cambria Math"/>
                        </a:rPr>
                        <m:t>𝟏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sec</m:t>
                          </m:r>
                        </m:fName>
                        <m:e>
                          <m:f>
                            <m:f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𝜋</m:t>
                              </m:r>
                            </m:num>
                            <m:den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  <m:r>
                            <m:rPr/>
                            <a:rPr lang="en-GB" b="0" i="1">
                              <a:latin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/>
                                    <a:rPr lang="en-GB" b="1" i="0">
                                      <a:latin typeface="Cambria Math"/>
                                    </a:rPr>
                                    <m:t>𝐜𝐨𝐬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en-GB" b="1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/>
                                        <a:rPr lang="en-GB" b="1" i="1">
                                          <a:latin typeface="Cambria Math"/>
                                        </a:rPr>
                                        <m:t>𝝅</m:t>
                                      </m:r>
                                    </m:num>
                                    <m:den>
                                      <m:r>
                                        <m:rPr/>
                                        <a:rPr lang="en-GB" b="1" i="1">
                                          <a:latin typeface="Cambria Math"/>
                                        </a:rPr>
                                        <m:t>𝟒</m:t>
                                      </m:r>
                                    </m:den>
                                  </m:f>
                                </m:e>
                              </m:func>
                            </m:den>
                          </m:f>
                          <m:r>
                            <m:rPr/>
                            <a:rPr lang="en-GB" b="1" i="1">
                              <a:latin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𝟏</m:t>
                              </m:r>
                            </m:num>
                            <m:den>
                              <m:f>
                                <m:f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GB" b="1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radPr>
                                    <m:deg>
                                      <m:r>
                                        <m:rPr/>
                                        <a:rPr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/>
                                      </m:r>
                                    </m:deg>
                                    <m:e>
                                      <m:r>
                                        <m:rPr/>
                                        <a:rPr lang="en-GB" b="1" i="1">
                                          <a:latin typeface="Cambria Math"/>
                                        </a:rPr>
                                        <m:t>𝟐</m:t>
                                      </m:r>
                                    </m:e>
                                  </m:rad>
                                </m:den>
                              </m:f>
                            </m:den>
                          </m:f>
                          <m:r>
                            <m:rPr/>
                            <a:rPr lang="en-GB" b="1" i="1">
                              <a:latin typeface="Cambria Math"/>
                            </a:rPr>
                            <m:t>=</m:t>
                          </m:r>
                          <m:rad>
                            <m:radPr>
                              <m:degHide m:val="on"/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>
                              <m:r>
                                <m:rPr/>
                                <a:rPr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/>
                              </m:r>
                            </m:deg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 b="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cosec</m:t>
                          </m:r>
                        </m:fName>
                        <m:e>
                          <m:f>
                            <m:f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𝜋</m:t>
                              </m:r>
                            </m:num>
                            <m:den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1" i="1">
                              <a:latin typeface="Cambria Math"/>
                            </a:rPr>
                            <m:t>𝟏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/>
                                <a:rPr lang="en-GB" b="1" i="0">
                                  <a:latin typeface="Cambria Math"/>
                                </a:rPr>
                                <m:t>𝐬𝐢𝐧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𝝅</m:t>
                                  </m:r>
                                </m:num>
                                <m:den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𝟑</m:t>
                                  </m:r>
                                </m:den>
                              </m:f>
                            </m:e>
                          </m:func>
                        </m:den>
                      </m:f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1" i="1">
                              <a:latin typeface="Cambria Math"/>
                            </a:rPr>
                            <m:t>𝟐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>
                              <m:r>
                                <m:rPr/>
                                <a:rPr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/>
                              </m:r>
                            </m:deg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mc:Choice>
              <mc:Fallback/>
            </mc:AlternateContent>
            <a:endParaRPr lang="en-GB" b="1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cot</m:t>
                          </m:r>
                        </m:fName>
                        <m:e>
                          <m:f>
                            <m:f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𝜋</m:t>
                              </m:r>
                            </m:num>
                            <m:den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>
                          <m:r>
                            <m:rPr/>
                            <a:rPr>
                              <a:latin typeface="Cambria Math"/>
                              <a:ea typeface="Cambria Math"/>
                              <a:cs typeface="Cambria Math"/>
                            </a:rPr>
                            <m:t/>
                          </m:r>
                        </m:deg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</mc:Choice>
              <mc:Fallback/>
            </mc:AlternateContent>
            <a:endParaRPr lang="en-GB" b="1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cosec</m:t>
                          </m:r>
                        </m:fName>
                        <m:e>
                          <m:f>
                            <m:f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5</m:t>
                              </m:r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𝜋</m:t>
                              </m:r>
                            </m:num>
                            <m:den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/>
                            <a:rPr lang="en-GB" b="1" i="0">
                              <a:latin typeface="Cambria Math"/>
                            </a:rPr>
                            <m:t>𝐜𝐨𝐬𝐞𝐜</m:t>
                          </m:r>
                        </m:fName>
                        <m:e>
                          <m:f>
                            <m:f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𝝅</m:t>
                              </m:r>
                            </m:num>
                            <m:den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𝟔</m:t>
                              </m:r>
                            </m:den>
                          </m:f>
                        </m:e>
                      </m:func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r>
                        <m:rPr/>
                        <a:rPr lang="en-GB" b="1" i="1">
                          <a:latin typeface="Cambria Math"/>
                        </a:rPr>
                        <m:t>𝟐</m:t>
                      </m:r>
                    </m:oMath>
                  </m:oMathPara>
                </a14:m>
              </mc:Choice>
              <mc:Fallback/>
            </mc:AlternateContent>
            <a:endParaRPr lang="en-GB" b="1"/>
          </a:p>
        </p:txBody>
      </p:sp>
      <p:sp>
        <p:nvSpPr>
          <p:cNvPr id="1569801773" name="TextBox 6"/>
          <p:cNvSpPr txBox="1"/>
          <p:nvPr/>
        </p:nvSpPr>
        <p:spPr bwMode="auto">
          <a:xfrm>
            <a:off x="4716016" y="1988840"/>
            <a:ext cx="3456384" cy="2233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cot</m:t>
                          </m:r>
                        </m:fName>
                        <m:e>
                          <m:f>
                            <m:f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𝜋</m:t>
                              </m:r>
                            </m:num>
                            <m:den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1" i="1">
                              <a:latin typeface="Cambria Math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>
                              <m:r>
                                <m:rPr/>
                                <a:rPr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/>
                              </m:r>
                            </m:deg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mc:Choice>
              <mc:Fallback/>
            </mc:AlternateContent>
            <a:endParaRPr lang="en-GB" b="1" i="1">
              <a:latin typeface="Cambria Math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sec</m:t>
                          </m:r>
                        </m:fName>
                        <m:e>
                          <m:f>
                            <m:f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𝜋</m:t>
                              </m:r>
                            </m:num>
                            <m:den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  <m:r>
                        <m:rPr/>
                        <a:rPr lang="en-GB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1" i="1">
                              <a:latin typeface="Cambria Math"/>
                            </a:rPr>
                            <m:t>𝟐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>
                              <m:r>
                                <m:rPr/>
                                <a:rPr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/>
                              </m:r>
                            </m:deg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mc:Choice>
              <mc:Fallback/>
            </mc:AlternateContent>
            <a:endParaRPr lang="en-GB" b="1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cosec</m:t>
                          </m:r>
                        </m:fName>
                        <m:e>
                          <m:f>
                            <m:f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𝜋</m:t>
                              </m:r>
                            </m:num>
                            <m:den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r>
                        <m:rPr/>
                        <a:rPr lang="en-GB" b="1" i="1">
                          <a:latin typeface="Cambria Math"/>
                        </a:rPr>
                        <m:t>𝟏</m:t>
                      </m:r>
                    </m:oMath>
                  </m:oMathPara>
                </a14:m>
              </mc:Choice>
              <mc:Fallback/>
            </mc:AlternateContent>
            <a:endParaRPr lang="en-GB" b="1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sec</m:t>
                          </m:r>
                        </m:fName>
                        <m:e>
                          <m:f>
                            <m:f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5</m:t>
                              </m:r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𝜋</m:t>
                              </m:r>
                            </m:num>
                            <m:den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e>
                      </m:func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r>
                        <m:rPr/>
                        <a:rPr lang="en-GB" b="1" i="1">
                          <a:latin typeface="Cambria Math"/>
                        </a:rPr>
                        <m:t>𝒔𝒆𝒄</m:t>
                      </m:r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1" i="1">
                              <a:latin typeface="Cambria Math"/>
                            </a:rPr>
                            <m:t>𝝅</m:t>
                          </m:r>
                        </m:num>
                        <m:den>
                          <m:r>
                            <m:rPr/>
                            <a:rPr lang="en-GB" b="1" i="1"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r>
                        <m:rPr/>
                        <a:rPr lang="en-GB" b="1" i="1">
                          <a:latin typeface="Cambria Math"/>
                        </a:rPr>
                        <m:t>𝟐</m:t>
                      </m:r>
                    </m:oMath>
                  </m:oMathPara>
                </a14:m>
              </mc:Choice>
              <mc:Fallback/>
            </mc:AlternateContent>
            <a:endParaRPr lang="en-GB" b="1"/>
          </a:p>
        </p:txBody>
      </p:sp>
      <p:sp>
        <p:nvSpPr>
          <p:cNvPr id="814515634" name="Rectangle 9"/>
          <p:cNvSpPr/>
          <p:nvPr/>
        </p:nvSpPr>
        <p:spPr bwMode="auto">
          <a:xfrm>
            <a:off x="1403648" y="1980276"/>
            <a:ext cx="1584175" cy="7286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487194826" name="Rectangle 10"/>
          <p:cNvSpPr/>
          <p:nvPr/>
        </p:nvSpPr>
        <p:spPr bwMode="auto">
          <a:xfrm>
            <a:off x="1403646" y="2717483"/>
            <a:ext cx="1934463" cy="8409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1836779316" name="Rectangle 11"/>
          <p:cNvSpPr/>
          <p:nvPr/>
        </p:nvSpPr>
        <p:spPr bwMode="auto">
          <a:xfrm>
            <a:off x="1565665" y="3558448"/>
            <a:ext cx="1934463" cy="68304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146096251" name="Rectangle 12"/>
          <p:cNvSpPr/>
          <p:nvPr/>
        </p:nvSpPr>
        <p:spPr bwMode="auto">
          <a:xfrm>
            <a:off x="1403646" y="4241493"/>
            <a:ext cx="678541" cy="49944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1498737989" name="Rectangle 13"/>
          <p:cNvSpPr/>
          <p:nvPr/>
        </p:nvSpPr>
        <p:spPr bwMode="auto">
          <a:xfrm>
            <a:off x="1755720" y="4740934"/>
            <a:ext cx="1232104" cy="49944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1604096830" name="Rectangle 14"/>
          <p:cNvSpPr/>
          <p:nvPr/>
        </p:nvSpPr>
        <p:spPr bwMode="auto">
          <a:xfrm>
            <a:off x="5580112" y="2017282"/>
            <a:ext cx="864755" cy="61962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805767065" name="Rectangle 15"/>
          <p:cNvSpPr/>
          <p:nvPr/>
        </p:nvSpPr>
        <p:spPr bwMode="auto">
          <a:xfrm>
            <a:off x="5580112" y="2636912"/>
            <a:ext cx="864755" cy="62782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1833776421" name="Rectangle 16"/>
          <p:cNvSpPr/>
          <p:nvPr/>
        </p:nvSpPr>
        <p:spPr bwMode="auto">
          <a:xfrm>
            <a:off x="5796136" y="3248523"/>
            <a:ext cx="864755" cy="4610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1779705134" name="Rectangle 17"/>
          <p:cNvSpPr/>
          <p:nvPr/>
        </p:nvSpPr>
        <p:spPr bwMode="auto">
          <a:xfrm>
            <a:off x="5718221" y="3688035"/>
            <a:ext cx="1086027" cy="4610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grpSp>
        <p:nvGrpSpPr>
          <p:cNvPr id="2088523742" name="Group 1"/>
          <p:cNvGrpSpPr/>
          <p:nvPr/>
        </p:nvGrpSpPr>
        <p:grpSpPr bwMode="auto"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/>
                <a:t>Calculations</a:t>
              </a:r>
              <a:endParaRPr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805536566" name="TextBox 4"/>
          <p:cNvSpPr txBox="1"/>
          <p:nvPr/>
        </p:nvSpPr>
        <p:spPr bwMode="auto">
          <a:xfrm>
            <a:off x="251520" y="764704"/>
            <a:ext cx="813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You have a calculator in A Level exams, but won’t however in STEP, etc. It’s good however to know how to calculate certain values yourself if needed.</a:t>
            </a:r>
            <a:endParaRPr/>
          </a:p>
        </p:txBody>
      </p:sp>
      <p:cxnSp>
        <p:nvCxnSpPr>
          <p:cNvPr id="1696110390" name="Straight Connector 8"/>
          <p:cNvCxnSpPr/>
          <p:nvPr/>
        </p:nvCxnSpPr>
        <p:spPr bwMode="auto">
          <a:xfrm>
            <a:off x="4319972" y="1988840"/>
            <a:ext cx="0" cy="3600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145156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145156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451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451563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871948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871948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719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719482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8367793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836779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677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3677931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460962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6096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096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609625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4987379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987379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873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98737989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6040968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6040968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4096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0409683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8057670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8057670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576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5767065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833776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833776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77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33776421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779705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779705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970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9705134"/>
                  </p:tgtEl>
                </p:cond>
              </p:nextCondLst>
            </p:seq>
          </p:childTnLst>
        </p:cTn>
      </p:par>
    </p:tnLst>
    <p:bldLst>
      <p:bldP spid="814515634" grpId="0" animBg="1"/>
      <p:bldP spid="487194826" grpId="0" animBg="1"/>
      <p:bldP spid="1836779316" grpId="0" animBg="1"/>
      <p:bldP spid="146096251" grpId="0" animBg="1"/>
      <p:bldP spid="1498737989" grpId="0" animBg="1"/>
      <p:bldP spid="1604096830" grpId="0" animBg="1"/>
      <p:bldP spid="805767065" grpId="0" animBg="1"/>
      <p:bldP spid="1833776421" grpId="0" animBg="1"/>
      <p:bldP spid="17797051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29787312" name="Group 1"/>
          <p:cNvGrpSpPr/>
          <p:nvPr/>
        </p:nvGrpSpPr>
        <p:grpSpPr bwMode="auto"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>
                  <a:latin typeface="+mj-lt"/>
                </a:rPr>
                <a:t>Exercises 6A</a:t>
              </a:r>
              <a:endParaRPr lang="en-GB" sz="3200"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76403012" name="TextBox 4"/>
          <p:cNvSpPr txBox="1"/>
          <p:nvPr/>
        </p:nvSpPr>
        <p:spPr bwMode="auto">
          <a:xfrm>
            <a:off x="236048" y="662045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400"/>
              <a:t>Pearson Pure Mathematics Year 2/AS</a:t>
            </a:r>
            <a:endParaRPr/>
          </a:p>
          <a:p>
            <a:pPr>
              <a:defRPr/>
            </a:pPr>
            <a:r>
              <a:rPr lang="en-GB" sz="2400"/>
              <a:t>Page 144</a:t>
            </a:r>
            <a:endParaRPr/>
          </a:p>
        </p:txBody>
      </p:sp>
      <p:cxnSp>
        <p:nvCxnSpPr>
          <p:cNvPr id="84095122" name="Straight Connector 5"/>
          <p:cNvCxnSpPr/>
          <p:nvPr/>
        </p:nvCxnSpPr>
        <p:spPr bwMode="auto">
          <a:xfrm>
            <a:off x="0" y="1594754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2699140" name="Group 1"/>
          <p:cNvGrpSpPr/>
          <p:nvPr/>
        </p:nvGrpSpPr>
        <p:grpSpPr bwMode="auto"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/>
                <a:t>Sketches</a:t>
              </a:r>
              <a:endParaRPr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455621684" name="TextBox 4"/>
          <p:cNvSpPr txBox="1"/>
          <p:nvPr/>
        </p:nvSpPr>
        <p:spPr bwMode="auto">
          <a:xfrm>
            <a:off x="221928" y="721161"/>
            <a:ext cx="88202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To draw a graph of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𝑦</m:t>
                      </m:r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𝑐𝑜𝑠𝑒𝑐</m:t>
                      </m:r>
                      <m:r>
                        <m:rPr/>
                        <a:rPr lang="en-GB" b="0" i="1">
                          <a:latin typeface="Cambria Math"/>
                        </a:rPr>
                        <m:t> 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𝑥</m:t>
                      </m:r>
                    </m:oMath>
                  </m:oMathPara>
                </a14:m>
              </mc:Choice>
              <mc:Fallback/>
            </mc:AlternateContent>
            <a:r>
              <a:rPr lang="en-GB"/>
              <a:t>, start with a graph of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𝑦</m:t>
                      </m:r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/>
              <a:t>, then consider what happens when we reciprocate each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𝑦</m:t>
                      </m:r>
                    </m:oMath>
                  </m:oMathPara>
                </a14:m>
              </mc:Choice>
              <mc:Fallback/>
            </mc:AlternateContent>
            <a:r>
              <a:rPr lang="en-GB"/>
              <a:t> value.</a:t>
            </a:r>
            <a:endParaRPr/>
          </a:p>
        </p:txBody>
      </p:sp>
      <p:cxnSp>
        <p:nvCxnSpPr>
          <p:cNvPr id="1865756658" name="Straight Arrow Connector 5"/>
          <p:cNvCxnSpPr/>
          <p:nvPr/>
        </p:nvCxnSpPr>
        <p:spPr bwMode="auto">
          <a:xfrm>
            <a:off x="1654467" y="3853327"/>
            <a:ext cx="5304612" cy="11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65100221" name="Straight Arrow Connector 6"/>
          <p:cNvCxnSpPr>
            <a:endCxn id="1244449564" idx="2"/>
          </p:cNvCxnSpPr>
          <p:nvPr/>
        </p:nvCxnSpPr>
        <p:spPr bwMode="auto">
          <a:xfrm flipV="1">
            <a:off x="1654467" y="2318200"/>
            <a:ext cx="0" cy="2933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44449564" name="TextBox 8"/>
          <p:cNvSpPr txBox="1"/>
          <p:nvPr/>
        </p:nvSpPr>
        <p:spPr bwMode="auto">
          <a:xfrm>
            <a:off x="1482139" y="1918090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𝑦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cxnSp>
        <p:nvCxnSpPr>
          <p:cNvPr id="468370725" name="Straight Connector 11"/>
          <p:cNvCxnSpPr/>
          <p:nvPr/>
        </p:nvCxnSpPr>
        <p:spPr bwMode="auto">
          <a:xfrm flipH="1" flipV="1">
            <a:off x="3969614" y="1521761"/>
            <a:ext cx="16630" cy="4787559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0266429" name="TextBox 14"/>
          <p:cNvSpPr txBox="1"/>
          <p:nvPr/>
        </p:nvSpPr>
        <p:spPr bwMode="auto">
          <a:xfrm rot="2328481">
            <a:off x="2705953" y="3258703"/>
            <a:ext cx="1146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0" i="1">
                          <a:latin typeface="Cambria Math"/>
                        </a:rPr>
                        <m:t>𝑦</m:t>
                      </m:r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sp>
        <p:nvSpPr>
          <p:cNvPr id="668432365" name="TextBox 19"/>
          <p:cNvSpPr txBox="1"/>
          <p:nvPr/>
        </p:nvSpPr>
        <p:spPr bwMode="auto">
          <a:xfrm>
            <a:off x="6929353" y="3653272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𝑥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903391972" name="TextBox 23"/>
          <p:cNvSpPr txBox="1"/>
          <p:nvPr/>
        </p:nvSpPr>
        <p:spPr bwMode="auto">
          <a:xfrm>
            <a:off x="1309811" y="2779760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1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413162652" name="TextBox 24"/>
          <p:cNvSpPr txBox="1"/>
          <p:nvPr/>
        </p:nvSpPr>
        <p:spPr bwMode="auto">
          <a:xfrm>
            <a:off x="1179936" y="4569352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−1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575287560" name="TextBox 25"/>
          <p:cNvSpPr txBox="1"/>
          <p:nvPr/>
        </p:nvSpPr>
        <p:spPr bwMode="auto">
          <a:xfrm>
            <a:off x="3774926" y="3842457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856018111" name="TextBox 26"/>
          <p:cNvSpPr txBox="1"/>
          <p:nvPr/>
        </p:nvSpPr>
        <p:spPr bwMode="auto">
          <a:xfrm>
            <a:off x="5991794" y="3842457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2</m:t>
                      </m:r>
                      <m:r>
                        <m:rPr/>
                        <a:rPr lang="en-GB" sz="2000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174566035" name="TextBox 27"/>
          <p:cNvSpPr txBox="1"/>
          <p:nvPr/>
        </p:nvSpPr>
        <p:spPr bwMode="auto">
          <a:xfrm>
            <a:off x="2571720" y="3816517"/>
            <a:ext cx="344656" cy="668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lang="en-GB" sz="20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2000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/>
                            <a:rPr lang="en-GB" sz="2000" b="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m:rPr/>
                        <a:rPr lang="en-GB" sz="2000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513266328" name="TextBox 28"/>
          <p:cNvSpPr txBox="1"/>
          <p:nvPr/>
        </p:nvSpPr>
        <p:spPr bwMode="auto">
          <a:xfrm>
            <a:off x="4767231" y="3816517"/>
            <a:ext cx="344656" cy="668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lang="en-GB" sz="20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2000" b="0" i="1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m:rPr/>
                            <a:rPr lang="en-GB" sz="2000" b="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m:rPr/>
                        <a:rPr lang="en-GB" sz="2000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2108142543" name="Freeform 29"/>
          <p:cNvSpPr/>
          <p:nvPr/>
        </p:nvSpPr>
        <p:spPr bwMode="auto">
          <a:xfrm>
            <a:off x="1663547" y="2952521"/>
            <a:ext cx="4560983" cy="2027107"/>
          </a:xfrm>
          <a:custGeom>
            <a:avLst/>
            <a:gdLst>
              <a:gd name="connsiteX0" fmla="*/ 0 w 4318612"/>
              <a:gd name="connsiteY0" fmla="*/ 925417 h 2016087"/>
              <a:gd name="connsiteX1" fmla="*/ 1035586 w 4318612"/>
              <a:gd name="connsiteY1" fmla="*/ 0 h 2016087"/>
              <a:gd name="connsiteX2" fmla="*/ 2269475 w 4318612"/>
              <a:gd name="connsiteY2" fmla="*/ 925417 h 2016087"/>
              <a:gd name="connsiteX3" fmla="*/ 3316077 w 4318612"/>
              <a:gd name="connsiteY3" fmla="*/ 2016087 h 2016087"/>
              <a:gd name="connsiteX4" fmla="*/ 4318612 w 4318612"/>
              <a:gd name="connsiteY4" fmla="*/ 925417 h 2016087"/>
              <a:gd name="connsiteX0" fmla="*/ 0 w 4560983"/>
              <a:gd name="connsiteY0" fmla="*/ 925417 h 2016090"/>
              <a:gd name="connsiteX1" fmla="*/ 1035586 w 4560983"/>
              <a:gd name="connsiteY1" fmla="*/ 0 h 2016090"/>
              <a:gd name="connsiteX2" fmla="*/ 2269475 w 4560983"/>
              <a:gd name="connsiteY2" fmla="*/ 925417 h 2016090"/>
              <a:gd name="connsiteX3" fmla="*/ 3316077 w 4560983"/>
              <a:gd name="connsiteY3" fmla="*/ 2016087 h 2016090"/>
              <a:gd name="connsiteX4" fmla="*/ 4560983 w 4560983"/>
              <a:gd name="connsiteY4" fmla="*/ 914400 h 2016090"/>
              <a:gd name="connsiteX0" fmla="*/ 0 w 4560983"/>
              <a:gd name="connsiteY0" fmla="*/ 925417 h 2027107"/>
              <a:gd name="connsiteX1" fmla="*/ 1035586 w 4560983"/>
              <a:gd name="connsiteY1" fmla="*/ 0 h 2027107"/>
              <a:gd name="connsiteX2" fmla="*/ 2269475 w 4560983"/>
              <a:gd name="connsiteY2" fmla="*/ 925417 h 2027107"/>
              <a:gd name="connsiteX3" fmla="*/ 3470313 w 4560983"/>
              <a:gd name="connsiteY3" fmla="*/ 2027104 h 2027107"/>
              <a:gd name="connsiteX4" fmla="*/ 4560983 w 4560983"/>
              <a:gd name="connsiteY4" fmla="*/ 914400 h 202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60983" h="2027107" fill="norm" stroke="1" extrusionOk="0">
                <a:moveTo>
                  <a:pt x="0" y="925417"/>
                </a:moveTo>
                <a:cubicBezTo>
                  <a:pt x="328670" y="462708"/>
                  <a:pt x="657340" y="0"/>
                  <a:pt x="1035586" y="0"/>
                </a:cubicBezTo>
                <a:cubicBezTo>
                  <a:pt x="1413832" y="0"/>
                  <a:pt x="1863687" y="587566"/>
                  <a:pt x="2269475" y="925417"/>
                </a:cubicBezTo>
                <a:cubicBezTo>
                  <a:pt x="2675263" y="1263268"/>
                  <a:pt x="3088395" y="2028940"/>
                  <a:pt x="3470313" y="2027104"/>
                </a:cubicBezTo>
                <a:cubicBezTo>
                  <a:pt x="3852231" y="2025268"/>
                  <a:pt x="4230477" y="1459735"/>
                  <a:pt x="4560983" y="91440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24015795" name="Freeform 30"/>
          <p:cNvSpPr/>
          <p:nvPr/>
        </p:nvSpPr>
        <p:spPr bwMode="auto">
          <a:xfrm>
            <a:off x="1707614" y="1454226"/>
            <a:ext cx="2137273" cy="1510234"/>
          </a:xfrm>
          <a:custGeom>
            <a:avLst/>
            <a:gdLst>
              <a:gd name="connsiteX0" fmla="*/ 0 w 1983037"/>
              <a:gd name="connsiteY0" fmla="*/ 0 h 1334648"/>
              <a:gd name="connsiteX1" fmla="*/ 143220 w 1983037"/>
              <a:gd name="connsiteY1" fmla="*/ 683046 h 1334648"/>
              <a:gd name="connsiteX2" fmla="*/ 594911 w 1983037"/>
              <a:gd name="connsiteY2" fmla="*/ 1178805 h 1334648"/>
              <a:gd name="connsiteX3" fmla="*/ 1013552 w 1983037"/>
              <a:gd name="connsiteY3" fmla="*/ 1333041 h 1334648"/>
              <a:gd name="connsiteX4" fmla="*/ 1410159 w 1983037"/>
              <a:gd name="connsiteY4" fmla="*/ 1211856 h 1334648"/>
              <a:gd name="connsiteX5" fmla="*/ 1861851 w 1983037"/>
              <a:gd name="connsiteY5" fmla="*/ 583894 h 1334648"/>
              <a:gd name="connsiteX6" fmla="*/ 1983037 w 1983037"/>
              <a:gd name="connsiteY6" fmla="*/ 0 h 1334648"/>
              <a:gd name="connsiteX0" fmla="*/ 0 w 2137273"/>
              <a:gd name="connsiteY0" fmla="*/ 176270 h 1510918"/>
              <a:gd name="connsiteX1" fmla="*/ 143220 w 2137273"/>
              <a:gd name="connsiteY1" fmla="*/ 859316 h 1510918"/>
              <a:gd name="connsiteX2" fmla="*/ 594911 w 2137273"/>
              <a:gd name="connsiteY2" fmla="*/ 1355075 h 1510918"/>
              <a:gd name="connsiteX3" fmla="*/ 1013552 w 2137273"/>
              <a:gd name="connsiteY3" fmla="*/ 1509311 h 1510918"/>
              <a:gd name="connsiteX4" fmla="*/ 1410159 w 2137273"/>
              <a:gd name="connsiteY4" fmla="*/ 1388126 h 1510918"/>
              <a:gd name="connsiteX5" fmla="*/ 1861851 w 2137273"/>
              <a:gd name="connsiteY5" fmla="*/ 760164 h 1510918"/>
              <a:gd name="connsiteX6" fmla="*/ 2137273 w 2137273"/>
              <a:gd name="connsiteY6" fmla="*/ 0 h 1510918"/>
              <a:gd name="connsiteX0" fmla="*/ 0 w 2137273"/>
              <a:gd name="connsiteY0" fmla="*/ 176270 h 1510234"/>
              <a:gd name="connsiteX1" fmla="*/ 143220 w 2137273"/>
              <a:gd name="connsiteY1" fmla="*/ 859316 h 1510234"/>
              <a:gd name="connsiteX2" fmla="*/ 594911 w 2137273"/>
              <a:gd name="connsiteY2" fmla="*/ 1355075 h 1510234"/>
              <a:gd name="connsiteX3" fmla="*/ 1013552 w 2137273"/>
              <a:gd name="connsiteY3" fmla="*/ 1509311 h 1510234"/>
              <a:gd name="connsiteX4" fmla="*/ 1410159 w 2137273"/>
              <a:gd name="connsiteY4" fmla="*/ 1388126 h 1510234"/>
              <a:gd name="connsiteX5" fmla="*/ 1861851 w 2137273"/>
              <a:gd name="connsiteY5" fmla="*/ 848299 h 1510234"/>
              <a:gd name="connsiteX6" fmla="*/ 2137273 w 2137273"/>
              <a:gd name="connsiteY6" fmla="*/ 0 h 1510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7273" h="1510234" fill="norm" stroke="1" extrusionOk="0">
                <a:moveTo>
                  <a:pt x="0" y="176270"/>
                </a:moveTo>
                <a:cubicBezTo>
                  <a:pt x="22034" y="419559"/>
                  <a:pt x="44068" y="662849"/>
                  <a:pt x="143220" y="859316"/>
                </a:cubicBezTo>
                <a:cubicBezTo>
                  <a:pt x="242372" y="1055783"/>
                  <a:pt x="449856" y="1246743"/>
                  <a:pt x="594911" y="1355075"/>
                </a:cubicBezTo>
                <a:cubicBezTo>
                  <a:pt x="739966" y="1463407"/>
                  <a:pt x="877677" y="1503803"/>
                  <a:pt x="1013552" y="1509311"/>
                </a:cubicBezTo>
                <a:cubicBezTo>
                  <a:pt x="1149427" y="1514819"/>
                  <a:pt x="1268776" y="1498295"/>
                  <a:pt x="1410159" y="1388126"/>
                </a:cubicBezTo>
                <a:cubicBezTo>
                  <a:pt x="1551542" y="1277957"/>
                  <a:pt x="1740665" y="1079653"/>
                  <a:pt x="1861851" y="848299"/>
                </a:cubicBezTo>
                <a:cubicBezTo>
                  <a:pt x="1983037" y="616945"/>
                  <a:pt x="2124420" y="190959"/>
                  <a:pt x="2137273" y="0"/>
                </a:cubicBezTo>
              </a:path>
            </a:pathLst>
          </a:cu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2044198266" name="Straight Connector 32"/>
          <p:cNvCxnSpPr/>
          <p:nvPr/>
        </p:nvCxnSpPr>
        <p:spPr bwMode="auto">
          <a:xfrm flipV="1">
            <a:off x="6230176" y="1521761"/>
            <a:ext cx="13241" cy="4957081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16398201" name="Freeform 33"/>
          <p:cNvSpPr/>
          <p:nvPr/>
        </p:nvSpPr>
        <p:spPr bwMode="auto">
          <a:xfrm rot="10800000">
            <a:off x="4039574" y="4968606"/>
            <a:ext cx="2137273" cy="1510234"/>
          </a:xfrm>
          <a:custGeom>
            <a:avLst/>
            <a:gdLst>
              <a:gd name="connsiteX0" fmla="*/ 0 w 1983037"/>
              <a:gd name="connsiteY0" fmla="*/ 0 h 1334648"/>
              <a:gd name="connsiteX1" fmla="*/ 143220 w 1983037"/>
              <a:gd name="connsiteY1" fmla="*/ 683046 h 1334648"/>
              <a:gd name="connsiteX2" fmla="*/ 594911 w 1983037"/>
              <a:gd name="connsiteY2" fmla="*/ 1178805 h 1334648"/>
              <a:gd name="connsiteX3" fmla="*/ 1013552 w 1983037"/>
              <a:gd name="connsiteY3" fmla="*/ 1333041 h 1334648"/>
              <a:gd name="connsiteX4" fmla="*/ 1410159 w 1983037"/>
              <a:gd name="connsiteY4" fmla="*/ 1211856 h 1334648"/>
              <a:gd name="connsiteX5" fmla="*/ 1861851 w 1983037"/>
              <a:gd name="connsiteY5" fmla="*/ 583894 h 1334648"/>
              <a:gd name="connsiteX6" fmla="*/ 1983037 w 1983037"/>
              <a:gd name="connsiteY6" fmla="*/ 0 h 1334648"/>
              <a:gd name="connsiteX0" fmla="*/ 0 w 2137273"/>
              <a:gd name="connsiteY0" fmla="*/ 176270 h 1510918"/>
              <a:gd name="connsiteX1" fmla="*/ 143220 w 2137273"/>
              <a:gd name="connsiteY1" fmla="*/ 859316 h 1510918"/>
              <a:gd name="connsiteX2" fmla="*/ 594911 w 2137273"/>
              <a:gd name="connsiteY2" fmla="*/ 1355075 h 1510918"/>
              <a:gd name="connsiteX3" fmla="*/ 1013552 w 2137273"/>
              <a:gd name="connsiteY3" fmla="*/ 1509311 h 1510918"/>
              <a:gd name="connsiteX4" fmla="*/ 1410159 w 2137273"/>
              <a:gd name="connsiteY4" fmla="*/ 1388126 h 1510918"/>
              <a:gd name="connsiteX5" fmla="*/ 1861851 w 2137273"/>
              <a:gd name="connsiteY5" fmla="*/ 760164 h 1510918"/>
              <a:gd name="connsiteX6" fmla="*/ 2137273 w 2137273"/>
              <a:gd name="connsiteY6" fmla="*/ 0 h 1510918"/>
              <a:gd name="connsiteX0" fmla="*/ 0 w 2137273"/>
              <a:gd name="connsiteY0" fmla="*/ 176270 h 1510234"/>
              <a:gd name="connsiteX1" fmla="*/ 143220 w 2137273"/>
              <a:gd name="connsiteY1" fmla="*/ 859316 h 1510234"/>
              <a:gd name="connsiteX2" fmla="*/ 594911 w 2137273"/>
              <a:gd name="connsiteY2" fmla="*/ 1355075 h 1510234"/>
              <a:gd name="connsiteX3" fmla="*/ 1013552 w 2137273"/>
              <a:gd name="connsiteY3" fmla="*/ 1509311 h 1510234"/>
              <a:gd name="connsiteX4" fmla="*/ 1410159 w 2137273"/>
              <a:gd name="connsiteY4" fmla="*/ 1388126 h 1510234"/>
              <a:gd name="connsiteX5" fmla="*/ 1861851 w 2137273"/>
              <a:gd name="connsiteY5" fmla="*/ 848299 h 1510234"/>
              <a:gd name="connsiteX6" fmla="*/ 2137273 w 2137273"/>
              <a:gd name="connsiteY6" fmla="*/ 0 h 1510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7273" h="1510234" fill="norm" stroke="1" extrusionOk="0">
                <a:moveTo>
                  <a:pt x="0" y="176270"/>
                </a:moveTo>
                <a:cubicBezTo>
                  <a:pt x="22034" y="419559"/>
                  <a:pt x="44068" y="662849"/>
                  <a:pt x="143220" y="859316"/>
                </a:cubicBezTo>
                <a:cubicBezTo>
                  <a:pt x="242372" y="1055783"/>
                  <a:pt x="449856" y="1246743"/>
                  <a:pt x="594911" y="1355075"/>
                </a:cubicBezTo>
                <a:cubicBezTo>
                  <a:pt x="739966" y="1463407"/>
                  <a:pt x="877677" y="1503803"/>
                  <a:pt x="1013552" y="1509311"/>
                </a:cubicBezTo>
                <a:cubicBezTo>
                  <a:pt x="1149427" y="1514819"/>
                  <a:pt x="1268776" y="1498295"/>
                  <a:pt x="1410159" y="1388126"/>
                </a:cubicBezTo>
                <a:cubicBezTo>
                  <a:pt x="1551542" y="1277957"/>
                  <a:pt x="1740665" y="1079653"/>
                  <a:pt x="1861851" y="848299"/>
                </a:cubicBezTo>
                <a:cubicBezTo>
                  <a:pt x="1983037" y="616945"/>
                  <a:pt x="2124420" y="190959"/>
                  <a:pt x="2137273" y="0"/>
                </a:cubicBezTo>
              </a:path>
            </a:pathLst>
          </a:cu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559916944" name="TextBox 37"/>
          <p:cNvSpPr txBox="1"/>
          <p:nvPr/>
        </p:nvSpPr>
        <p:spPr bwMode="auto">
          <a:xfrm rot="17885707">
            <a:off x="2627671" y="1868651"/>
            <a:ext cx="1569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1" i="1">
                          <a:solidFill>
                            <a:schemeClr val="tx2"/>
                          </a:solidFill>
                          <a:latin typeface="Cambria Math"/>
                        </a:rPr>
                        <m:t>𝒚</m:t>
                      </m:r>
                      <m:r>
                        <m:rPr/>
                        <a:rPr lang="en-GB" b="1" i="1">
                          <a:solidFill>
                            <a:schemeClr val="tx2"/>
                          </a:solidFill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solidFill>
                                <a:schemeClr val="tx2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/>
                            <a:rPr lang="en-GB" b="1" i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𝐜𝐨𝐬𝐞𝐜</m:t>
                          </m:r>
                        </m:fName>
                        <m:e>
                          <m:r>
                            <m:rPr/>
                            <a:rPr lang="en-GB" b="1" i="1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 b="1">
              <a:solidFill>
                <a:schemeClr val="tx2"/>
              </a:solidFill>
            </a:endParaRPr>
          </a:p>
        </p:txBody>
      </p:sp>
      <p:sp>
        <p:nvSpPr>
          <p:cNvPr id="1663721244" name="Rectangle 38"/>
          <p:cNvSpPr/>
          <p:nvPr/>
        </p:nvSpPr>
        <p:spPr bwMode="auto">
          <a:xfrm>
            <a:off x="6959079" y="2134254"/>
            <a:ext cx="1872208" cy="59200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b="1"/>
              <a:t>Click to </a:t>
            </a:r>
            <a:r>
              <a:rPr lang="en-GB" b="1"/>
              <a:t>Frosketch</a:t>
            </a:r>
            <a:r>
              <a:rPr lang="en-GB" b="1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1" i="1">
                          <a:latin typeface="Cambria Math"/>
                        </a:rPr>
                        <m:t>𝒚</m:t>
                      </m:r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r>
                        <m:rPr/>
                        <a:rPr lang="en-GB" b="1" i="1">
                          <a:latin typeface="Cambria Math"/>
                        </a:rPr>
                        <m:t>𝒄𝒐𝒔𝒆𝒄</m:t>
                      </m:r>
                      <m:r>
                        <m:rPr/>
                        <a:rPr lang="en-GB" b="1" i="1">
                          <a:latin typeface="Cambria Math"/>
                        </a:rPr>
                        <m:t> </m:t>
                      </m:r>
                      <m:r>
                        <m:rPr/>
                        <a:rPr lang="en-GB" b="1" i="1">
                          <a:latin typeface="Cambria Math"/>
                        </a:rPr>
                        <m:t>𝒙</m:t>
                      </m:r>
                    </m:oMath>
                  </m:oMathPara>
                </a14:m>
              </mc:Choice>
              <mc:Fallback/>
            </mc:AlternateContent>
            <a:endParaRPr lang="en-GB" b="1"/>
          </a:p>
        </p:txBody>
      </p:sp>
      <p:grpSp>
        <p:nvGrpSpPr>
          <p:cNvPr id="452481780" name="Group 43"/>
          <p:cNvGrpSpPr/>
          <p:nvPr/>
        </p:nvGrpSpPr>
        <p:grpSpPr bwMode="auto">
          <a:xfrm>
            <a:off x="86490" y="1728681"/>
            <a:ext cx="2220924" cy="1211466"/>
            <a:chOff x="86490" y="1728681"/>
            <a:chExt cx="2220924" cy="1211466"/>
          </a:xfrm>
        </p:grpSpPr>
        <p:sp>
          <p:nvSpPr>
            <p:cNvPr id="40" name="TextBox 39"/>
            <p:cNvSpPr txBox="1"/>
            <p:nvPr/>
          </p:nvSpPr>
          <p:spPr bwMode="auto">
            <a:xfrm>
              <a:off x="86490" y="1728681"/>
              <a:ext cx="1351574" cy="1077218"/>
            </a:xfrm>
            <a:prstGeom prst="rect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GB" sz="1600"/>
                <a:t>It touches here because the reciprocal of 1 is 1.</a:t>
              </a:r>
              <a:endParaRPr/>
            </a:p>
          </p:txBody>
        </p:sp>
        <p:cxnSp>
          <p:nvCxnSpPr>
            <p:cNvPr id="42" name="Straight Arrow Connector 41"/>
            <p:cNvCxnSpPr>
              <a:stCxn id="40" idx="3"/>
            </p:cNvCxnSpPr>
            <p:nvPr/>
          </p:nvCxnSpPr>
          <p:spPr bwMode="auto">
            <a:xfrm>
              <a:off x="1438064" y="2267290"/>
              <a:ext cx="869350" cy="672857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10280536" name="Group 44"/>
          <p:cNvGrpSpPr/>
          <p:nvPr/>
        </p:nvGrpSpPr>
        <p:grpSpPr bwMode="auto">
          <a:xfrm>
            <a:off x="4069452" y="1958994"/>
            <a:ext cx="1991105" cy="1662610"/>
            <a:chOff x="-225813" y="1728681"/>
            <a:chExt cx="1991105" cy="1662610"/>
          </a:xfrm>
        </p:grpSpPr>
        <p:sp>
          <p:nvSpPr>
            <p:cNvPr id="46" name="TextBox 45"/>
            <p:cNvSpPr txBox="1"/>
            <p:nvPr/>
          </p:nvSpPr>
          <p:spPr bwMode="auto">
            <a:xfrm>
              <a:off x="86489" y="1728681"/>
              <a:ext cx="1678803" cy="1569660"/>
            </a:xfrm>
            <a:prstGeom prst="rect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r>
                          <m:rPr/>
                          <a:rPr lang="en-GB" sz="1600" b="0" i="1">
                            <a:latin typeface="Cambria Math"/>
                          </a:rPr>
                          <m:t>𝑐𝑜𝑠𝑒𝑐</m:t>
                        </m:r>
                      </m:oMath>
                    </m:oMathPara>
                  </a14:m>
                </mc:Choice>
                <mc:Fallback/>
              </mc:AlternateContent>
              <a:r>
                <a:rPr lang="en-GB" sz="1600"/>
                <a:t> isn’t defined for multiples of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r>
                          <m:rPr/>
                          <a:rPr lang="en-GB" sz="1600" b="0" i="1">
                            <a:latin typeface="Cambria Math"/>
                          </a:rPr>
                          <m:t>𝜋</m:t>
                        </m:r>
                      </m:oMath>
                    </m:oMathPara>
                  </a14:m>
                </mc:Choice>
                <mc:Fallback/>
              </mc:AlternateContent>
              <a:r>
                <a:rPr lang="en-GB" sz="1600"/>
                <a:t> because we can’t divide by 0. We get an asymptote.</a:t>
              </a:r>
              <a:endParaRPr/>
            </a:p>
          </p:txBody>
        </p:sp>
        <p:cxnSp>
          <p:nvCxnSpPr>
            <p:cNvPr id="47" name="Straight Arrow Connector 46"/>
            <p:cNvCxnSpPr>
              <a:stCxn id="46" idx="1"/>
            </p:cNvCxnSpPr>
            <p:nvPr/>
          </p:nvCxnSpPr>
          <p:spPr bwMode="auto">
            <a:xfrm flipH="1">
              <a:off x="-225813" y="2513511"/>
              <a:ext cx="312302" cy="87778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6549583" name="Group 49"/>
          <p:cNvGrpSpPr/>
          <p:nvPr/>
        </p:nvGrpSpPr>
        <p:grpSpPr bwMode="auto">
          <a:xfrm>
            <a:off x="1518527" y="1838070"/>
            <a:ext cx="2326360" cy="4894845"/>
            <a:chOff x="-461792" y="-1451777"/>
            <a:chExt cx="2326360" cy="4894845"/>
          </a:xfrm>
        </p:grpSpPr>
        <p:sp>
          <p:nvSpPr>
            <p:cNvPr id="51" name="TextBox 50"/>
            <p:cNvSpPr txBox="1"/>
            <p:nvPr/>
          </p:nvSpPr>
          <p:spPr bwMode="auto">
            <a:xfrm>
              <a:off x="-461792" y="2058073"/>
              <a:ext cx="1893791" cy="1384995"/>
            </a:xfrm>
            <a:prstGeom prst="rect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GB" sz="1400"/>
                <a:t>Reciprocating preserves sign. When we divide by a small positive number, we get a very large positive number.</a:t>
              </a:r>
              <a:endParaRPr/>
            </a:p>
          </p:txBody>
        </p:sp>
        <p:cxnSp>
          <p:nvCxnSpPr>
            <p:cNvPr id="52" name="Straight Arrow Connector 51"/>
            <p:cNvCxnSpPr>
              <a:stCxn id="51" idx="0"/>
            </p:cNvCxnSpPr>
            <p:nvPr/>
          </p:nvCxnSpPr>
          <p:spPr bwMode="auto">
            <a:xfrm flipV="1">
              <a:off x="485104" y="-1451777"/>
              <a:ext cx="1379464" cy="350985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41633115" name="TextBox 9"/>
          <p:cNvSpPr txBox="1"/>
          <p:nvPr/>
        </p:nvSpPr>
        <p:spPr bwMode="auto">
          <a:xfrm>
            <a:off x="5652120" y="4808268"/>
            <a:ext cx="3373925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Domain:	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𝑥</m:t>
                      </m:r>
                      <m:r>
                        <m:rPr/>
                        <a:rPr lang="en-GB" b="0" i="1">
                          <a:latin typeface="Cambria Math"/>
                        </a:rPr>
                        <m:t>∈</m:t>
                      </m:r>
                      <m:r>
                        <m:rPr/>
                        <a:rPr lang="en-GB" b="0" i="1">
                          <a:latin typeface="Cambria Math"/>
                        </a:rPr>
                        <m:t>ℝ</m:t>
                      </m:r>
                      <m:r>
                        <m:rPr/>
                        <a:rPr lang="en-GB" b="0" i="1">
                          <a:latin typeface="Cambria Math"/>
                        </a:rPr>
                        <m:t>, 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𝑥</m:t>
                      </m:r>
                      <m:r>
                        <m:rPr/>
                        <a:rPr lang="en-GB" b="0" i="1">
                          <a:latin typeface="Cambria Math"/>
                        </a:rPr>
                        <m:t>≠±</m:t>
                      </m:r>
                      <m:r>
                        <m:rPr/>
                        <a:rPr lang="en-GB" b="0" i="1">
                          <a:latin typeface="Cambria Math"/>
                        </a:rPr>
                        <m:t>𝜋</m:t>
                      </m:r>
                      <m:r>
                        <m:rPr/>
                        <a:rPr lang="en-GB" b="0" i="1">
                          <a:latin typeface="Cambria Math"/>
                        </a:rPr>
                        <m:t>,±2</m:t>
                      </m:r>
                      <m:r>
                        <m:rPr/>
                        <a:rPr lang="en-GB" b="0" i="1">
                          <a:latin typeface="Cambria Math"/>
                        </a:rPr>
                        <m:t>𝜋</m:t>
                      </m:r>
                      <m:r>
                        <m:rPr/>
                        <a:rPr lang="en-GB" b="0" i="1">
                          <a:latin typeface="Cambria Math"/>
                        </a:rPr>
                        <m:t>,…</m:t>
                      </m:r>
                    </m:oMath>
                  </m:oMathPara>
                </a14:m>
              </mc:Choice>
              <mc:Fallback/>
            </mc:AlternateContent>
            <a:endParaRPr lang="en-GB"/>
          </a:p>
          <a:p>
            <a:pPr>
              <a:defRPr/>
            </a:pPr>
            <a:r>
              <a:rPr lang="en-GB"/>
              <a:t>Range:	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m:rPr/>
                        <a:rPr lang="en-GB" b="0" i="1">
                          <a:latin typeface="Cambria Math"/>
                        </a:rPr>
                        <m:t>≤−1 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𝑜𝑟</m:t>
                      </m:r>
                      <m:r>
                        <m:rPr/>
                        <a:rPr lang="en-GB" b="0" i="1">
                          <a:latin typeface="Cambria Math"/>
                        </a:rPr>
                        <m:t> 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m:rPr/>
                        <a:rPr lang="en-GB" b="0" i="1">
                          <a:latin typeface="Cambria Math"/>
                        </a:rPr>
                        <m:t>≥1</m:t>
                      </m:r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sp>
        <p:nvSpPr>
          <p:cNvPr id="880255473" name="Rectangle 36"/>
          <p:cNvSpPr/>
          <p:nvPr/>
        </p:nvSpPr>
        <p:spPr bwMode="auto">
          <a:xfrm>
            <a:off x="6601467" y="5121670"/>
            <a:ext cx="2339334" cy="33292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349324805" name="Rectangle 35"/>
          <p:cNvSpPr/>
          <p:nvPr/>
        </p:nvSpPr>
        <p:spPr bwMode="auto">
          <a:xfrm>
            <a:off x="6601048" y="4815983"/>
            <a:ext cx="2346160" cy="30568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63721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37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6837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419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204419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1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42401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39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151639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916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1559916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48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248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28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10280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4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6549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32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25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63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63721244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3493248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493248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32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9324805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8802554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8802554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25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0255473"/>
                  </p:tgtEl>
                </p:cond>
              </p:nextCondLst>
            </p:seq>
          </p:childTnLst>
        </p:cTn>
      </p:par>
    </p:tnLst>
    <p:bldLst>
      <p:bldP spid="424015795" grpId="0" animBg="1"/>
      <p:bldP spid="1516398201" grpId="0" animBg="1"/>
      <p:bldP spid="1559916944" grpId="0"/>
      <p:bldP spid="1241633115" grpId="0" animBg="1"/>
      <p:bldP spid="880255473" grpId="0" animBg="1"/>
      <p:bldP spid="880255473" grpId="1" animBg="1"/>
      <p:bldP spid="349324805" grpId="0" animBg="1"/>
      <p:bldP spid="349324805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722246" name="TextBox 27"/>
          <p:cNvSpPr txBox="1"/>
          <p:nvPr/>
        </p:nvSpPr>
        <p:spPr bwMode="auto">
          <a:xfrm>
            <a:off x="5419288" y="4785408"/>
            <a:ext cx="3590488" cy="76104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Domain:	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𝑥</m:t>
                      </m:r>
                      <m:r>
                        <m:rPr/>
                        <a:rPr lang="en-GB" b="0" i="1">
                          <a:latin typeface="Cambria Math"/>
                        </a:rPr>
                        <m:t>∈</m:t>
                      </m:r>
                      <m:r>
                        <m:rPr/>
                        <a:rPr lang="en-GB" b="0" i="1">
                          <a:latin typeface="Cambria Math"/>
                        </a:rPr>
                        <m:t>ℝ</m:t>
                      </m:r>
                      <m:r>
                        <m:rPr/>
                        <a:rPr lang="en-GB" b="0" i="1">
                          <a:latin typeface="Cambria Math"/>
                        </a:rPr>
                        <m:t>, 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𝑥</m:t>
                      </m:r>
                      <m:r>
                        <m:rPr/>
                        <a:rPr lang="en-GB" b="0" i="1">
                          <a:latin typeface="Cambria Math"/>
                        </a:rPr>
                        <m:t>≠±</m:t>
                      </m:r>
                      <m:f>
                        <m:f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/>
                            <a:rPr lang="en-GB" b="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m:rPr/>
                        <a:rPr lang="en-GB" b="0" i="1">
                          <a:latin typeface="Cambria Math"/>
                        </a:rPr>
                        <m:t>𝜋</m:t>
                      </m:r>
                      <m:r>
                        <m:rPr/>
                        <a:rPr lang="en-GB" b="0" i="1">
                          <a:latin typeface="Cambria Math"/>
                        </a:rPr>
                        <m:t>,±</m:t>
                      </m:r>
                      <m:f>
                        <m:f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0" i="1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m:rPr/>
                            <a:rPr lang="en-GB" b="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m:rPr/>
                        <a:rPr lang="en-GB" b="0" i="1">
                          <a:latin typeface="Cambria Math"/>
                        </a:rPr>
                        <m:t>𝜋</m:t>
                      </m:r>
                      <m:r>
                        <m:rPr/>
                        <a:rPr lang="en-GB" b="0" i="1">
                          <a:latin typeface="Cambria Math"/>
                        </a:rPr>
                        <m:t>,…</m:t>
                      </m:r>
                    </m:oMath>
                  </m:oMathPara>
                </a14:m>
              </mc:Choice>
              <mc:Fallback/>
            </mc:AlternateContent>
            <a:endParaRPr lang="en-GB"/>
          </a:p>
          <a:p>
            <a:pPr>
              <a:defRPr/>
            </a:pPr>
            <a:r>
              <a:rPr lang="en-GB"/>
              <a:t>Range:	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m:rPr/>
                        <a:rPr lang="en-GB" b="0" i="1">
                          <a:latin typeface="Cambria Math"/>
                        </a:rPr>
                        <m:t>≤−1 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𝑜𝑟</m:t>
                      </m:r>
                      <m:r>
                        <m:rPr/>
                        <a:rPr lang="en-GB" b="0" i="1">
                          <a:latin typeface="Cambria Math"/>
                        </a:rPr>
                        <m:t> 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m:rPr/>
                        <a:rPr lang="en-GB" b="0" i="1">
                          <a:latin typeface="Cambria Math"/>
                        </a:rPr>
                        <m:t>≥1</m:t>
                      </m:r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sp>
        <p:nvSpPr>
          <p:cNvPr id="799968293" name="Rectangle 29"/>
          <p:cNvSpPr/>
          <p:nvPr/>
        </p:nvSpPr>
        <p:spPr bwMode="auto">
          <a:xfrm>
            <a:off x="6389557" y="5236770"/>
            <a:ext cx="2487743" cy="30612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grpSp>
        <p:nvGrpSpPr>
          <p:cNvPr id="1694711658" name="Group 1"/>
          <p:cNvGrpSpPr/>
          <p:nvPr/>
        </p:nvGrpSpPr>
        <p:grpSpPr bwMode="auto"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/>
                <a:t>Sketches</a:t>
              </a:r>
              <a:endParaRPr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1639674824" name="Straight Arrow Connector 4"/>
          <p:cNvCxnSpPr/>
          <p:nvPr/>
        </p:nvCxnSpPr>
        <p:spPr bwMode="auto">
          <a:xfrm>
            <a:off x="1654467" y="3853327"/>
            <a:ext cx="5304612" cy="11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83223748" name="Straight Arrow Connector 5"/>
          <p:cNvCxnSpPr/>
          <p:nvPr/>
        </p:nvCxnSpPr>
        <p:spPr bwMode="auto">
          <a:xfrm flipV="1">
            <a:off x="1654467" y="2318200"/>
            <a:ext cx="0" cy="2933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2643364" name="TextBox 6"/>
          <p:cNvSpPr txBox="1"/>
          <p:nvPr/>
        </p:nvSpPr>
        <p:spPr bwMode="auto">
          <a:xfrm>
            <a:off x="1309811" y="2779760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1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85100796" name="TextBox 7"/>
          <p:cNvSpPr txBox="1"/>
          <p:nvPr/>
        </p:nvSpPr>
        <p:spPr bwMode="auto">
          <a:xfrm>
            <a:off x="1179936" y="4569352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−1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237147917" name="Rectangle 8"/>
          <p:cNvSpPr/>
          <p:nvPr/>
        </p:nvSpPr>
        <p:spPr bwMode="auto">
          <a:xfrm>
            <a:off x="6959079" y="2134254"/>
            <a:ext cx="1872208" cy="59200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b="1"/>
              <a:t>Click to </a:t>
            </a:r>
            <a:r>
              <a:rPr lang="en-GB" b="1"/>
              <a:t>Frosketch</a:t>
            </a:r>
            <a:r>
              <a:rPr lang="en-GB" b="1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1" i="1">
                          <a:latin typeface="Cambria Math"/>
                        </a:rPr>
                        <m:t>𝒚</m:t>
                      </m:r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r>
                        <m:rPr/>
                        <a:rPr lang="en-GB" b="1" i="1">
                          <a:latin typeface="Cambria Math"/>
                        </a:rPr>
                        <m:t>𝒔𝒆𝒄</m:t>
                      </m:r>
                      <m:r>
                        <m:rPr/>
                        <a:rPr lang="en-GB" b="1" i="1">
                          <a:latin typeface="Cambria Math"/>
                        </a:rPr>
                        <m:t> </m:t>
                      </m:r>
                      <m:r>
                        <m:rPr/>
                        <a:rPr lang="en-GB" b="1" i="1">
                          <a:latin typeface="Cambria Math"/>
                        </a:rPr>
                        <m:t>𝒙</m:t>
                      </m:r>
                    </m:oMath>
                  </m:oMathPara>
                </a14:m>
              </mc:Choice>
              <mc:Fallback/>
            </mc:AlternateContent>
            <a:endParaRPr lang="en-GB" b="1"/>
          </a:p>
        </p:txBody>
      </p:sp>
      <p:sp>
        <p:nvSpPr>
          <p:cNvPr id="1009643722" name="TextBox 9"/>
          <p:cNvSpPr txBox="1"/>
          <p:nvPr/>
        </p:nvSpPr>
        <p:spPr bwMode="auto">
          <a:xfrm>
            <a:off x="1482139" y="1918090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𝑦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742857023" name="TextBox 10"/>
          <p:cNvSpPr txBox="1"/>
          <p:nvPr/>
        </p:nvSpPr>
        <p:spPr bwMode="auto">
          <a:xfrm>
            <a:off x="6929353" y="3653272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𝑥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895187925" name="TextBox 11"/>
          <p:cNvSpPr txBox="1"/>
          <p:nvPr/>
        </p:nvSpPr>
        <p:spPr bwMode="auto">
          <a:xfrm>
            <a:off x="3774926" y="3842457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611499883" name="TextBox 12"/>
          <p:cNvSpPr txBox="1"/>
          <p:nvPr/>
        </p:nvSpPr>
        <p:spPr bwMode="auto">
          <a:xfrm>
            <a:off x="5991794" y="3842457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2</m:t>
                      </m:r>
                      <m:r>
                        <m:rPr/>
                        <a:rPr lang="en-GB" sz="2000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162712929" name="TextBox 13"/>
          <p:cNvSpPr txBox="1"/>
          <p:nvPr/>
        </p:nvSpPr>
        <p:spPr bwMode="auto">
          <a:xfrm>
            <a:off x="2571720" y="3816517"/>
            <a:ext cx="344656" cy="668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lang="en-GB" sz="20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2000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/>
                            <a:rPr lang="en-GB" sz="2000" b="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m:rPr/>
                        <a:rPr lang="en-GB" sz="2000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614565301" name="TextBox 14"/>
          <p:cNvSpPr txBox="1"/>
          <p:nvPr/>
        </p:nvSpPr>
        <p:spPr bwMode="auto">
          <a:xfrm>
            <a:off x="4767231" y="3816517"/>
            <a:ext cx="344656" cy="668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lang="en-GB" sz="20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2000" b="0" i="1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m:rPr/>
                            <a:rPr lang="en-GB" sz="2000" b="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m:rPr/>
                        <a:rPr lang="en-GB" sz="2000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511342860" name="Freeform 18"/>
          <p:cNvSpPr/>
          <p:nvPr/>
        </p:nvSpPr>
        <p:spPr bwMode="auto">
          <a:xfrm>
            <a:off x="1663547" y="2963537"/>
            <a:ext cx="4572000" cy="1918156"/>
          </a:xfrm>
          <a:custGeom>
            <a:avLst/>
            <a:gdLst>
              <a:gd name="connsiteX0" fmla="*/ 0 w 4572000"/>
              <a:gd name="connsiteY0" fmla="*/ 0 h 1918156"/>
              <a:gd name="connsiteX1" fmla="*/ 220337 w 4572000"/>
              <a:gd name="connsiteY1" fmla="*/ 44068 h 1918156"/>
              <a:gd name="connsiteX2" fmla="*/ 550843 w 4572000"/>
              <a:gd name="connsiteY2" fmla="*/ 187287 h 1918156"/>
              <a:gd name="connsiteX3" fmla="*/ 848299 w 4572000"/>
              <a:gd name="connsiteY3" fmla="*/ 440675 h 1918156"/>
              <a:gd name="connsiteX4" fmla="*/ 1101687 w 4572000"/>
              <a:gd name="connsiteY4" fmla="*/ 914400 h 1918156"/>
              <a:gd name="connsiteX5" fmla="*/ 1211855 w 4572000"/>
              <a:gd name="connsiteY5" fmla="*/ 1200839 h 1918156"/>
              <a:gd name="connsiteX6" fmla="*/ 1509311 w 4572000"/>
              <a:gd name="connsiteY6" fmla="*/ 1696598 h 1918156"/>
              <a:gd name="connsiteX7" fmla="*/ 1795749 w 4572000"/>
              <a:gd name="connsiteY7" fmla="*/ 1872868 h 1918156"/>
              <a:gd name="connsiteX8" fmla="*/ 2214390 w 4572000"/>
              <a:gd name="connsiteY8" fmla="*/ 1916935 h 1918156"/>
              <a:gd name="connsiteX9" fmla="*/ 2633031 w 4572000"/>
              <a:gd name="connsiteY9" fmla="*/ 1839817 h 1918156"/>
              <a:gd name="connsiteX10" fmla="*/ 3007605 w 4572000"/>
              <a:gd name="connsiteY10" fmla="*/ 1498294 h 1918156"/>
              <a:gd name="connsiteX11" fmla="*/ 3360145 w 4572000"/>
              <a:gd name="connsiteY11" fmla="*/ 1057620 h 1918156"/>
              <a:gd name="connsiteX12" fmla="*/ 3415229 w 4572000"/>
              <a:gd name="connsiteY12" fmla="*/ 881350 h 1918156"/>
              <a:gd name="connsiteX13" fmla="*/ 3745735 w 4572000"/>
              <a:gd name="connsiteY13" fmla="*/ 396608 h 1918156"/>
              <a:gd name="connsiteX14" fmla="*/ 4043190 w 4572000"/>
              <a:gd name="connsiteY14" fmla="*/ 187287 h 1918156"/>
              <a:gd name="connsiteX15" fmla="*/ 4572000 w 4572000"/>
              <a:gd name="connsiteY15" fmla="*/ 66102 h 1918156"/>
              <a:gd name="connsiteX0" fmla="*/ 0 w 4572000"/>
              <a:gd name="connsiteY0" fmla="*/ 0 h 1918156"/>
              <a:gd name="connsiteX1" fmla="*/ 220337 w 4572000"/>
              <a:gd name="connsiteY1" fmla="*/ 44068 h 1918156"/>
              <a:gd name="connsiteX2" fmla="*/ 550843 w 4572000"/>
              <a:gd name="connsiteY2" fmla="*/ 187287 h 1918156"/>
              <a:gd name="connsiteX3" fmla="*/ 848299 w 4572000"/>
              <a:gd name="connsiteY3" fmla="*/ 440675 h 1918156"/>
              <a:gd name="connsiteX4" fmla="*/ 1101687 w 4572000"/>
              <a:gd name="connsiteY4" fmla="*/ 914400 h 1918156"/>
              <a:gd name="connsiteX5" fmla="*/ 1211855 w 4572000"/>
              <a:gd name="connsiteY5" fmla="*/ 1200839 h 1918156"/>
              <a:gd name="connsiteX6" fmla="*/ 1509311 w 4572000"/>
              <a:gd name="connsiteY6" fmla="*/ 1696598 h 1918156"/>
              <a:gd name="connsiteX7" fmla="*/ 1795749 w 4572000"/>
              <a:gd name="connsiteY7" fmla="*/ 1872868 h 1918156"/>
              <a:gd name="connsiteX8" fmla="*/ 2214390 w 4572000"/>
              <a:gd name="connsiteY8" fmla="*/ 1916935 h 1918156"/>
              <a:gd name="connsiteX9" fmla="*/ 2633031 w 4572000"/>
              <a:gd name="connsiteY9" fmla="*/ 1839817 h 1918156"/>
              <a:gd name="connsiteX10" fmla="*/ 3007605 w 4572000"/>
              <a:gd name="connsiteY10" fmla="*/ 1498294 h 1918156"/>
              <a:gd name="connsiteX11" fmla="*/ 3360145 w 4572000"/>
              <a:gd name="connsiteY11" fmla="*/ 1057620 h 1918156"/>
              <a:gd name="connsiteX12" fmla="*/ 3745735 w 4572000"/>
              <a:gd name="connsiteY12" fmla="*/ 396608 h 1918156"/>
              <a:gd name="connsiteX13" fmla="*/ 4043190 w 4572000"/>
              <a:gd name="connsiteY13" fmla="*/ 187287 h 1918156"/>
              <a:gd name="connsiteX14" fmla="*/ 4572000 w 4572000"/>
              <a:gd name="connsiteY14" fmla="*/ 66102 h 1918156"/>
              <a:gd name="connsiteX0" fmla="*/ 0 w 4572000"/>
              <a:gd name="connsiteY0" fmla="*/ 0 h 1918156"/>
              <a:gd name="connsiteX1" fmla="*/ 220337 w 4572000"/>
              <a:gd name="connsiteY1" fmla="*/ 44068 h 1918156"/>
              <a:gd name="connsiteX2" fmla="*/ 550843 w 4572000"/>
              <a:gd name="connsiteY2" fmla="*/ 187287 h 1918156"/>
              <a:gd name="connsiteX3" fmla="*/ 848299 w 4572000"/>
              <a:gd name="connsiteY3" fmla="*/ 440675 h 1918156"/>
              <a:gd name="connsiteX4" fmla="*/ 1101687 w 4572000"/>
              <a:gd name="connsiteY4" fmla="*/ 914400 h 1918156"/>
              <a:gd name="connsiteX5" fmla="*/ 1211855 w 4572000"/>
              <a:gd name="connsiteY5" fmla="*/ 1200839 h 1918156"/>
              <a:gd name="connsiteX6" fmla="*/ 1509311 w 4572000"/>
              <a:gd name="connsiteY6" fmla="*/ 1696598 h 1918156"/>
              <a:gd name="connsiteX7" fmla="*/ 1795749 w 4572000"/>
              <a:gd name="connsiteY7" fmla="*/ 1872868 h 1918156"/>
              <a:gd name="connsiteX8" fmla="*/ 2214390 w 4572000"/>
              <a:gd name="connsiteY8" fmla="*/ 1916935 h 1918156"/>
              <a:gd name="connsiteX9" fmla="*/ 2633031 w 4572000"/>
              <a:gd name="connsiteY9" fmla="*/ 1839817 h 1918156"/>
              <a:gd name="connsiteX10" fmla="*/ 3007605 w 4572000"/>
              <a:gd name="connsiteY10" fmla="*/ 1498294 h 1918156"/>
              <a:gd name="connsiteX11" fmla="*/ 3327095 w 4572000"/>
              <a:gd name="connsiteY11" fmla="*/ 958468 h 1918156"/>
              <a:gd name="connsiteX12" fmla="*/ 3745735 w 4572000"/>
              <a:gd name="connsiteY12" fmla="*/ 396608 h 1918156"/>
              <a:gd name="connsiteX13" fmla="*/ 4043190 w 4572000"/>
              <a:gd name="connsiteY13" fmla="*/ 187287 h 1918156"/>
              <a:gd name="connsiteX14" fmla="*/ 4572000 w 4572000"/>
              <a:gd name="connsiteY14" fmla="*/ 66102 h 1918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572000" h="1918156" fill="norm" stroke="1" extrusionOk="0">
                <a:moveTo>
                  <a:pt x="0" y="0"/>
                </a:moveTo>
                <a:cubicBezTo>
                  <a:pt x="64265" y="6427"/>
                  <a:pt x="128530" y="12854"/>
                  <a:pt x="220337" y="44068"/>
                </a:cubicBezTo>
                <a:cubicBezTo>
                  <a:pt x="312144" y="75282"/>
                  <a:pt x="446183" y="121186"/>
                  <a:pt x="550843" y="187287"/>
                </a:cubicBezTo>
                <a:cubicBezTo>
                  <a:pt x="655503" y="253388"/>
                  <a:pt x="756492" y="319490"/>
                  <a:pt x="848299" y="440675"/>
                </a:cubicBezTo>
                <a:cubicBezTo>
                  <a:pt x="940106" y="561860"/>
                  <a:pt x="1041094" y="787706"/>
                  <a:pt x="1101687" y="914400"/>
                </a:cubicBezTo>
                <a:cubicBezTo>
                  <a:pt x="1162280" y="1041094"/>
                  <a:pt x="1143918" y="1070473"/>
                  <a:pt x="1211855" y="1200839"/>
                </a:cubicBezTo>
                <a:cubicBezTo>
                  <a:pt x="1279792" y="1331205"/>
                  <a:pt x="1411995" y="1584593"/>
                  <a:pt x="1509311" y="1696598"/>
                </a:cubicBezTo>
                <a:cubicBezTo>
                  <a:pt x="1606627" y="1808603"/>
                  <a:pt x="1678236" y="1836145"/>
                  <a:pt x="1795749" y="1872868"/>
                </a:cubicBezTo>
                <a:cubicBezTo>
                  <a:pt x="1913262" y="1909591"/>
                  <a:pt x="2074843" y="1922444"/>
                  <a:pt x="2214390" y="1916935"/>
                </a:cubicBezTo>
                <a:cubicBezTo>
                  <a:pt x="2353937" y="1911426"/>
                  <a:pt x="2500829" y="1909590"/>
                  <a:pt x="2633031" y="1839817"/>
                </a:cubicBezTo>
                <a:cubicBezTo>
                  <a:pt x="2765233" y="1770044"/>
                  <a:pt x="2891928" y="1645185"/>
                  <a:pt x="3007605" y="1498294"/>
                </a:cubicBezTo>
                <a:cubicBezTo>
                  <a:pt x="3123282" y="1351403"/>
                  <a:pt x="3204073" y="1142082"/>
                  <a:pt x="3327095" y="958468"/>
                </a:cubicBezTo>
                <a:cubicBezTo>
                  <a:pt x="3450117" y="774854"/>
                  <a:pt x="3626386" y="525138"/>
                  <a:pt x="3745735" y="396608"/>
                </a:cubicBezTo>
                <a:cubicBezTo>
                  <a:pt x="3865084" y="268078"/>
                  <a:pt x="3905479" y="242371"/>
                  <a:pt x="4043190" y="187287"/>
                </a:cubicBezTo>
                <a:cubicBezTo>
                  <a:pt x="4180901" y="132203"/>
                  <a:pt x="4376450" y="99152"/>
                  <a:pt x="4572000" y="66102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grpSp>
        <p:nvGrpSpPr>
          <p:cNvPr id="959932461" name="Group 26"/>
          <p:cNvGrpSpPr/>
          <p:nvPr/>
        </p:nvGrpSpPr>
        <p:grpSpPr bwMode="auto">
          <a:xfrm>
            <a:off x="1674564" y="1344198"/>
            <a:ext cx="4527932" cy="5067619"/>
            <a:chOff x="1674564" y="1344198"/>
            <a:chExt cx="4527932" cy="5067619"/>
          </a:xfrm>
        </p:grpSpPr>
        <p:cxnSp>
          <p:nvCxnSpPr>
            <p:cNvPr id="20" name="Straight Connector 19"/>
            <p:cNvCxnSpPr/>
            <p:nvPr/>
          </p:nvCxnSpPr>
          <p:spPr bwMode="auto">
            <a:xfrm flipV="1">
              <a:off x="2757002" y="1444074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auto">
            <a:xfrm flipV="1">
              <a:off x="5000337" y="1444073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Freeform 21"/>
            <p:cNvSpPr/>
            <p:nvPr/>
          </p:nvSpPr>
          <p:spPr bwMode="auto">
            <a:xfrm>
              <a:off x="1674564" y="1454227"/>
              <a:ext cx="1024569" cy="1498293"/>
            </a:xfrm>
            <a:custGeom>
              <a:avLst/>
              <a:gdLst>
                <a:gd name="connsiteX0" fmla="*/ 0 w 1024569"/>
                <a:gd name="connsiteY0" fmla="*/ 1498293 h 1498293"/>
                <a:gd name="connsiteX1" fmla="*/ 385590 w 1024569"/>
                <a:gd name="connsiteY1" fmla="*/ 1366091 h 1498293"/>
                <a:gd name="connsiteX2" fmla="*/ 870332 w 1024569"/>
                <a:gd name="connsiteY2" fmla="*/ 870332 h 1498293"/>
                <a:gd name="connsiteX3" fmla="*/ 1024569 w 1024569"/>
                <a:gd name="connsiteY3" fmla="*/ 0 h 149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4569" h="1498293" fill="norm" stroke="1" extrusionOk="0">
                  <a:moveTo>
                    <a:pt x="0" y="1498293"/>
                  </a:moveTo>
                  <a:cubicBezTo>
                    <a:pt x="120267" y="1484522"/>
                    <a:pt x="240535" y="1470751"/>
                    <a:pt x="385590" y="1366091"/>
                  </a:cubicBezTo>
                  <a:cubicBezTo>
                    <a:pt x="530645" y="1261431"/>
                    <a:pt x="763836" y="1098014"/>
                    <a:pt x="870332" y="870332"/>
                  </a:cubicBezTo>
                  <a:cubicBezTo>
                    <a:pt x="976828" y="642650"/>
                    <a:pt x="1000698" y="321325"/>
                    <a:pt x="1024569" y="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3" name="Freeform 22"/>
            <p:cNvSpPr/>
            <p:nvPr/>
          </p:nvSpPr>
          <p:spPr bwMode="auto">
            <a:xfrm>
              <a:off x="2853369" y="4880299"/>
              <a:ext cx="2071171" cy="1531518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 fill="norm" stroke="1" extrusionOk="0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4" name="Freeform 23"/>
            <p:cNvSpPr/>
            <p:nvPr/>
          </p:nvSpPr>
          <p:spPr bwMode="auto">
            <a:xfrm>
              <a:off x="5067759" y="1399142"/>
              <a:ext cx="1134737" cy="1619480"/>
            </a:xfrm>
            <a:custGeom>
              <a:avLst/>
              <a:gdLst>
                <a:gd name="connsiteX0" fmla="*/ 0 w 1134737"/>
                <a:gd name="connsiteY0" fmla="*/ 0 h 1619480"/>
                <a:gd name="connsiteX1" fmla="*/ 121186 w 1134737"/>
                <a:gd name="connsiteY1" fmla="*/ 517793 h 1619480"/>
                <a:gd name="connsiteX2" fmla="*/ 396607 w 1134737"/>
                <a:gd name="connsiteY2" fmla="*/ 1079653 h 1619480"/>
                <a:gd name="connsiteX3" fmla="*/ 837282 w 1134737"/>
                <a:gd name="connsiteY3" fmla="*/ 1476260 h 1619480"/>
                <a:gd name="connsiteX4" fmla="*/ 1134737 w 1134737"/>
                <a:gd name="connsiteY4" fmla="*/ 1619480 h 1619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4737" h="1619480" fill="norm" stroke="1" extrusionOk="0">
                  <a:moveTo>
                    <a:pt x="0" y="0"/>
                  </a:moveTo>
                  <a:cubicBezTo>
                    <a:pt x="27542" y="168925"/>
                    <a:pt x="55085" y="337851"/>
                    <a:pt x="121186" y="517793"/>
                  </a:cubicBezTo>
                  <a:cubicBezTo>
                    <a:pt x="187287" y="697735"/>
                    <a:pt x="277258" y="919909"/>
                    <a:pt x="396607" y="1079653"/>
                  </a:cubicBezTo>
                  <a:cubicBezTo>
                    <a:pt x="515956" y="1239397"/>
                    <a:pt x="714260" y="1386289"/>
                    <a:pt x="837282" y="1476260"/>
                  </a:cubicBezTo>
                  <a:cubicBezTo>
                    <a:pt x="960304" y="1566231"/>
                    <a:pt x="1047520" y="1592855"/>
                    <a:pt x="1134737" y="161948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5" name="TextBox 24"/>
            <p:cNvSpPr txBox="1"/>
            <p:nvPr/>
          </p:nvSpPr>
          <p:spPr bwMode="auto">
            <a:xfrm rot="3375269">
              <a:off x="4801436" y="1944165"/>
              <a:ext cx="15692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b="1" i="1">
                            <a:solidFill>
                              <a:schemeClr val="tx2"/>
                            </a:solidFill>
                            <a:latin typeface="Cambria Math"/>
                          </a:rPr>
                          <m:t>𝒚</m:t>
                        </m:r>
                        <m:r>
                          <m:rPr/>
                          <a:rPr lang="en-GB" b="1" i="1">
                            <a:solidFill>
                              <a:schemeClr val="tx2"/>
                            </a:solidFill>
                            <a:latin typeface="Cambria Math"/>
                          </a:rPr>
                          <m:t>=</m:t>
                        </m:r>
                        <m:func>
                          <m:funcPr>
                            <m:ctrlPr>
                              <a:rPr lang="en-GB" b="1" i="1">
                                <a:solidFill>
                                  <a:schemeClr val="tx2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uncPr>
                          <m:fName>
                            <m:r>
                              <m:rPr/>
                              <a:rPr lang="en-GB" b="1" i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𝐬𝐞𝐜</m:t>
                            </m:r>
                          </m:fName>
                          <m:e>
                            <m:r>
                              <m:rPr/>
                              <a:rPr lang="en-GB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</m:func>
                      </m:oMath>
                    </m:oMathPara>
                  </a14:m>
                </mc:Choice>
                <mc:Fallback/>
              </mc:AlternateContent>
              <a:endParaRPr lang="en-GB" b="1">
                <a:solidFill>
                  <a:schemeClr val="tx2"/>
                </a:solidFill>
              </a:endParaRPr>
            </a:p>
          </p:txBody>
        </p:sp>
      </p:grpSp>
      <p:sp>
        <p:nvSpPr>
          <p:cNvPr id="913938763" name="TextBox 25"/>
          <p:cNvSpPr txBox="1"/>
          <p:nvPr/>
        </p:nvSpPr>
        <p:spPr bwMode="auto">
          <a:xfrm rot="20141251">
            <a:off x="5149530" y="3275107"/>
            <a:ext cx="1146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0" i="1">
                          <a:latin typeface="Cambria Math"/>
                        </a:rPr>
                        <m:t>𝑦</m:t>
                      </m:r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sp>
        <p:nvSpPr>
          <p:cNvPr id="1191752118" name="Rectangle 28"/>
          <p:cNvSpPr/>
          <p:nvPr/>
        </p:nvSpPr>
        <p:spPr bwMode="auto">
          <a:xfrm>
            <a:off x="6389557" y="4815281"/>
            <a:ext cx="2494383" cy="40701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371479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93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5993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75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96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72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7147917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191752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91752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175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1752118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7999682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7999682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96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9968293"/>
                  </p:tgtEl>
                </p:cond>
              </p:nextCondLst>
            </p:seq>
          </p:childTnLst>
        </p:cTn>
      </p:par>
    </p:tnLst>
    <p:bldLst>
      <p:bldP spid="220722246" grpId="0" animBg="1"/>
      <p:bldP spid="799968293" grpId="0" animBg="1"/>
      <p:bldP spid="799968293" grpId="1" animBg="1"/>
      <p:bldP spid="1191752118" grpId="0" animBg="1"/>
      <p:bldP spid="1191752118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25869623" name="Group 1"/>
          <p:cNvGrpSpPr/>
          <p:nvPr/>
        </p:nvGrpSpPr>
        <p:grpSpPr bwMode="auto"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/>
                <a:t>Sketches</a:t>
              </a:r>
              <a:endParaRPr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1613279949" name="Straight Arrow Connector 4"/>
          <p:cNvCxnSpPr/>
          <p:nvPr/>
        </p:nvCxnSpPr>
        <p:spPr bwMode="auto">
          <a:xfrm>
            <a:off x="1654467" y="3853327"/>
            <a:ext cx="5304612" cy="11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2873830" name="Straight Arrow Connector 5"/>
          <p:cNvCxnSpPr/>
          <p:nvPr/>
        </p:nvCxnSpPr>
        <p:spPr bwMode="auto">
          <a:xfrm flipV="1">
            <a:off x="1654467" y="2318200"/>
            <a:ext cx="0" cy="29330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07607522" name="Rectangle 8"/>
          <p:cNvSpPr/>
          <p:nvPr/>
        </p:nvSpPr>
        <p:spPr bwMode="auto">
          <a:xfrm>
            <a:off x="7023638" y="962605"/>
            <a:ext cx="1872208" cy="59200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b="1"/>
              <a:t>Click to </a:t>
            </a:r>
            <a:r>
              <a:rPr lang="en-GB" b="1"/>
              <a:t>Brosketch</a:t>
            </a:r>
            <a:r>
              <a:rPr lang="en-GB" b="1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1" i="1">
                          <a:latin typeface="Cambria Math"/>
                        </a:rPr>
                        <m:t>𝒚</m:t>
                      </m:r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r>
                        <m:rPr/>
                        <a:rPr lang="en-GB" b="1" i="1">
                          <a:latin typeface="Cambria Math"/>
                        </a:rPr>
                        <m:t>𝒄𝒐𝒕</m:t>
                      </m:r>
                      <m:r>
                        <m:rPr/>
                        <a:rPr lang="en-GB" b="1" i="1">
                          <a:latin typeface="Cambria Math"/>
                        </a:rPr>
                        <m:t> </m:t>
                      </m:r>
                      <m:r>
                        <m:rPr/>
                        <a:rPr lang="en-GB" b="1" i="1">
                          <a:latin typeface="Cambria Math"/>
                        </a:rPr>
                        <m:t>𝒙</m:t>
                      </m:r>
                    </m:oMath>
                  </m:oMathPara>
                </a14:m>
              </mc:Choice>
              <mc:Fallback/>
            </mc:AlternateContent>
            <a:endParaRPr lang="en-GB" b="1"/>
          </a:p>
        </p:txBody>
      </p:sp>
      <p:sp>
        <p:nvSpPr>
          <p:cNvPr id="1917675144" name="TextBox 9"/>
          <p:cNvSpPr txBox="1"/>
          <p:nvPr/>
        </p:nvSpPr>
        <p:spPr bwMode="auto">
          <a:xfrm>
            <a:off x="1482139" y="1918090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𝑦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024517019" name="TextBox 10"/>
          <p:cNvSpPr txBox="1"/>
          <p:nvPr/>
        </p:nvSpPr>
        <p:spPr bwMode="auto">
          <a:xfrm>
            <a:off x="6929353" y="3653272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𝑥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437815209" name="TextBox 11"/>
          <p:cNvSpPr txBox="1"/>
          <p:nvPr/>
        </p:nvSpPr>
        <p:spPr bwMode="auto">
          <a:xfrm>
            <a:off x="3774926" y="3842457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734769277" name="TextBox 12"/>
          <p:cNvSpPr txBox="1"/>
          <p:nvPr/>
        </p:nvSpPr>
        <p:spPr bwMode="auto">
          <a:xfrm>
            <a:off x="5991794" y="3842457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2</m:t>
                      </m:r>
                      <m:r>
                        <m:rPr/>
                        <a:rPr lang="en-GB" sz="2000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923176245" name="TextBox 13"/>
          <p:cNvSpPr txBox="1"/>
          <p:nvPr/>
        </p:nvSpPr>
        <p:spPr bwMode="auto">
          <a:xfrm>
            <a:off x="2571720" y="3816517"/>
            <a:ext cx="344656" cy="668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lang="en-GB" sz="20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2000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/>
                            <a:rPr lang="en-GB" sz="2000" b="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m:rPr/>
                        <a:rPr lang="en-GB" sz="2000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916986967" name="TextBox 14"/>
          <p:cNvSpPr txBox="1"/>
          <p:nvPr/>
        </p:nvSpPr>
        <p:spPr bwMode="auto">
          <a:xfrm>
            <a:off x="4767231" y="3816517"/>
            <a:ext cx="344656" cy="668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lang="en-GB" sz="20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2000" b="0" i="1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m:rPr/>
                            <a:rPr lang="en-GB" sz="2000" b="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m:rPr/>
                        <a:rPr lang="en-GB" sz="2000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31109758" name="TextBox 25"/>
          <p:cNvSpPr txBox="1"/>
          <p:nvPr/>
        </p:nvSpPr>
        <p:spPr bwMode="auto">
          <a:xfrm rot="19586162">
            <a:off x="3309974" y="3482460"/>
            <a:ext cx="1146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0" i="1">
                          <a:latin typeface="Cambria Math"/>
                        </a:rPr>
                        <m:t>𝑦</m:t>
                      </m:r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cxnSp>
        <p:nvCxnSpPr>
          <p:cNvPr id="1758169483" name="Straight Connector 27"/>
          <p:cNvCxnSpPr/>
          <p:nvPr/>
        </p:nvCxnSpPr>
        <p:spPr bwMode="auto">
          <a:xfrm flipV="1">
            <a:off x="2821009" y="1337976"/>
            <a:ext cx="13241" cy="4957081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4546672" name="Straight Connector 28"/>
          <p:cNvCxnSpPr/>
          <p:nvPr/>
        </p:nvCxnSpPr>
        <p:spPr bwMode="auto">
          <a:xfrm flipV="1">
            <a:off x="4939559" y="1337976"/>
            <a:ext cx="13241" cy="4957081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5357017" name="Freeform 15"/>
          <p:cNvSpPr/>
          <p:nvPr/>
        </p:nvSpPr>
        <p:spPr bwMode="auto">
          <a:xfrm>
            <a:off x="1663547" y="1366092"/>
            <a:ext cx="1101687" cy="2478795"/>
          </a:xfrm>
          <a:custGeom>
            <a:avLst/>
            <a:gdLst>
              <a:gd name="connsiteX0" fmla="*/ 0 w 1101687"/>
              <a:gd name="connsiteY0" fmla="*/ 2478795 h 2478795"/>
              <a:gd name="connsiteX1" fmla="*/ 396607 w 1101687"/>
              <a:gd name="connsiteY1" fmla="*/ 2203373 h 2478795"/>
              <a:gd name="connsiteX2" fmla="*/ 738130 w 1101687"/>
              <a:gd name="connsiteY2" fmla="*/ 1784732 h 2478795"/>
              <a:gd name="connsiteX3" fmla="*/ 969484 w 1101687"/>
              <a:gd name="connsiteY3" fmla="*/ 1101686 h 2478795"/>
              <a:gd name="connsiteX4" fmla="*/ 1079653 w 1101687"/>
              <a:gd name="connsiteY4" fmla="*/ 297455 h 2478795"/>
              <a:gd name="connsiteX5" fmla="*/ 1101687 w 1101687"/>
              <a:gd name="connsiteY5" fmla="*/ 0 h 2478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687" h="2478795" fill="norm" stroke="1" extrusionOk="0">
                <a:moveTo>
                  <a:pt x="0" y="2478795"/>
                </a:moveTo>
                <a:cubicBezTo>
                  <a:pt x="136792" y="2398922"/>
                  <a:pt x="273585" y="2319050"/>
                  <a:pt x="396607" y="2203373"/>
                </a:cubicBezTo>
                <a:cubicBezTo>
                  <a:pt x="519629" y="2087696"/>
                  <a:pt x="642651" y="1968346"/>
                  <a:pt x="738130" y="1784732"/>
                </a:cubicBezTo>
                <a:cubicBezTo>
                  <a:pt x="833609" y="1601118"/>
                  <a:pt x="912564" y="1349565"/>
                  <a:pt x="969484" y="1101686"/>
                </a:cubicBezTo>
                <a:cubicBezTo>
                  <a:pt x="1026404" y="853807"/>
                  <a:pt x="1057619" y="481069"/>
                  <a:pt x="1079653" y="297455"/>
                </a:cubicBezTo>
                <a:cubicBezTo>
                  <a:pt x="1101687" y="113841"/>
                  <a:pt x="1101687" y="56920"/>
                  <a:pt x="1101687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49477763" name="Freeform 16"/>
          <p:cNvSpPr/>
          <p:nvPr/>
        </p:nvSpPr>
        <p:spPr bwMode="auto">
          <a:xfrm>
            <a:off x="2853369" y="1344058"/>
            <a:ext cx="2049137" cy="4759287"/>
          </a:xfrm>
          <a:custGeom>
            <a:avLst/>
            <a:gdLst>
              <a:gd name="connsiteX0" fmla="*/ 0 w 2071171"/>
              <a:gd name="connsiteY0" fmla="*/ 4583017 h 4583017"/>
              <a:gd name="connsiteX1" fmla="*/ 132202 w 2071171"/>
              <a:gd name="connsiteY1" fmla="*/ 3756752 h 4583017"/>
              <a:gd name="connsiteX2" fmla="*/ 385590 w 2071171"/>
              <a:gd name="connsiteY2" fmla="*/ 2985571 h 4583017"/>
              <a:gd name="connsiteX3" fmla="*/ 727113 w 2071171"/>
              <a:gd name="connsiteY3" fmla="*/ 2577947 h 4583017"/>
              <a:gd name="connsiteX4" fmla="*/ 1057619 w 2071171"/>
              <a:gd name="connsiteY4" fmla="*/ 2346592 h 4583017"/>
              <a:gd name="connsiteX5" fmla="*/ 1443209 w 2071171"/>
              <a:gd name="connsiteY5" fmla="*/ 2060154 h 4583017"/>
              <a:gd name="connsiteX6" fmla="*/ 1773715 w 2071171"/>
              <a:gd name="connsiteY6" fmla="*/ 1718631 h 4583017"/>
              <a:gd name="connsiteX7" fmla="*/ 2016086 w 2071171"/>
              <a:gd name="connsiteY7" fmla="*/ 1255923 h 4583017"/>
              <a:gd name="connsiteX8" fmla="*/ 2071171 w 2071171"/>
              <a:gd name="connsiteY8" fmla="*/ 0 h 4583017"/>
              <a:gd name="connsiteX0" fmla="*/ 0 w 2071171"/>
              <a:gd name="connsiteY0" fmla="*/ 4583017 h 4583017"/>
              <a:gd name="connsiteX1" fmla="*/ 132202 w 2071171"/>
              <a:gd name="connsiteY1" fmla="*/ 3756752 h 4583017"/>
              <a:gd name="connsiteX2" fmla="*/ 385590 w 2071171"/>
              <a:gd name="connsiteY2" fmla="*/ 2985571 h 4583017"/>
              <a:gd name="connsiteX3" fmla="*/ 727113 w 2071171"/>
              <a:gd name="connsiteY3" fmla="*/ 2577947 h 4583017"/>
              <a:gd name="connsiteX4" fmla="*/ 1057619 w 2071171"/>
              <a:gd name="connsiteY4" fmla="*/ 2346592 h 4583017"/>
              <a:gd name="connsiteX5" fmla="*/ 1421176 w 2071171"/>
              <a:gd name="connsiteY5" fmla="*/ 2049137 h 4583017"/>
              <a:gd name="connsiteX6" fmla="*/ 1773715 w 2071171"/>
              <a:gd name="connsiteY6" fmla="*/ 1718631 h 4583017"/>
              <a:gd name="connsiteX7" fmla="*/ 2016086 w 2071171"/>
              <a:gd name="connsiteY7" fmla="*/ 1255923 h 4583017"/>
              <a:gd name="connsiteX8" fmla="*/ 2071171 w 2071171"/>
              <a:gd name="connsiteY8" fmla="*/ 0 h 4583017"/>
              <a:gd name="connsiteX0" fmla="*/ 0 w 2071171"/>
              <a:gd name="connsiteY0" fmla="*/ 4583017 h 4583017"/>
              <a:gd name="connsiteX1" fmla="*/ 132202 w 2071171"/>
              <a:gd name="connsiteY1" fmla="*/ 3756752 h 4583017"/>
              <a:gd name="connsiteX2" fmla="*/ 385590 w 2071171"/>
              <a:gd name="connsiteY2" fmla="*/ 2985571 h 4583017"/>
              <a:gd name="connsiteX3" fmla="*/ 727113 w 2071171"/>
              <a:gd name="connsiteY3" fmla="*/ 2577947 h 4583017"/>
              <a:gd name="connsiteX4" fmla="*/ 1057619 w 2071171"/>
              <a:gd name="connsiteY4" fmla="*/ 2346592 h 4583017"/>
              <a:gd name="connsiteX5" fmla="*/ 1421176 w 2071171"/>
              <a:gd name="connsiteY5" fmla="*/ 2049137 h 4583017"/>
              <a:gd name="connsiteX6" fmla="*/ 1729648 w 2071171"/>
              <a:gd name="connsiteY6" fmla="*/ 1685580 h 4583017"/>
              <a:gd name="connsiteX7" fmla="*/ 2016086 w 2071171"/>
              <a:gd name="connsiteY7" fmla="*/ 1255923 h 4583017"/>
              <a:gd name="connsiteX8" fmla="*/ 2071171 w 2071171"/>
              <a:gd name="connsiteY8" fmla="*/ 0 h 4583017"/>
              <a:gd name="connsiteX0" fmla="*/ 0 w 2071171"/>
              <a:gd name="connsiteY0" fmla="*/ 4583017 h 4583017"/>
              <a:gd name="connsiteX1" fmla="*/ 132202 w 2071171"/>
              <a:gd name="connsiteY1" fmla="*/ 3756752 h 4583017"/>
              <a:gd name="connsiteX2" fmla="*/ 385590 w 2071171"/>
              <a:gd name="connsiteY2" fmla="*/ 2985571 h 4583017"/>
              <a:gd name="connsiteX3" fmla="*/ 727113 w 2071171"/>
              <a:gd name="connsiteY3" fmla="*/ 2577947 h 4583017"/>
              <a:gd name="connsiteX4" fmla="*/ 1057619 w 2071171"/>
              <a:gd name="connsiteY4" fmla="*/ 2346592 h 4583017"/>
              <a:gd name="connsiteX5" fmla="*/ 1421176 w 2071171"/>
              <a:gd name="connsiteY5" fmla="*/ 2049137 h 4583017"/>
              <a:gd name="connsiteX6" fmla="*/ 1729648 w 2071171"/>
              <a:gd name="connsiteY6" fmla="*/ 1685580 h 4583017"/>
              <a:gd name="connsiteX7" fmla="*/ 1994052 w 2071171"/>
              <a:gd name="connsiteY7" fmla="*/ 672029 h 4583017"/>
              <a:gd name="connsiteX8" fmla="*/ 2071171 w 2071171"/>
              <a:gd name="connsiteY8" fmla="*/ 0 h 4583017"/>
              <a:gd name="connsiteX0" fmla="*/ 0 w 2071171"/>
              <a:gd name="connsiteY0" fmla="*/ 4836405 h 4836405"/>
              <a:gd name="connsiteX1" fmla="*/ 132202 w 2071171"/>
              <a:gd name="connsiteY1" fmla="*/ 4010140 h 4836405"/>
              <a:gd name="connsiteX2" fmla="*/ 385590 w 2071171"/>
              <a:gd name="connsiteY2" fmla="*/ 3238959 h 4836405"/>
              <a:gd name="connsiteX3" fmla="*/ 727113 w 2071171"/>
              <a:gd name="connsiteY3" fmla="*/ 2831335 h 4836405"/>
              <a:gd name="connsiteX4" fmla="*/ 1057619 w 2071171"/>
              <a:gd name="connsiteY4" fmla="*/ 2599980 h 4836405"/>
              <a:gd name="connsiteX5" fmla="*/ 1421176 w 2071171"/>
              <a:gd name="connsiteY5" fmla="*/ 2302525 h 4836405"/>
              <a:gd name="connsiteX6" fmla="*/ 1729648 w 2071171"/>
              <a:gd name="connsiteY6" fmla="*/ 1938968 h 4836405"/>
              <a:gd name="connsiteX7" fmla="*/ 1994052 w 2071171"/>
              <a:gd name="connsiteY7" fmla="*/ 925417 h 4836405"/>
              <a:gd name="connsiteX8" fmla="*/ 2071171 w 2071171"/>
              <a:gd name="connsiteY8" fmla="*/ 0 h 4836405"/>
              <a:gd name="connsiteX0" fmla="*/ 0 w 2071171"/>
              <a:gd name="connsiteY0" fmla="*/ 4836405 h 4836405"/>
              <a:gd name="connsiteX1" fmla="*/ 132202 w 2071171"/>
              <a:gd name="connsiteY1" fmla="*/ 4010140 h 4836405"/>
              <a:gd name="connsiteX2" fmla="*/ 385590 w 2071171"/>
              <a:gd name="connsiteY2" fmla="*/ 3238959 h 4836405"/>
              <a:gd name="connsiteX3" fmla="*/ 727113 w 2071171"/>
              <a:gd name="connsiteY3" fmla="*/ 2831335 h 4836405"/>
              <a:gd name="connsiteX4" fmla="*/ 1057619 w 2071171"/>
              <a:gd name="connsiteY4" fmla="*/ 2599980 h 4836405"/>
              <a:gd name="connsiteX5" fmla="*/ 1421176 w 2071171"/>
              <a:gd name="connsiteY5" fmla="*/ 2302525 h 4836405"/>
              <a:gd name="connsiteX6" fmla="*/ 1729648 w 2071171"/>
              <a:gd name="connsiteY6" fmla="*/ 1938968 h 4836405"/>
              <a:gd name="connsiteX7" fmla="*/ 1961001 w 2071171"/>
              <a:gd name="connsiteY7" fmla="*/ 991518 h 4836405"/>
              <a:gd name="connsiteX8" fmla="*/ 2071171 w 2071171"/>
              <a:gd name="connsiteY8" fmla="*/ 0 h 4836405"/>
              <a:gd name="connsiteX0" fmla="*/ 0 w 2049137"/>
              <a:gd name="connsiteY0" fmla="*/ 4759287 h 4759287"/>
              <a:gd name="connsiteX1" fmla="*/ 132202 w 2049137"/>
              <a:gd name="connsiteY1" fmla="*/ 3933022 h 4759287"/>
              <a:gd name="connsiteX2" fmla="*/ 385590 w 2049137"/>
              <a:gd name="connsiteY2" fmla="*/ 3161841 h 4759287"/>
              <a:gd name="connsiteX3" fmla="*/ 727113 w 2049137"/>
              <a:gd name="connsiteY3" fmla="*/ 2754217 h 4759287"/>
              <a:gd name="connsiteX4" fmla="*/ 1057619 w 2049137"/>
              <a:gd name="connsiteY4" fmla="*/ 2522862 h 4759287"/>
              <a:gd name="connsiteX5" fmla="*/ 1421176 w 2049137"/>
              <a:gd name="connsiteY5" fmla="*/ 2225407 h 4759287"/>
              <a:gd name="connsiteX6" fmla="*/ 1729648 w 2049137"/>
              <a:gd name="connsiteY6" fmla="*/ 1861850 h 4759287"/>
              <a:gd name="connsiteX7" fmla="*/ 1961001 w 2049137"/>
              <a:gd name="connsiteY7" fmla="*/ 914400 h 4759287"/>
              <a:gd name="connsiteX8" fmla="*/ 2049137 w 2049137"/>
              <a:gd name="connsiteY8" fmla="*/ 0 h 475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49137" h="4759287" fill="norm" stroke="1" extrusionOk="0">
                <a:moveTo>
                  <a:pt x="0" y="4759287"/>
                </a:moveTo>
                <a:cubicBezTo>
                  <a:pt x="33968" y="4479275"/>
                  <a:pt x="67937" y="4199263"/>
                  <a:pt x="132202" y="3933022"/>
                </a:cubicBezTo>
                <a:cubicBezTo>
                  <a:pt x="196467" y="3666781"/>
                  <a:pt x="286438" y="3358308"/>
                  <a:pt x="385590" y="3161841"/>
                </a:cubicBezTo>
                <a:cubicBezTo>
                  <a:pt x="484742" y="2965374"/>
                  <a:pt x="615108" y="2860713"/>
                  <a:pt x="727113" y="2754217"/>
                </a:cubicBezTo>
                <a:cubicBezTo>
                  <a:pt x="839118" y="2647721"/>
                  <a:pt x="941942" y="2610997"/>
                  <a:pt x="1057619" y="2522862"/>
                </a:cubicBezTo>
                <a:cubicBezTo>
                  <a:pt x="1173296" y="2434727"/>
                  <a:pt x="1309171" y="2335576"/>
                  <a:pt x="1421176" y="2225407"/>
                </a:cubicBezTo>
                <a:cubicBezTo>
                  <a:pt x="1533181" y="2115238"/>
                  <a:pt x="1639677" y="2080351"/>
                  <a:pt x="1729648" y="1861850"/>
                </a:cubicBezTo>
                <a:cubicBezTo>
                  <a:pt x="1819619" y="1643349"/>
                  <a:pt x="1907753" y="1224708"/>
                  <a:pt x="1961001" y="914400"/>
                </a:cubicBezTo>
                <a:cubicBezTo>
                  <a:pt x="2014249" y="604092"/>
                  <a:pt x="2046382" y="484742"/>
                  <a:pt x="2049137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999296252" name="Freeform 17"/>
          <p:cNvSpPr/>
          <p:nvPr/>
        </p:nvSpPr>
        <p:spPr bwMode="auto">
          <a:xfrm>
            <a:off x="4990641" y="3866920"/>
            <a:ext cx="1167788" cy="2357610"/>
          </a:xfrm>
          <a:custGeom>
            <a:avLst/>
            <a:gdLst>
              <a:gd name="connsiteX0" fmla="*/ 0 w 1167788"/>
              <a:gd name="connsiteY0" fmla="*/ 2357610 h 2357610"/>
              <a:gd name="connsiteX1" fmla="*/ 66101 w 1167788"/>
              <a:gd name="connsiteY1" fmla="*/ 1531345 h 2357610"/>
              <a:gd name="connsiteX2" fmla="*/ 220337 w 1167788"/>
              <a:gd name="connsiteY2" fmla="*/ 925417 h 2357610"/>
              <a:gd name="connsiteX3" fmla="*/ 683046 w 1167788"/>
              <a:gd name="connsiteY3" fmla="*/ 407625 h 2357610"/>
              <a:gd name="connsiteX4" fmla="*/ 1167788 w 1167788"/>
              <a:gd name="connsiteY4" fmla="*/ 0 h 2357610"/>
              <a:gd name="connsiteX0" fmla="*/ 0 w 1167788"/>
              <a:gd name="connsiteY0" fmla="*/ 2357610 h 2357610"/>
              <a:gd name="connsiteX1" fmla="*/ 66101 w 1167788"/>
              <a:gd name="connsiteY1" fmla="*/ 1531345 h 2357610"/>
              <a:gd name="connsiteX2" fmla="*/ 220337 w 1167788"/>
              <a:gd name="connsiteY2" fmla="*/ 925417 h 2357610"/>
              <a:gd name="connsiteX3" fmla="*/ 649995 w 1167788"/>
              <a:gd name="connsiteY3" fmla="*/ 374575 h 2357610"/>
              <a:gd name="connsiteX4" fmla="*/ 1167788 w 1167788"/>
              <a:gd name="connsiteY4" fmla="*/ 0 h 23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7788" h="2357610" fill="norm" stroke="1" extrusionOk="0">
                <a:moveTo>
                  <a:pt x="0" y="2357610"/>
                </a:moveTo>
                <a:cubicBezTo>
                  <a:pt x="14689" y="2063827"/>
                  <a:pt x="29378" y="1770044"/>
                  <a:pt x="66101" y="1531345"/>
                </a:cubicBezTo>
                <a:cubicBezTo>
                  <a:pt x="102824" y="1292646"/>
                  <a:pt x="123021" y="1118212"/>
                  <a:pt x="220337" y="925417"/>
                </a:cubicBezTo>
                <a:cubicBezTo>
                  <a:pt x="317653" y="732622"/>
                  <a:pt x="492087" y="528811"/>
                  <a:pt x="649995" y="374575"/>
                </a:cubicBezTo>
                <a:cubicBezTo>
                  <a:pt x="807903" y="220339"/>
                  <a:pt x="1004371" y="126694"/>
                  <a:pt x="1167788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grpSp>
        <p:nvGrpSpPr>
          <p:cNvPr id="2021500669" name="Group 34"/>
          <p:cNvGrpSpPr/>
          <p:nvPr/>
        </p:nvGrpSpPr>
        <p:grpSpPr bwMode="auto">
          <a:xfrm>
            <a:off x="1729648" y="1351126"/>
            <a:ext cx="4422161" cy="4991528"/>
            <a:chOff x="1729648" y="1351126"/>
            <a:chExt cx="4422161" cy="4991528"/>
          </a:xfrm>
        </p:grpSpPr>
        <p:cxnSp>
          <p:nvCxnSpPr>
            <p:cNvPr id="30" name="Straight Connector 29"/>
            <p:cNvCxnSpPr/>
            <p:nvPr/>
          </p:nvCxnSpPr>
          <p:spPr bwMode="auto">
            <a:xfrm flipV="1">
              <a:off x="3925009" y="1351126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 bwMode="auto">
            <a:xfrm flipV="1">
              <a:off x="6138568" y="1385573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32" name="Freeform 31"/>
            <p:cNvSpPr/>
            <p:nvPr/>
          </p:nvSpPr>
          <p:spPr bwMode="auto">
            <a:xfrm>
              <a:off x="1729648" y="1410159"/>
              <a:ext cx="2159306" cy="4836405"/>
            </a:xfrm>
            <a:custGeom>
              <a:avLst/>
              <a:gdLst>
                <a:gd name="connsiteX0" fmla="*/ 0 w 2159306"/>
                <a:gd name="connsiteY0" fmla="*/ 0 h 4836405"/>
                <a:gd name="connsiteX1" fmla="*/ 121186 w 2159306"/>
                <a:gd name="connsiteY1" fmla="*/ 1057619 h 4836405"/>
                <a:gd name="connsiteX2" fmla="*/ 330506 w 2159306"/>
                <a:gd name="connsiteY2" fmla="*/ 1795749 h 4836405"/>
                <a:gd name="connsiteX3" fmla="*/ 550844 w 2159306"/>
                <a:gd name="connsiteY3" fmla="*/ 2027104 h 4836405"/>
                <a:gd name="connsiteX4" fmla="*/ 1090670 w 2159306"/>
                <a:gd name="connsiteY4" fmla="*/ 2445745 h 4836405"/>
                <a:gd name="connsiteX5" fmla="*/ 1630497 w 2159306"/>
                <a:gd name="connsiteY5" fmla="*/ 2930487 h 4836405"/>
                <a:gd name="connsiteX6" fmla="*/ 2038121 w 2159306"/>
                <a:gd name="connsiteY6" fmla="*/ 3723701 h 4836405"/>
                <a:gd name="connsiteX7" fmla="*/ 2159306 w 2159306"/>
                <a:gd name="connsiteY7" fmla="*/ 4836405 h 4836405"/>
                <a:gd name="connsiteX0" fmla="*/ 0 w 2159306"/>
                <a:gd name="connsiteY0" fmla="*/ 0 h 4836405"/>
                <a:gd name="connsiteX1" fmla="*/ 121186 w 2159306"/>
                <a:gd name="connsiteY1" fmla="*/ 1057619 h 4836405"/>
                <a:gd name="connsiteX2" fmla="*/ 330506 w 2159306"/>
                <a:gd name="connsiteY2" fmla="*/ 1795749 h 4836405"/>
                <a:gd name="connsiteX3" fmla="*/ 1090670 w 2159306"/>
                <a:gd name="connsiteY3" fmla="*/ 2445745 h 4836405"/>
                <a:gd name="connsiteX4" fmla="*/ 1630497 w 2159306"/>
                <a:gd name="connsiteY4" fmla="*/ 2930487 h 4836405"/>
                <a:gd name="connsiteX5" fmla="*/ 2038121 w 2159306"/>
                <a:gd name="connsiteY5" fmla="*/ 3723701 h 4836405"/>
                <a:gd name="connsiteX6" fmla="*/ 2159306 w 2159306"/>
                <a:gd name="connsiteY6" fmla="*/ 4836405 h 4836405"/>
                <a:gd name="connsiteX0" fmla="*/ 0 w 2159306"/>
                <a:gd name="connsiteY0" fmla="*/ 0 h 4836405"/>
                <a:gd name="connsiteX1" fmla="*/ 121186 w 2159306"/>
                <a:gd name="connsiteY1" fmla="*/ 1057619 h 4836405"/>
                <a:gd name="connsiteX2" fmla="*/ 396607 w 2159306"/>
                <a:gd name="connsiteY2" fmla="*/ 1795749 h 4836405"/>
                <a:gd name="connsiteX3" fmla="*/ 1090670 w 2159306"/>
                <a:gd name="connsiteY3" fmla="*/ 2445745 h 4836405"/>
                <a:gd name="connsiteX4" fmla="*/ 1630497 w 2159306"/>
                <a:gd name="connsiteY4" fmla="*/ 2930487 h 4836405"/>
                <a:gd name="connsiteX5" fmla="*/ 2038121 w 2159306"/>
                <a:gd name="connsiteY5" fmla="*/ 3723701 h 4836405"/>
                <a:gd name="connsiteX6" fmla="*/ 2159306 w 2159306"/>
                <a:gd name="connsiteY6" fmla="*/ 4836405 h 4836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306" h="4836405" fill="norm" stroke="1" extrusionOk="0">
                  <a:moveTo>
                    <a:pt x="0" y="0"/>
                  </a:moveTo>
                  <a:cubicBezTo>
                    <a:pt x="33051" y="379164"/>
                    <a:pt x="55085" y="758328"/>
                    <a:pt x="121186" y="1057619"/>
                  </a:cubicBezTo>
                  <a:cubicBezTo>
                    <a:pt x="187287" y="1356911"/>
                    <a:pt x="235026" y="1564395"/>
                    <a:pt x="396607" y="1795749"/>
                  </a:cubicBezTo>
                  <a:cubicBezTo>
                    <a:pt x="558188" y="2027103"/>
                    <a:pt x="885022" y="2256622"/>
                    <a:pt x="1090670" y="2445745"/>
                  </a:cubicBezTo>
                  <a:cubicBezTo>
                    <a:pt x="1296318" y="2634868"/>
                    <a:pt x="1472588" y="2717494"/>
                    <a:pt x="1630497" y="2930487"/>
                  </a:cubicBezTo>
                  <a:cubicBezTo>
                    <a:pt x="1788406" y="3143480"/>
                    <a:pt x="1949986" y="3406048"/>
                    <a:pt x="2038121" y="3723701"/>
                  </a:cubicBezTo>
                  <a:cubicBezTo>
                    <a:pt x="2126256" y="4041354"/>
                    <a:pt x="2142781" y="4438879"/>
                    <a:pt x="2159306" y="4836405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" name="Freeform 32"/>
            <p:cNvSpPr/>
            <p:nvPr/>
          </p:nvSpPr>
          <p:spPr bwMode="auto">
            <a:xfrm>
              <a:off x="3986215" y="1398313"/>
              <a:ext cx="2084079" cy="4836405"/>
            </a:xfrm>
            <a:custGeom>
              <a:avLst/>
              <a:gdLst>
                <a:gd name="connsiteX0" fmla="*/ 0 w 2159306"/>
                <a:gd name="connsiteY0" fmla="*/ 0 h 4836405"/>
                <a:gd name="connsiteX1" fmla="*/ 121186 w 2159306"/>
                <a:gd name="connsiteY1" fmla="*/ 1057619 h 4836405"/>
                <a:gd name="connsiteX2" fmla="*/ 330506 w 2159306"/>
                <a:gd name="connsiteY2" fmla="*/ 1795749 h 4836405"/>
                <a:gd name="connsiteX3" fmla="*/ 550844 w 2159306"/>
                <a:gd name="connsiteY3" fmla="*/ 2027104 h 4836405"/>
                <a:gd name="connsiteX4" fmla="*/ 1090670 w 2159306"/>
                <a:gd name="connsiteY4" fmla="*/ 2445745 h 4836405"/>
                <a:gd name="connsiteX5" fmla="*/ 1630497 w 2159306"/>
                <a:gd name="connsiteY5" fmla="*/ 2930487 h 4836405"/>
                <a:gd name="connsiteX6" fmla="*/ 2038121 w 2159306"/>
                <a:gd name="connsiteY6" fmla="*/ 3723701 h 4836405"/>
                <a:gd name="connsiteX7" fmla="*/ 2159306 w 2159306"/>
                <a:gd name="connsiteY7" fmla="*/ 4836405 h 4836405"/>
                <a:gd name="connsiteX0" fmla="*/ 0 w 2159306"/>
                <a:gd name="connsiteY0" fmla="*/ 0 h 4836405"/>
                <a:gd name="connsiteX1" fmla="*/ 121186 w 2159306"/>
                <a:gd name="connsiteY1" fmla="*/ 1057619 h 4836405"/>
                <a:gd name="connsiteX2" fmla="*/ 330506 w 2159306"/>
                <a:gd name="connsiteY2" fmla="*/ 1795749 h 4836405"/>
                <a:gd name="connsiteX3" fmla="*/ 1090670 w 2159306"/>
                <a:gd name="connsiteY3" fmla="*/ 2445745 h 4836405"/>
                <a:gd name="connsiteX4" fmla="*/ 1630497 w 2159306"/>
                <a:gd name="connsiteY4" fmla="*/ 2930487 h 4836405"/>
                <a:gd name="connsiteX5" fmla="*/ 2038121 w 2159306"/>
                <a:gd name="connsiteY5" fmla="*/ 3723701 h 4836405"/>
                <a:gd name="connsiteX6" fmla="*/ 2159306 w 2159306"/>
                <a:gd name="connsiteY6" fmla="*/ 4836405 h 4836405"/>
                <a:gd name="connsiteX0" fmla="*/ 0 w 2159306"/>
                <a:gd name="connsiteY0" fmla="*/ 0 h 4836405"/>
                <a:gd name="connsiteX1" fmla="*/ 121186 w 2159306"/>
                <a:gd name="connsiteY1" fmla="*/ 1057619 h 4836405"/>
                <a:gd name="connsiteX2" fmla="*/ 396607 w 2159306"/>
                <a:gd name="connsiteY2" fmla="*/ 1795749 h 4836405"/>
                <a:gd name="connsiteX3" fmla="*/ 1090670 w 2159306"/>
                <a:gd name="connsiteY3" fmla="*/ 2445745 h 4836405"/>
                <a:gd name="connsiteX4" fmla="*/ 1630497 w 2159306"/>
                <a:gd name="connsiteY4" fmla="*/ 2930487 h 4836405"/>
                <a:gd name="connsiteX5" fmla="*/ 2038121 w 2159306"/>
                <a:gd name="connsiteY5" fmla="*/ 3723701 h 4836405"/>
                <a:gd name="connsiteX6" fmla="*/ 2159306 w 2159306"/>
                <a:gd name="connsiteY6" fmla="*/ 4836405 h 4836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306" h="4836405" fill="norm" stroke="1" extrusionOk="0">
                  <a:moveTo>
                    <a:pt x="0" y="0"/>
                  </a:moveTo>
                  <a:cubicBezTo>
                    <a:pt x="33051" y="379164"/>
                    <a:pt x="55085" y="758328"/>
                    <a:pt x="121186" y="1057619"/>
                  </a:cubicBezTo>
                  <a:cubicBezTo>
                    <a:pt x="187287" y="1356911"/>
                    <a:pt x="235026" y="1564395"/>
                    <a:pt x="396607" y="1795749"/>
                  </a:cubicBezTo>
                  <a:cubicBezTo>
                    <a:pt x="558188" y="2027103"/>
                    <a:pt x="885022" y="2256622"/>
                    <a:pt x="1090670" y="2445745"/>
                  </a:cubicBezTo>
                  <a:cubicBezTo>
                    <a:pt x="1296318" y="2634868"/>
                    <a:pt x="1472588" y="2717494"/>
                    <a:pt x="1630497" y="2930487"/>
                  </a:cubicBezTo>
                  <a:cubicBezTo>
                    <a:pt x="1788406" y="3143480"/>
                    <a:pt x="1949986" y="3406048"/>
                    <a:pt x="2038121" y="3723701"/>
                  </a:cubicBezTo>
                  <a:cubicBezTo>
                    <a:pt x="2126256" y="4041354"/>
                    <a:pt x="2142781" y="4438879"/>
                    <a:pt x="2159306" y="4836405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4" name="TextBox 33"/>
            <p:cNvSpPr txBox="1"/>
            <p:nvPr/>
          </p:nvSpPr>
          <p:spPr bwMode="auto">
            <a:xfrm rot="2477860">
              <a:off x="4337356" y="3482460"/>
              <a:ext cx="15692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b="1" i="1">
                            <a:solidFill>
                              <a:schemeClr val="tx2"/>
                            </a:solidFill>
                            <a:latin typeface="Cambria Math"/>
                          </a:rPr>
                          <m:t>𝒚</m:t>
                        </m:r>
                        <m:r>
                          <m:rPr/>
                          <a:rPr lang="en-GB" b="1" i="1">
                            <a:solidFill>
                              <a:schemeClr val="tx2"/>
                            </a:solidFill>
                            <a:latin typeface="Cambria Math"/>
                          </a:rPr>
                          <m:t>=</m:t>
                        </m:r>
                        <m:func>
                          <m:funcPr>
                            <m:ctrlPr>
                              <a:rPr lang="en-GB" b="1" i="1">
                                <a:solidFill>
                                  <a:schemeClr val="tx2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uncPr>
                          <m:fName>
                            <m:r>
                              <m:rPr/>
                              <a:rPr lang="en-GB" b="1" i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𝐜𝐨𝐭</m:t>
                            </m:r>
                          </m:fName>
                          <m:e>
                            <m:r>
                              <m:rPr/>
                              <a:rPr lang="en-GB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</m:func>
                      </m:oMath>
                    </m:oMathPara>
                  </a14:m>
                </mc:Choice>
                <mc:Fallback/>
              </mc:AlternateContent>
              <a:endParaRPr lang="en-GB" b="1">
                <a:solidFill>
                  <a:schemeClr val="tx2"/>
                </a:solidFill>
              </a:endParaRPr>
            </a:p>
          </p:txBody>
        </p:sp>
      </p:grpSp>
      <p:sp>
        <p:nvSpPr>
          <p:cNvPr id="950411757" name="TextBox 6"/>
          <p:cNvSpPr txBox="1"/>
          <p:nvPr/>
        </p:nvSpPr>
        <p:spPr bwMode="auto">
          <a:xfrm>
            <a:off x="6453408" y="4336579"/>
            <a:ext cx="2424777" cy="2126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 b="1"/>
              <a:t>Extra Insight:</a:t>
            </a:r>
            <a:r>
              <a:rPr lang="en-GB" sz="1400"/>
              <a:t> We might spot that the graph is </a:t>
            </a:r>
            <a:r>
              <a:rPr lang="en-GB" sz="1400" b="1"/>
              <a:t>symmetrical about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en-GB" sz="1400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400" b="1" i="1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m:rPr/>
                            <a:rPr lang="en-GB" sz="1400" b="1" i="1">
                              <a:latin typeface="Cambria Math"/>
                            </a:rPr>
                            <m:t>𝟒</m:t>
                          </m:r>
                        </m:den>
                      </m:f>
                      <m:r>
                        <m:rPr/>
                        <a:rPr lang="en-GB" sz="1400" b="1" i="1">
                          <a:latin typeface="Cambria Math"/>
                        </a:rPr>
                        <m:t>𝝅</m:t>
                      </m:r>
                      <m:r>
                        <m:rPr/>
                        <a:rPr lang="en-GB" sz="1400" b="1" i="1">
                          <a:latin typeface="Cambria Math"/>
                        </a:rPr>
                        <m:t>,</m:t>
                      </m:r>
                      <m:f>
                        <m:fPr>
                          <m:ctrlPr>
                            <a:rPr lang="en-GB" sz="1400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400" b="1" i="1">
                              <a:latin typeface="Cambria Math"/>
                            </a:rPr>
                            <m:t>𝟑</m:t>
                          </m:r>
                        </m:num>
                        <m:den>
                          <m:r>
                            <m:rPr/>
                            <a:rPr lang="en-GB" sz="1400" b="1" i="1">
                              <a:latin typeface="Cambria Math"/>
                            </a:rPr>
                            <m:t>𝟒</m:t>
                          </m:r>
                        </m:den>
                      </m:f>
                      <m:r>
                        <m:rPr/>
                        <a:rPr lang="en-GB" sz="1400" b="1" i="1">
                          <a:latin typeface="Cambria Math"/>
                        </a:rPr>
                        <m:t>𝝅</m:t>
                      </m:r>
                    </m:oMath>
                  </m:oMathPara>
                </a14:m>
              </mc:Choice>
              <mc:Fallback/>
            </mc:AlternateContent>
            <a:r>
              <a:rPr lang="en-GB" sz="1400"/>
              <a:t>, etc. This is not a coincidence: the ‘proper’ definition of </a:t>
            </a:r>
            <a:br>
              <a:rPr lang="en-GB" sz="1400"/>
            </a:b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cot</m:t>
                          </m:r>
                        </m:fName>
                        <m:e>
                          <m:d>
                            <m:d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≡</m:t>
                      </m:r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90°−</m:t>
                              </m:r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 sz="1400"/>
              <a:t>, so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cot</m:t>
                          </m:r>
                        </m:fName>
                        <m:e>
                          <m:d>
                            <m:d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30°</m:t>
                              </m:r>
                            </m:e>
                          </m:d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1400" b="0" i="0">
                          <a:latin typeface="Cambria Math"/>
                        </a:rPr>
                        <m:t>tan</m:t>
                      </m:r>
                      <m:r>
                        <m:rPr/>
                        <a:rPr lang="en-GB" sz="1400" b="0" i="1">
                          <a:latin typeface="Cambria Math"/>
                        </a:rPr>
                        <m:t>⁡(60°)</m:t>
                      </m:r>
                    </m:oMath>
                  </m:oMathPara>
                </a14:m>
              </mc:Choice>
              <mc:Fallback/>
            </mc:AlternateContent>
            <a:r>
              <a:rPr lang="en-GB" sz="1400"/>
              <a:t> for example, with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400" b="0" i="1">
                          <a:latin typeface="Cambria Math"/>
                        </a:rPr>
                        <m:t>30°</m:t>
                      </m:r>
                    </m:oMath>
                  </m:oMathPara>
                </a14:m>
              </mc:Choice>
              <mc:Fallback/>
            </mc:AlternateContent>
            <a:r>
              <a:rPr lang="en-GB" sz="1400"/>
              <a:t> and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400" b="0" i="1">
                          <a:latin typeface="Cambria Math"/>
                        </a:rPr>
                        <m:t>60°</m:t>
                      </m:r>
                    </m:oMath>
                  </m:oMathPara>
                </a14:m>
              </mc:Choice>
              <mc:Fallback/>
            </mc:AlternateContent>
            <a:r>
              <a:rPr lang="en-GB" sz="1400"/>
              <a:t> being symmetrical about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400" b="0" i="1">
                          <a:latin typeface="Cambria Math"/>
                        </a:rPr>
                        <m:t>45°</m:t>
                      </m:r>
                    </m:oMath>
                  </m:oMathPara>
                </a14:m>
              </mc:Choice>
              <mc:Fallback/>
            </mc:AlternateContent>
            <a:r>
              <a:rPr lang="en-GB" sz="1400"/>
              <a:t>.</a:t>
            </a:r>
            <a:endParaRPr/>
          </a:p>
        </p:txBody>
      </p:sp>
      <p:sp>
        <p:nvSpPr>
          <p:cNvPr id="1324621806" name="TextBox 26"/>
          <p:cNvSpPr txBox="1"/>
          <p:nvPr/>
        </p:nvSpPr>
        <p:spPr bwMode="auto">
          <a:xfrm>
            <a:off x="5702358" y="2158629"/>
            <a:ext cx="3199334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Domain:	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𝑥</m:t>
                      </m:r>
                      <m:r>
                        <m:rPr/>
                        <a:rPr lang="en-GB" b="0" i="1">
                          <a:latin typeface="Cambria Math"/>
                        </a:rPr>
                        <m:t>∈</m:t>
                      </m:r>
                      <m:r>
                        <m:rPr/>
                        <a:rPr lang="en-GB" b="0" i="1">
                          <a:latin typeface="Cambria Math"/>
                        </a:rPr>
                        <m:t>ℝ</m:t>
                      </m:r>
                      <m:r>
                        <m:rPr/>
                        <a:rPr lang="en-GB" b="0" i="1">
                          <a:latin typeface="Cambria Math"/>
                        </a:rPr>
                        <m:t>, 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𝑥</m:t>
                      </m:r>
                      <m:r>
                        <m:rPr/>
                        <a:rPr lang="en-GB" b="0" i="1">
                          <a:latin typeface="Cambria Math"/>
                        </a:rPr>
                        <m:t>≠</m:t>
                      </m:r>
                      <m:r>
                        <m:rPr/>
                        <a:rPr lang="en-GB" b="0" i="1">
                          <a:latin typeface="Cambria Math"/>
                        </a:rPr>
                        <m:t>𝜋</m:t>
                      </m:r>
                      <m:r>
                        <m:rPr/>
                        <a:rPr lang="en-GB" b="0" i="1">
                          <a:latin typeface="Cambria Math"/>
                        </a:rPr>
                        <m:t>,2</m:t>
                      </m:r>
                      <m:r>
                        <m:rPr/>
                        <a:rPr lang="en-GB" b="0" i="1">
                          <a:latin typeface="Cambria Math"/>
                        </a:rPr>
                        <m:t>𝜋</m:t>
                      </m:r>
                      <m:r>
                        <m:rPr/>
                        <a:rPr lang="en-GB" b="0" i="1">
                          <a:latin typeface="Cambria Math"/>
                        </a:rPr>
                        <m:t>,…</m:t>
                      </m:r>
                    </m:oMath>
                  </m:oMathPara>
                </a14:m>
              </mc:Choice>
              <mc:Fallback/>
            </mc:AlternateContent>
            <a:endParaRPr lang="en-GB"/>
          </a:p>
          <a:p>
            <a:pPr>
              <a:defRPr/>
            </a:pPr>
            <a:r>
              <a:rPr lang="en-GB"/>
              <a:t>Range:	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m:rPr/>
                        <a:rPr lang="en-GB" b="0" i="1">
                          <a:latin typeface="Cambria Math"/>
                        </a:rPr>
                        <m:t>∈</m:t>
                      </m:r>
                      <m:r>
                        <m:rPr/>
                        <a:rPr lang="en-GB" b="0" i="1">
                          <a:latin typeface="Cambria Math"/>
                        </a:rPr>
                        <m:t>ℝ</m:t>
                      </m:r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sp>
        <p:nvSpPr>
          <p:cNvPr id="1814306695" name="Rectangle 35"/>
          <p:cNvSpPr/>
          <p:nvPr/>
        </p:nvSpPr>
        <p:spPr bwMode="auto">
          <a:xfrm>
            <a:off x="6683835" y="2156078"/>
            <a:ext cx="2106338" cy="3106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909775539" name="Rectangle 36"/>
          <p:cNvSpPr/>
          <p:nvPr/>
        </p:nvSpPr>
        <p:spPr bwMode="auto">
          <a:xfrm>
            <a:off x="6683835" y="2478071"/>
            <a:ext cx="2106338" cy="30612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076075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150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02150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30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77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62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41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5041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07607522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8143066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8143066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430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4306695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9097755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9097755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977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9775539"/>
                  </p:tgtEl>
                </p:cond>
              </p:nextCondLst>
            </p:seq>
          </p:childTnLst>
        </p:cTn>
      </p:par>
    </p:tnLst>
    <p:bldLst>
      <p:bldP spid="950411757" grpId="0"/>
      <p:bldP spid="1324621806" grpId="0" animBg="1"/>
      <p:bldP spid="1814306695" grpId="0" animBg="1"/>
      <p:bldP spid="1814306695" grpId="1" animBg="1"/>
      <p:bldP spid="909775539" grpId="0" animBg="1"/>
      <p:bldP spid="90977553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53328229" name="Group 1"/>
          <p:cNvGrpSpPr/>
          <p:nvPr/>
        </p:nvGrpSpPr>
        <p:grpSpPr bwMode="auto"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/>
                <a:t>Example</a:t>
              </a:r>
              <a:endParaRPr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412673177" name="TextBox 4"/>
          <p:cNvSpPr txBox="1"/>
          <p:nvPr/>
        </p:nvSpPr>
        <p:spPr bwMode="auto">
          <a:xfrm>
            <a:off x="310828" y="807120"/>
            <a:ext cx="8208912" cy="1200329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[Textbook]</a:t>
            </a:r>
            <a:endParaRPr/>
          </a:p>
          <a:p>
            <a:pPr>
              <a:defRPr/>
            </a:pPr>
            <a:r>
              <a:rPr lang="en-GB"/>
              <a:t>a) Sketch the graph of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𝑦</m:t>
                      </m:r>
                      <m:r>
                        <m:rPr/>
                        <a:rPr lang="en-GB" b="0" i="1">
                          <a:latin typeface="Cambria Math"/>
                        </a:rPr>
                        <m:t>=4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𝑐𝑜𝑠𝑒𝑐</m:t>
                      </m:r>
                      <m:r>
                        <m:rPr/>
                        <a:rPr lang="en-GB" b="0" i="1">
                          <a:latin typeface="Cambria Math"/>
                        </a:rPr>
                        <m:t> 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𝑥</m:t>
                      </m:r>
                      <m:r>
                        <m:rPr/>
                        <a:rPr lang="en-GB" b="0" i="1">
                          <a:latin typeface="Cambria Math"/>
                        </a:rPr>
                        <m:t>,   −</m:t>
                      </m:r>
                      <m:r>
                        <m:rPr/>
                        <a:rPr lang="en-GB" b="0" i="1">
                          <a:latin typeface="Cambria Math"/>
                        </a:rPr>
                        <m:t>𝜋</m:t>
                      </m:r>
                      <m:r>
                        <m:rPr/>
                        <a:rPr lang="en-GB" b="0" i="1">
                          <a:latin typeface="Cambria Math"/>
                        </a:rPr>
                        <m:t>≤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𝑥</m:t>
                      </m:r>
                      <m:r>
                        <m:rPr/>
                        <a:rPr lang="en-GB" b="0" i="1">
                          <a:latin typeface="Cambria Math"/>
                        </a:rPr>
                        <m:t>≤</m:t>
                      </m:r>
                      <m:r>
                        <m:rPr/>
                        <a:rPr lang="en-GB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r>
              <a:rPr lang="en-GB"/>
              <a:t>.</a:t>
            </a:r>
            <a:endParaRPr/>
          </a:p>
          <a:p>
            <a:pPr>
              <a:defRPr/>
            </a:pPr>
            <a:r>
              <a:rPr lang="en-GB"/>
              <a:t>b) On the same axes, sketch the line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𝑦</m:t>
                      </m:r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𝑥</m:t>
                      </m:r>
                    </m:oMath>
                  </m:oMathPara>
                </a14:m>
              </mc:Choice>
              <mc:Fallback/>
            </mc:AlternateContent>
            <a:r>
              <a:rPr lang="en-GB"/>
              <a:t>.</a:t>
            </a:r>
            <a:endParaRPr/>
          </a:p>
          <a:p>
            <a:pPr>
              <a:defRPr/>
            </a:pPr>
            <a:r>
              <a:rPr lang="en-GB"/>
              <a:t>c) State the number of solutions to the equation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4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𝑐𝑜𝑠𝑒𝑐</m:t>
                      </m:r>
                      <m:r>
                        <m:rPr/>
                        <a:rPr lang="en-GB" b="0" i="1">
                          <a:latin typeface="Cambria Math"/>
                        </a:rPr>
                        <m:t> 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𝑥</m:t>
                      </m:r>
                      <m:r>
                        <m:rPr/>
                        <a:rPr lang="en-GB" b="0" i="1">
                          <a:latin typeface="Cambria Math"/>
                        </a:rPr>
                        <m:t>−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𝑥</m:t>
                      </m:r>
                      <m:r>
                        <m:rPr/>
                        <a:rPr lang="en-GB" b="0" i="1">
                          <a:latin typeface="Cambria Math"/>
                        </a:rPr>
                        <m:t>=0,  −</m:t>
                      </m:r>
                      <m:r>
                        <m:rPr/>
                        <a:rPr lang="en-GB" b="0" i="1">
                          <a:latin typeface="Cambria Math"/>
                        </a:rPr>
                        <m:t>𝜋</m:t>
                      </m:r>
                      <m:r>
                        <m:rPr/>
                        <a:rPr lang="en-GB" b="0" i="1">
                          <a:latin typeface="Cambria Math"/>
                        </a:rPr>
                        <m:t>≤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𝑥</m:t>
                      </m:r>
                      <m:r>
                        <m:rPr/>
                        <a:rPr lang="en-GB" b="0" i="1">
                          <a:latin typeface="Cambria Math"/>
                        </a:rPr>
                        <m:t>≤</m:t>
                      </m:r>
                      <m:r>
                        <m:rPr/>
                        <a:rPr lang="en-GB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cxnSp>
        <p:nvCxnSpPr>
          <p:cNvPr id="1793354256" name="Straight Arrow Connector 5"/>
          <p:cNvCxnSpPr/>
          <p:nvPr/>
        </p:nvCxnSpPr>
        <p:spPr bwMode="auto">
          <a:xfrm>
            <a:off x="1363267" y="4476639"/>
            <a:ext cx="5304612" cy="11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6622785" name="Straight Arrow Connector 6"/>
          <p:cNvCxnSpPr/>
          <p:nvPr/>
        </p:nvCxnSpPr>
        <p:spPr bwMode="auto">
          <a:xfrm flipH="1" flipV="1">
            <a:off x="3670300" y="2590800"/>
            <a:ext cx="2" cy="4013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72578414" name="TextBox 7"/>
          <p:cNvSpPr txBox="1"/>
          <p:nvPr/>
        </p:nvSpPr>
        <p:spPr bwMode="auto">
          <a:xfrm>
            <a:off x="3502339" y="2211202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𝑦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2122332273" name="TextBox 10"/>
          <p:cNvSpPr txBox="1"/>
          <p:nvPr/>
        </p:nvSpPr>
        <p:spPr bwMode="auto">
          <a:xfrm>
            <a:off x="6638153" y="4276584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𝑥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884604420" name="TextBox 11"/>
          <p:cNvSpPr txBox="1"/>
          <p:nvPr/>
        </p:nvSpPr>
        <p:spPr bwMode="auto">
          <a:xfrm>
            <a:off x="3336509" y="3466867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4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978375040" name="TextBox 12"/>
          <p:cNvSpPr txBox="1"/>
          <p:nvPr/>
        </p:nvSpPr>
        <p:spPr bwMode="auto">
          <a:xfrm>
            <a:off x="3189799" y="5334727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−4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228408431" name="TextBox 13"/>
          <p:cNvSpPr txBox="1"/>
          <p:nvPr/>
        </p:nvSpPr>
        <p:spPr bwMode="auto">
          <a:xfrm>
            <a:off x="1289166" y="4511489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−</m:t>
                      </m:r>
                      <m:r>
                        <m:rPr/>
                        <a:rPr lang="en-GB" sz="2000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853042342" name="TextBox 14"/>
          <p:cNvSpPr txBox="1"/>
          <p:nvPr/>
        </p:nvSpPr>
        <p:spPr bwMode="auto">
          <a:xfrm>
            <a:off x="5721859" y="4508299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571603678" name="TextBox 15"/>
          <p:cNvSpPr txBox="1"/>
          <p:nvPr/>
        </p:nvSpPr>
        <p:spPr bwMode="auto">
          <a:xfrm>
            <a:off x="2150979" y="4432209"/>
            <a:ext cx="584051" cy="668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GB" sz="20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2000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/>
                            <a:rPr lang="en-GB" sz="2000" b="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m:rPr/>
                        <a:rPr lang="en-GB" sz="2000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40195414" name="TextBox 16"/>
          <p:cNvSpPr txBox="1"/>
          <p:nvPr/>
        </p:nvSpPr>
        <p:spPr bwMode="auto">
          <a:xfrm>
            <a:off x="4476031" y="4439829"/>
            <a:ext cx="344656" cy="668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lang="en-GB" sz="20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2000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/>
                            <a:rPr lang="en-GB" sz="2000" b="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m:rPr/>
                        <a:rPr lang="en-GB" sz="2000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71305155" name="Freeform 30"/>
          <p:cNvSpPr/>
          <p:nvPr/>
        </p:nvSpPr>
        <p:spPr bwMode="auto">
          <a:xfrm>
            <a:off x="3733800" y="2610938"/>
            <a:ext cx="2105887" cy="1084762"/>
          </a:xfrm>
          <a:custGeom>
            <a:avLst/>
            <a:gdLst>
              <a:gd name="connsiteX0" fmla="*/ 0 w 1983037"/>
              <a:gd name="connsiteY0" fmla="*/ 0 h 1334648"/>
              <a:gd name="connsiteX1" fmla="*/ 143220 w 1983037"/>
              <a:gd name="connsiteY1" fmla="*/ 683046 h 1334648"/>
              <a:gd name="connsiteX2" fmla="*/ 594911 w 1983037"/>
              <a:gd name="connsiteY2" fmla="*/ 1178805 h 1334648"/>
              <a:gd name="connsiteX3" fmla="*/ 1013552 w 1983037"/>
              <a:gd name="connsiteY3" fmla="*/ 1333041 h 1334648"/>
              <a:gd name="connsiteX4" fmla="*/ 1410159 w 1983037"/>
              <a:gd name="connsiteY4" fmla="*/ 1211856 h 1334648"/>
              <a:gd name="connsiteX5" fmla="*/ 1861851 w 1983037"/>
              <a:gd name="connsiteY5" fmla="*/ 583894 h 1334648"/>
              <a:gd name="connsiteX6" fmla="*/ 1983037 w 1983037"/>
              <a:gd name="connsiteY6" fmla="*/ 0 h 1334648"/>
              <a:gd name="connsiteX0" fmla="*/ 0 w 2137273"/>
              <a:gd name="connsiteY0" fmla="*/ 176270 h 1510918"/>
              <a:gd name="connsiteX1" fmla="*/ 143220 w 2137273"/>
              <a:gd name="connsiteY1" fmla="*/ 859316 h 1510918"/>
              <a:gd name="connsiteX2" fmla="*/ 594911 w 2137273"/>
              <a:gd name="connsiteY2" fmla="*/ 1355075 h 1510918"/>
              <a:gd name="connsiteX3" fmla="*/ 1013552 w 2137273"/>
              <a:gd name="connsiteY3" fmla="*/ 1509311 h 1510918"/>
              <a:gd name="connsiteX4" fmla="*/ 1410159 w 2137273"/>
              <a:gd name="connsiteY4" fmla="*/ 1388126 h 1510918"/>
              <a:gd name="connsiteX5" fmla="*/ 1861851 w 2137273"/>
              <a:gd name="connsiteY5" fmla="*/ 760164 h 1510918"/>
              <a:gd name="connsiteX6" fmla="*/ 2137273 w 2137273"/>
              <a:gd name="connsiteY6" fmla="*/ 0 h 1510918"/>
              <a:gd name="connsiteX0" fmla="*/ 0 w 2137273"/>
              <a:gd name="connsiteY0" fmla="*/ 176270 h 1510234"/>
              <a:gd name="connsiteX1" fmla="*/ 143220 w 2137273"/>
              <a:gd name="connsiteY1" fmla="*/ 859316 h 1510234"/>
              <a:gd name="connsiteX2" fmla="*/ 594911 w 2137273"/>
              <a:gd name="connsiteY2" fmla="*/ 1355075 h 1510234"/>
              <a:gd name="connsiteX3" fmla="*/ 1013552 w 2137273"/>
              <a:gd name="connsiteY3" fmla="*/ 1509311 h 1510234"/>
              <a:gd name="connsiteX4" fmla="*/ 1410159 w 2137273"/>
              <a:gd name="connsiteY4" fmla="*/ 1388126 h 1510234"/>
              <a:gd name="connsiteX5" fmla="*/ 1861851 w 2137273"/>
              <a:gd name="connsiteY5" fmla="*/ 848299 h 1510234"/>
              <a:gd name="connsiteX6" fmla="*/ 2137273 w 2137273"/>
              <a:gd name="connsiteY6" fmla="*/ 0 h 1510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7273" h="1510234" fill="norm" stroke="1" extrusionOk="0">
                <a:moveTo>
                  <a:pt x="0" y="176270"/>
                </a:moveTo>
                <a:cubicBezTo>
                  <a:pt x="22034" y="419559"/>
                  <a:pt x="44068" y="662849"/>
                  <a:pt x="143220" y="859316"/>
                </a:cubicBezTo>
                <a:cubicBezTo>
                  <a:pt x="242372" y="1055783"/>
                  <a:pt x="449856" y="1246743"/>
                  <a:pt x="594911" y="1355075"/>
                </a:cubicBezTo>
                <a:cubicBezTo>
                  <a:pt x="739966" y="1463407"/>
                  <a:pt x="877677" y="1503803"/>
                  <a:pt x="1013552" y="1509311"/>
                </a:cubicBezTo>
                <a:cubicBezTo>
                  <a:pt x="1149427" y="1514819"/>
                  <a:pt x="1268776" y="1498295"/>
                  <a:pt x="1410159" y="1388126"/>
                </a:cubicBezTo>
                <a:cubicBezTo>
                  <a:pt x="1551542" y="1277957"/>
                  <a:pt x="1740665" y="1079653"/>
                  <a:pt x="1861851" y="848299"/>
                </a:cubicBezTo>
                <a:cubicBezTo>
                  <a:pt x="1983037" y="616945"/>
                  <a:pt x="2124420" y="190959"/>
                  <a:pt x="2137273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491172526" name="Freeform 33"/>
          <p:cNvSpPr/>
          <p:nvPr/>
        </p:nvSpPr>
        <p:spPr bwMode="auto">
          <a:xfrm rot="10800000">
            <a:off x="1449673" y="5503019"/>
            <a:ext cx="2137273" cy="1139081"/>
          </a:xfrm>
          <a:custGeom>
            <a:avLst/>
            <a:gdLst>
              <a:gd name="connsiteX0" fmla="*/ 0 w 1983037"/>
              <a:gd name="connsiteY0" fmla="*/ 0 h 1334648"/>
              <a:gd name="connsiteX1" fmla="*/ 143220 w 1983037"/>
              <a:gd name="connsiteY1" fmla="*/ 683046 h 1334648"/>
              <a:gd name="connsiteX2" fmla="*/ 594911 w 1983037"/>
              <a:gd name="connsiteY2" fmla="*/ 1178805 h 1334648"/>
              <a:gd name="connsiteX3" fmla="*/ 1013552 w 1983037"/>
              <a:gd name="connsiteY3" fmla="*/ 1333041 h 1334648"/>
              <a:gd name="connsiteX4" fmla="*/ 1410159 w 1983037"/>
              <a:gd name="connsiteY4" fmla="*/ 1211856 h 1334648"/>
              <a:gd name="connsiteX5" fmla="*/ 1861851 w 1983037"/>
              <a:gd name="connsiteY5" fmla="*/ 583894 h 1334648"/>
              <a:gd name="connsiteX6" fmla="*/ 1983037 w 1983037"/>
              <a:gd name="connsiteY6" fmla="*/ 0 h 1334648"/>
              <a:gd name="connsiteX0" fmla="*/ 0 w 2137273"/>
              <a:gd name="connsiteY0" fmla="*/ 176270 h 1510918"/>
              <a:gd name="connsiteX1" fmla="*/ 143220 w 2137273"/>
              <a:gd name="connsiteY1" fmla="*/ 859316 h 1510918"/>
              <a:gd name="connsiteX2" fmla="*/ 594911 w 2137273"/>
              <a:gd name="connsiteY2" fmla="*/ 1355075 h 1510918"/>
              <a:gd name="connsiteX3" fmla="*/ 1013552 w 2137273"/>
              <a:gd name="connsiteY3" fmla="*/ 1509311 h 1510918"/>
              <a:gd name="connsiteX4" fmla="*/ 1410159 w 2137273"/>
              <a:gd name="connsiteY4" fmla="*/ 1388126 h 1510918"/>
              <a:gd name="connsiteX5" fmla="*/ 1861851 w 2137273"/>
              <a:gd name="connsiteY5" fmla="*/ 760164 h 1510918"/>
              <a:gd name="connsiteX6" fmla="*/ 2137273 w 2137273"/>
              <a:gd name="connsiteY6" fmla="*/ 0 h 1510918"/>
              <a:gd name="connsiteX0" fmla="*/ 0 w 2137273"/>
              <a:gd name="connsiteY0" fmla="*/ 176270 h 1510234"/>
              <a:gd name="connsiteX1" fmla="*/ 143220 w 2137273"/>
              <a:gd name="connsiteY1" fmla="*/ 859316 h 1510234"/>
              <a:gd name="connsiteX2" fmla="*/ 594911 w 2137273"/>
              <a:gd name="connsiteY2" fmla="*/ 1355075 h 1510234"/>
              <a:gd name="connsiteX3" fmla="*/ 1013552 w 2137273"/>
              <a:gd name="connsiteY3" fmla="*/ 1509311 h 1510234"/>
              <a:gd name="connsiteX4" fmla="*/ 1410159 w 2137273"/>
              <a:gd name="connsiteY4" fmla="*/ 1388126 h 1510234"/>
              <a:gd name="connsiteX5" fmla="*/ 1861851 w 2137273"/>
              <a:gd name="connsiteY5" fmla="*/ 848299 h 1510234"/>
              <a:gd name="connsiteX6" fmla="*/ 2137273 w 2137273"/>
              <a:gd name="connsiteY6" fmla="*/ 0 h 1510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7273" h="1510234" fill="norm" stroke="1" extrusionOk="0">
                <a:moveTo>
                  <a:pt x="0" y="176270"/>
                </a:moveTo>
                <a:cubicBezTo>
                  <a:pt x="22034" y="419559"/>
                  <a:pt x="44068" y="662849"/>
                  <a:pt x="143220" y="859316"/>
                </a:cubicBezTo>
                <a:cubicBezTo>
                  <a:pt x="242372" y="1055783"/>
                  <a:pt x="449856" y="1246743"/>
                  <a:pt x="594911" y="1355075"/>
                </a:cubicBezTo>
                <a:cubicBezTo>
                  <a:pt x="739966" y="1463407"/>
                  <a:pt x="877677" y="1503803"/>
                  <a:pt x="1013552" y="1509311"/>
                </a:cubicBezTo>
                <a:cubicBezTo>
                  <a:pt x="1149427" y="1514819"/>
                  <a:pt x="1268776" y="1498295"/>
                  <a:pt x="1410159" y="1388126"/>
                </a:cubicBezTo>
                <a:cubicBezTo>
                  <a:pt x="1551542" y="1277957"/>
                  <a:pt x="1740665" y="1079653"/>
                  <a:pt x="1861851" y="848299"/>
                </a:cubicBezTo>
                <a:cubicBezTo>
                  <a:pt x="1983037" y="616945"/>
                  <a:pt x="2124420" y="190959"/>
                  <a:pt x="2137273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39852197" name="TextBox 21"/>
          <p:cNvSpPr txBox="1"/>
          <p:nvPr/>
        </p:nvSpPr>
        <p:spPr bwMode="auto">
          <a:xfrm>
            <a:off x="5685727" y="2640819"/>
            <a:ext cx="1569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0" i="1">
                          <a:solidFill>
                            <a:schemeClr val="tx1"/>
                          </a:solidFill>
                          <a:latin typeface="Cambria Math"/>
                        </a:rPr>
                        <m:t>𝑦</m:t>
                      </m:r>
                      <m:r>
                        <m:rPr/>
                        <a:rPr lang="en-GB" b="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cosec</m:t>
                          </m:r>
                        </m:fName>
                        <m:e>
                          <m:r>
                            <m:rPr/>
                            <a:rPr lang="en-GB" b="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124533301" name="Straight Connector 36"/>
          <p:cNvCxnSpPr/>
          <p:nvPr/>
        </p:nvCxnSpPr>
        <p:spPr bwMode="auto">
          <a:xfrm flipV="1">
            <a:off x="1480457" y="3512457"/>
            <a:ext cx="4426857" cy="19158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7369310" name="TextBox 38"/>
          <p:cNvSpPr txBox="1"/>
          <p:nvPr/>
        </p:nvSpPr>
        <p:spPr bwMode="auto">
          <a:xfrm>
            <a:off x="5871008" y="3222757"/>
            <a:ext cx="994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0" i="1">
                          <a:solidFill>
                            <a:schemeClr val="tx1"/>
                          </a:solidFill>
                          <a:latin typeface="Cambria Math"/>
                        </a:rPr>
                        <m:t>𝑦</m:t>
                      </m:r>
                      <m:r>
                        <m:rPr/>
                        <a:rPr lang="en-GB" b="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m:rPr/>
                        <a:rPr lang="en-GB" i="1">
                          <a:solidFill>
                            <a:schemeClr val="tx1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</mc:Choice>
              <mc:Fallback/>
            </mc:AlternateContent>
            <a:endParaRPr lang="en-GB">
              <a:solidFill>
                <a:schemeClr val="tx1"/>
              </a:solidFill>
            </a:endParaRPr>
          </a:p>
        </p:txBody>
      </p:sp>
      <p:sp>
        <p:nvSpPr>
          <p:cNvPr id="118564853" name="TextBox 39"/>
          <p:cNvSpPr txBox="1"/>
          <p:nvPr/>
        </p:nvSpPr>
        <p:spPr bwMode="auto">
          <a:xfrm>
            <a:off x="5167085" y="5029927"/>
            <a:ext cx="31786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1" i="1">
                          <a:latin typeface="Cambria Math"/>
                        </a:rPr>
                        <m:t>𝟒</m:t>
                      </m:r>
                      <m:r>
                        <m:rPr/>
                        <a:rPr lang="en-GB" b="1" i="1">
                          <a:latin typeface="Cambria Math"/>
                        </a:rPr>
                        <m:t>𝒄𝒐𝒔𝒆𝒄</m:t>
                      </m:r>
                      <m:r>
                        <m:rPr/>
                        <a:rPr lang="en-GB" b="1" i="1">
                          <a:latin typeface="Cambria Math"/>
                        </a:rPr>
                        <m:t> </m:t>
                      </m:r>
                      <m:r>
                        <m:rPr/>
                        <a:rPr lang="en-GB" b="1" i="1">
                          <a:latin typeface="Cambria Math"/>
                        </a:rPr>
                        <m:t>𝒙</m:t>
                      </m:r>
                      <m:r>
                        <m:rPr/>
                        <a:rPr lang="en-GB" b="1" i="1">
                          <a:latin typeface="Cambria Math"/>
                        </a:rPr>
                        <m:t>−</m:t>
                      </m:r>
                      <m:r>
                        <m:rPr/>
                        <a:rPr lang="en-GB" b="1" i="1">
                          <a:latin typeface="Cambria Math"/>
                        </a:rPr>
                        <m:t>𝒙</m:t>
                      </m:r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r>
                        <m:rPr/>
                        <a:rPr lang="en-GB" b="1" i="1">
                          <a:latin typeface="Cambria Math"/>
                        </a:rPr>
                        <m:t>𝟎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1" i="1">
                          <a:latin typeface="Cambria Math"/>
                        </a:rPr>
                        <m:t>𝟒</m:t>
                      </m:r>
                      <m:r>
                        <m:rPr/>
                        <a:rPr lang="en-GB" b="1" i="1">
                          <a:latin typeface="Cambria Math"/>
                        </a:rPr>
                        <m:t>𝒄𝒐𝒔𝒆𝒄</m:t>
                      </m:r>
                      <m:r>
                        <m:rPr/>
                        <a:rPr lang="en-GB" b="1" i="1">
                          <a:latin typeface="Cambria Math"/>
                        </a:rPr>
                        <m:t> </m:t>
                      </m:r>
                      <m:r>
                        <m:rPr/>
                        <a:rPr lang="en-GB" b="1" i="1">
                          <a:latin typeface="Cambria Math"/>
                        </a:rPr>
                        <m:t>𝒙</m:t>
                      </m:r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r>
                        <m:rPr/>
                        <a:rPr lang="en-GB" b="1" i="1">
                          <a:latin typeface="Cambria Math"/>
                        </a:rPr>
                        <m:t>𝒙</m:t>
                      </m:r>
                    </m:oMath>
                  </m:oMathPara>
                </a14:m>
              </mc:Choice>
              <mc:Fallback/>
            </mc:AlternateContent>
            <a:endParaRPr lang="en-GB" b="1"/>
          </a:p>
          <a:p>
            <a:pPr>
              <a:defRPr/>
            </a:pPr>
            <a:r>
              <a:rPr lang="en-GB" b="1"/>
              <a:t>The lines do not intersect for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1" i="1">
                          <a:latin typeface="Cambria Math"/>
                        </a:rPr>
                        <m:t>−</m:t>
                      </m:r>
                      <m:r>
                        <m:rPr/>
                        <a:rPr lang="en-GB" b="1" i="1">
                          <a:latin typeface="Cambria Math"/>
                        </a:rPr>
                        <m:t>𝝅</m:t>
                      </m:r>
                      <m:r>
                        <m:rPr/>
                        <a:rPr lang="en-GB" b="1" i="1">
                          <a:latin typeface="Cambria Math"/>
                        </a:rPr>
                        <m:t>≤</m:t>
                      </m:r>
                      <m:r>
                        <m:rPr/>
                        <a:rPr lang="en-GB" b="1" i="1">
                          <a:latin typeface="Cambria Math"/>
                        </a:rPr>
                        <m:t>𝒙</m:t>
                      </m:r>
                      <m:r>
                        <m:rPr/>
                        <a:rPr lang="en-GB" b="1" i="1">
                          <a:latin typeface="Cambria Math"/>
                        </a:rPr>
                        <m:t>≤</m:t>
                      </m:r>
                      <m:r>
                        <m:rPr/>
                        <a:rPr lang="en-GB" b="1" i="1">
                          <a:latin typeface="Cambria Math"/>
                        </a:rPr>
                        <m:t>𝝅</m:t>
                      </m:r>
                    </m:oMath>
                  </m:oMathPara>
                </a14:m>
              </mc:Choice>
              <mc:Fallback/>
            </mc:AlternateContent>
            <a:r>
              <a:rPr lang="en-GB" b="1"/>
              <a:t> so there are no solutions.</a:t>
            </a:r>
            <a:endParaRPr/>
          </a:p>
        </p:txBody>
      </p:sp>
      <p:sp>
        <p:nvSpPr>
          <p:cNvPr id="23614997" name="Rectangle 40"/>
          <p:cNvSpPr/>
          <p:nvPr/>
        </p:nvSpPr>
        <p:spPr bwMode="auto">
          <a:xfrm>
            <a:off x="283624" y="2018666"/>
            <a:ext cx="8236115" cy="46234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6149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6149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1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14997"/>
                  </p:tgtEl>
                </p:cond>
              </p:nextCondLst>
            </p:seq>
          </p:childTnLst>
        </p:cTn>
      </p:par>
    </p:tnLst>
    <p:bldLst>
      <p:bldP spid="2361499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25036239" name="Group 1"/>
          <p:cNvGrpSpPr/>
          <p:nvPr/>
        </p:nvGrpSpPr>
        <p:grpSpPr bwMode="auto"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/>
                <a:t>Test Your Understanding</a:t>
              </a:r>
              <a:endParaRPr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931818037" name="TextBox 4"/>
          <p:cNvSpPr txBox="1"/>
          <p:nvPr/>
        </p:nvSpPr>
        <p:spPr bwMode="auto">
          <a:xfrm>
            <a:off x="310828" y="807120"/>
            <a:ext cx="8208912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Sketch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𝑦</m:t>
                      </m:r>
                      <m:r>
                        <m:rPr/>
                        <a:rPr lang="en-GB" b="0" i="1">
                          <a:latin typeface="Cambria Math"/>
                        </a:rPr>
                        <m:t>=−1+</m:t>
                      </m:r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sec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2</m:t>
                          </m:r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/>
              <a:t> in the interval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0≤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𝑥</m:t>
                      </m:r>
                      <m:r>
                        <m:rPr/>
                        <a:rPr lang="en-GB" b="0" i="1">
                          <a:latin typeface="Cambria Math"/>
                        </a:rPr>
                        <m:t>&lt;360°</m:t>
                      </m:r>
                    </m:oMath>
                  </m:oMathPara>
                </a14:m>
              </mc:Choice>
              <mc:Fallback/>
            </mc:AlternateContent>
            <a:r>
              <a:rPr lang="en-GB"/>
              <a:t>.</a:t>
            </a:r>
            <a:endParaRPr/>
          </a:p>
        </p:txBody>
      </p:sp>
      <p:cxnSp>
        <p:nvCxnSpPr>
          <p:cNvPr id="904454688" name="Straight Arrow Connector 5"/>
          <p:cNvCxnSpPr/>
          <p:nvPr/>
        </p:nvCxnSpPr>
        <p:spPr bwMode="auto">
          <a:xfrm flipV="1">
            <a:off x="549567" y="2779760"/>
            <a:ext cx="2582273" cy="67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4240430" name="Straight Arrow Connector 6"/>
          <p:cNvCxnSpPr/>
          <p:nvPr/>
        </p:nvCxnSpPr>
        <p:spPr bwMode="auto">
          <a:xfrm flipH="1" flipV="1">
            <a:off x="562267" y="1708600"/>
            <a:ext cx="2741" cy="24007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0858630" name="TextBox 7"/>
          <p:cNvSpPr txBox="1"/>
          <p:nvPr/>
        </p:nvSpPr>
        <p:spPr bwMode="auto">
          <a:xfrm>
            <a:off x="267776" y="2135870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1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sp>
        <p:nvSpPr>
          <p:cNvPr id="245617315" name="TextBox 9"/>
          <p:cNvSpPr txBox="1"/>
          <p:nvPr/>
        </p:nvSpPr>
        <p:spPr bwMode="auto">
          <a:xfrm>
            <a:off x="392680" y="1419642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𝑦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grpSp>
        <p:nvGrpSpPr>
          <p:cNvPr id="1571790779" name="Group 16"/>
          <p:cNvGrpSpPr/>
          <p:nvPr/>
        </p:nvGrpSpPr>
        <p:grpSpPr bwMode="auto">
          <a:xfrm>
            <a:off x="569664" y="1534407"/>
            <a:ext cx="2676099" cy="2580392"/>
            <a:chOff x="1674564" y="1399142"/>
            <a:chExt cx="5857222" cy="5012675"/>
          </a:xfrm>
        </p:grpSpPr>
        <p:cxnSp>
          <p:nvCxnSpPr>
            <p:cNvPr id="18" name="Straight Connector 17"/>
            <p:cNvCxnSpPr/>
            <p:nvPr/>
          </p:nvCxnSpPr>
          <p:spPr bwMode="auto">
            <a:xfrm flipV="1">
              <a:off x="2757002" y="1444074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auto">
            <a:xfrm flipV="1">
              <a:off x="5000337" y="1444073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Freeform 21"/>
            <p:cNvSpPr/>
            <p:nvPr/>
          </p:nvSpPr>
          <p:spPr bwMode="auto">
            <a:xfrm>
              <a:off x="1674564" y="1454227"/>
              <a:ext cx="1024569" cy="1498293"/>
            </a:xfrm>
            <a:custGeom>
              <a:avLst/>
              <a:gdLst>
                <a:gd name="connsiteX0" fmla="*/ 0 w 1024569"/>
                <a:gd name="connsiteY0" fmla="*/ 1498293 h 1498293"/>
                <a:gd name="connsiteX1" fmla="*/ 385590 w 1024569"/>
                <a:gd name="connsiteY1" fmla="*/ 1366091 h 1498293"/>
                <a:gd name="connsiteX2" fmla="*/ 870332 w 1024569"/>
                <a:gd name="connsiteY2" fmla="*/ 870332 h 1498293"/>
                <a:gd name="connsiteX3" fmla="*/ 1024569 w 1024569"/>
                <a:gd name="connsiteY3" fmla="*/ 0 h 149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4569" h="1498293" fill="norm" stroke="1" extrusionOk="0">
                  <a:moveTo>
                    <a:pt x="0" y="1498293"/>
                  </a:moveTo>
                  <a:cubicBezTo>
                    <a:pt x="120267" y="1484522"/>
                    <a:pt x="240535" y="1470751"/>
                    <a:pt x="385590" y="1366091"/>
                  </a:cubicBezTo>
                  <a:cubicBezTo>
                    <a:pt x="530645" y="1261431"/>
                    <a:pt x="763836" y="1098014"/>
                    <a:pt x="870332" y="870332"/>
                  </a:cubicBezTo>
                  <a:cubicBezTo>
                    <a:pt x="976828" y="642650"/>
                    <a:pt x="1000698" y="321325"/>
                    <a:pt x="1024569" y="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" name="Freeform 22"/>
            <p:cNvSpPr/>
            <p:nvPr/>
          </p:nvSpPr>
          <p:spPr bwMode="auto">
            <a:xfrm>
              <a:off x="2853369" y="4880299"/>
              <a:ext cx="2071171" cy="1531518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 fill="norm" stroke="1" extrusionOk="0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" name="Freeform 23"/>
            <p:cNvSpPr/>
            <p:nvPr/>
          </p:nvSpPr>
          <p:spPr bwMode="auto">
            <a:xfrm>
              <a:off x="5067759" y="1399142"/>
              <a:ext cx="1134737" cy="1619480"/>
            </a:xfrm>
            <a:custGeom>
              <a:avLst/>
              <a:gdLst>
                <a:gd name="connsiteX0" fmla="*/ 0 w 1134737"/>
                <a:gd name="connsiteY0" fmla="*/ 0 h 1619480"/>
                <a:gd name="connsiteX1" fmla="*/ 121186 w 1134737"/>
                <a:gd name="connsiteY1" fmla="*/ 517793 h 1619480"/>
                <a:gd name="connsiteX2" fmla="*/ 396607 w 1134737"/>
                <a:gd name="connsiteY2" fmla="*/ 1079653 h 1619480"/>
                <a:gd name="connsiteX3" fmla="*/ 837282 w 1134737"/>
                <a:gd name="connsiteY3" fmla="*/ 1476260 h 1619480"/>
                <a:gd name="connsiteX4" fmla="*/ 1134737 w 1134737"/>
                <a:gd name="connsiteY4" fmla="*/ 1619480 h 1619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4737" h="1619480" fill="norm" stroke="1" extrusionOk="0">
                  <a:moveTo>
                    <a:pt x="0" y="0"/>
                  </a:moveTo>
                  <a:cubicBezTo>
                    <a:pt x="27542" y="168925"/>
                    <a:pt x="55085" y="337851"/>
                    <a:pt x="121186" y="517793"/>
                  </a:cubicBezTo>
                  <a:cubicBezTo>
                    <a:pt x="187287" y="697735"/>
                    <a:pt x="277258" y="919909"/>
                    <a:pt x="396607" y="1079653"/>
                  </a:cubicBezTo>
                  <a:cubicBezTo>
                    <a:pt x="515956" y="1239397"/>
                    <a:pt x="714260" y="1386289"/>
                    <a:pt x="837282" y="1476260"/>
                  </a:cubicBezTo>
                  <a:cubicBezTo>
                    <a:pt x="960304" y="1566231"/>
                    <a:pt x="1047520" y="1592855"/>
                    <a:pt x="1134737" y="161948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3" name="TextBox 22"/>
            <p:cNvSpPr txBox="1"/>
            <p:nvPr/>
          </p:nvSpPr>
          <p:spPr bwMode="auto">
            <a:xfrm>
              <a:off x="4919741" y="1841651"/>
              <a:ext cx="2612045" cy="538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sz="1200" b="1" i="1">
                            <a:solidFill>
                              <a:schemeClr val="tx2"/>
                            </a:solidFill>
                            <a:latin typeface="Cambria Math"/>
                          </a:rPr>
                          <m:t>𝒚</m:t>
                        </m:r>
                        <m:r>
                          <m:rPr/>
                          <a:rPr lang="en-GB" sz="1200" b="1" i="1">
                            <a:solidFill>
                              <a:schemeClr val="tx2"/>
                            </a:solidFill>
                            <a:latin typeface="Cambria Math"/>
                          </a:rPr>
                          <m:t>=</m:t>
                        </m:r>
                        <m:func>
                          <m:funcPr>
                            <m:ctrlPr>
                              <a:rPr lang="en-GB" sz="1200" b="1" i="1">
                                <a:solidFill>
                                  <a:schemeClr val="tx2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uncPr>
                          <m:fName>
                            <m:r>
                              <m:rPr/>
                              <a:rPr lang="en-GB" sz="1200" b="1" i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𝐬𝐞𝐜</m:t>
                            </m:r>
                          </m:fName>
                          <m:e>
                            <m:r>
                              <m:rPr/>
                              <a:rPr lang="en-GB" sz="12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</m:func>
                      </m:oMath>
                    </m:oMathPara>
                  </a14:m>
                </mc:Choice>
                <mc:Fallback/>
              </mc:AlternateContent>
              <a:endParaRPr lang="en-GB" sz="1200" b="1">
                <a:solidFill>
                  <a:schemeClr val="tx2"/>
                </a:solidFill>
              </a:endParaRPr>
            </a:p>
          </p:txBody>
        </p:sp>
      </p:grpSp>
      <p:sp>
        <p:nvSpPr>
          <p:cNvPr id="1454572794" name="TextBox 26"/>
          <p:cNvSpPr txBox="1"/>
          <p:nvPr/>
        </p:nvSpPr>
        <p:spPr bwMode="auto">
          <a:xfrm>
            <a:off x="221524" y="3171219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−1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sp>
        <p:nvSpPr>
          <p:cNvPr id="1680800303" name="TextBox 27"/>
          <p:cNvSpPr txBox="1"/>
          <p:nvPr/>
        </p:nvSpPr>
        <p:spPr bwMode="auto">
          <a:xfrm>
            <a:off x="3030623" y="2627405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𝑥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sp>
        <p:nvSpPr>
          <p:cNvPr id="294080216" name="TextBox 28"/>
          <p:cNvSpPr txBox="1"/>
          <p:nvPr/>
        </p:nvSpPr>
        <p:spPr bwMode="auto">
          <a:xfrm>
            <a:off x="855933" y="2777994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90°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sp>
        <p:nvSpPr>
          <p:cNvPr id="411535948" name="TextBox 29"/>
          <p:cNvSpPr txBox="1"/>
          <p:nvPr/>
        </p:nvSpPr>
        <p:spPr bwMode="auto">
          <a:xfrm>
            <a:off x="1331828" y="2772287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180°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sp>
        <p:nvSpPr>
          <p:cNvPr id="2001235736" name="TextBox 30"/>
          <p:cNvSpPr txBox="1"/>
          <p:nvPr/>
        </p:nvSpPr>
        <p:spPr bwMode="auto">
          <a:xfrm>
            <a:off x="1863913" y="2769318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270°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sp>
        <p:nvSpPr>
          <p:cNvPr id="307472309" name="TextBox 31"/>
          <p:cNvSpPr txBox="1"/>
          <p:nvPr/>
        </p:nvSpPr>
        <p:spPr bwMode="auto">
          <a:xfrm>
            <a:off x="2384743" y="2766143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360°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sp>
        <p:nvSpPr>
          <p:cNvPr id="50842187" name="Arrow: Right 32"/>
          <p:cNvSpPr/>
          <p:nvPr/>
        </p:nvSpPr>
        <p:spPr bwMode="auto">
          <a:xfrm>
            <a:off x="3707904" y="2492896"/>
            <a:ext cx="863987" cy="41789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1391245044" name="Straight Arrow Connector 34"/>
          <p:cNvCxnSpPr/>
          <p:nvPr/>
        </p:nvCxnSpPr>
        <p:spPr bwMode="auto">
          <a:xfrm flipV="1">
            <a:off x="4960390" y="2727768"/>
            <a:ext cx="2582273" cy="67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8429808" name="Straight Arrow Connector 35"/>
          <p:cNvCxnSpPr/>
          <p:nvPr/>
        </p:nvCxnSpPr>
        <p:spPr bwMode="auto">
          <a:xfrm flipH="1" flipV="1">
            <a:off x="4973090" y="1656608"/>
            <a:ext cx="2741" cy="24007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3890464" name="TextBox 36"/>
          <p:cNvSpPr txBox="1"/>
          <p:nvPr/>
        </p:nvSpPr>
        <p:spPr bwMode="auto">
          <a:xfrm>
            <a:off x="4678599" y="2083878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1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sp>
        <p:nvSpPr>
          <p:cNvPr id="1537372905" name="TextBox 37"/>
          <p:cNvSpPr txBox="1"/>
          <p:nvPr/>
        </p:nvSpPr>
        <p:spPr bwMode="auto">
          <a:xfrm>
            <a:off x="4803503" y="1367650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𝑦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grpSp>
        <p:nvGrpSpPr>
          <p:cNvPr id="1358792507" name="Group 38"/>
          <p:cNvGrpSpPr/>
          <p:nvPr/>
        </p:nvGrpSpPr>
        <p:grpSpPr bwMode="auto">
          <a:xfrm>
            <a:off x="4980488" y="1505544"/>
            <a:ext cx="1235270" cy="2557263"/>
            <a:chOff x="1674564" y="1444073"/>
            <a:chExt cx="5663871" cy="4967744"/>
          </a:xfrm>
        </p:grpSpPr>
        <p:cxnSp>
          <p:nvCxnSpPr>
            <p:cNvPr id="40" name="Straight Connector 39"/>
            <p:cNvCxnSpPr/>
            <p:nvPr/>
          </p:nvCxnSpPr>
          <p:spPr bwMode="auto">
            <a:xfrm flipV="1">
              <a:off x="2757002" y="1444074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 bwMode="auto">
            <a:xfrm flipV="1">
              <a:off x="5000337" y="1444073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Freeform 21"/>
            <p:cNvSpPr/>
            <p:nvPr/>
          </p:nvSpPr>
          <p:spPr bwMode="auto">
            <a:xfrm>
              <a:off x="1674564" y="1454227"/>
              <a:ext cx="1024569" cy="1498293"/>
            </a:xfrm>
            <a:custGeom>
              <a:avLst/>
              <a:gdLst>
                <a:gd name="connsiteX0" fmla="*/ 0 w 1024569"/>
                <a:gd name="connsiteY0" fmla="*/ 1498293 h 1498293"/>
                <a:gd name="connsiteX1" fmla="*/ 385590 w 1024569"/>
                <a:gd name="connsiteY1" fmla="*/ 1366091 h 1498293"/>
                <a:gd name="connsiteX2" fmla="*/ 870332 w 1024569"/>
                <a:gd name="connsiteY2" fmla="*/ 870332 h 1498293"/>
                <a:gd name="connsiteX3" fmla="*/ 1024569 w 1024569"/>
                <a:gd name="connsiteY3" fmla="*/ 0 h 149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4569" h="1498293" fill="norm" stroke="1" extrusionOk="0">
                  <a:moveTo>
                    <a:pt x="0" y="1498293"/>
                  </a:moveTo>
                  <a:cubicBezTo>
                    <a:pt x="120267" y="1484522"/>
                    <a:pt x="240535" y="1470751"/>
                    <a:pt x="385590" y="1366091"/>
                  </a:cubicBezTo>
                  <a:cubicBezTo>
                    <a:pt x="530645" y="1261431"/>
                    <a:pt x="763836" y="1098014"/>
                    <a:pt x="870332" y="870332"/>
                  </a:cubicBezTo>
                  <a:cubicBezTo>
                    <a:pt x="976828" y="642650"/>
                    <a:pt x="1000698" y="321325"/>
                    <a:pt x="1024569" y="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43" name="Freeform 22"/>
            <p:cNvSpPr/>
            <p:nvPr/>
          </p:nvSpPr>
          <p:spPr bwMode="auto">
            <a:xfrm>
              <a:off x="2853369" y="4880299"/>
              <a:ext cx="2071171" cy="1531518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 fill="norm" stroke="1" extrusionOk="0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59" name="Freeform 22"/>
            <p:cNvSpPr/>
            <p:nvPr/>
          </p:nvSpPr>
          <p:spPr bwMode="auto">
            <a:xfrm rot="10800000">
              <a:off x="5267264" y="1463243"/>
              <a:ext cx="2071171" cy="1531518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 fill="norm" stroke="1" extrusionOk="0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</p:grpSp>
      <p:sp>
        <p:nvSpPr>
          <p:cNvPr id="170016932" name="TextBox 45"/>
          <p:cNvSpPr txBox="1"/>
          <p:nvPr/>
        </p:nvSpPr>
        <p:spPr bwMode="auto">
          <a:xfrm>
            <a:off x="4632347" y="3119227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−1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sp>
        <p:nvSpPr>
          <p:cNvPr id="1355455081" name="TextBox 46"/>
          <p:cNvSpPr txBox="1"/>
          <p:nvPr/>
        </p:nvSpPr>
        <p:spPr bwMode="auto">
          <a:xfrm>
            <a:off x="7441446" y="2575413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𝑥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sp>
        <p:nvSpPr>
          <p:cNvPr id="1018881669" name="TextBox 47"/>
          <p:cNvSpPr txBox="1"/>
          <p:nvPr/>
        </p:nvSpPr>
        <p:spPr bwMode="auto">
          <a:xfrm>
            <a:off x="5266756" y="2726002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90°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sp>
        <p:nvSpPr>
          <p:cNvPr id="771365779" name="TextBox 48"/>
          <p:cNvSpPr txBox="1"/>
          <p:nvPr/>
        </p:nvSpPr>
        <p:spPr bwMode="auto">
          <a:xfrm>
            <a:off x="5742651" y="2720295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180°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sp>
        <p:nvSpPr>
          <p:cNvPr id="1747968869" name="TextBox 49"/>
          <p:cNvSpPr txBox="1"/>
          <p:nvPr/>
        </p:nvSpPr>
        <p:spPr bwMode="auto">
          <a:xfrm>
            <a:off x="6274736" y="2717326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270°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sp>
        <p:nvSpPr>
          <p:cNvPr id="818803301" name="TextBox 50"/>
          <p:cNvSpPr txBox="1"/>
          <p:nvPr/>
        </p:nvSpPr>
        <p:spPr bwMode="auto">
          <a:xfrm>
            <a:off x="6795566" y="2714151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360°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grpSp>
        <p:nvGrpSpPr>
          <p:cNvPr id="1247081816" name="Group 51"/>
          <p:cNvGrpSpPr/>
          <p:nvPr/>
        </p:nvGrpSpPr>
        <p:grpSpPr bwMode="auto">
          <a:xfrm>
            <a:off x="6260685" y="1514351"/>
            <a:ext cx="1479666" cy="2580392"/>
            <a:chOff x="2757002" y="1399142"/>
            <a:chExt cx="6784466" cy="5012675"/>
          </a:xfrm>
        </p:grpSpPr>
        <p:cxnSp>
          <p:nvCxnSpPr>
            <p:cNvPr id="53" name="Straight Connector 52"/>
            <p:cNvCxnSpPr/>
            <p:nvPr/>
          </p:nvCxnSpPr>
          <p:spPr bwMode="auto">
            <a:xfrm flipV="1">
              <a:off x="2757002" y="1444074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 bwMode="auto">
            <a:xfrm flipV="1">
              <a:off x="5000337" y="1444073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Freeform 22"/>
            <p:cNvSpPr/>
            <p:nvPr/>
          </p:nvSpPr>
          <p:spPr bwMode="auto">
            <a:xfrm>
              <a:off x="2853369" y="4880299"/>
              <a:ext cx="2071171" cy="1531518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 fill="norm" stroke="1" extrusionOk="0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57" name="Freeform 23"/>
            <p:cNvSpPr/>
            <p:nvPr/>
          </p:nvSpPr>
          <p:spPr bwMode="auto">
            <a:xfrm>
              <a:off x="5067759" y="1399142"/>
              <a:ext cx="1134737" cy="1619480"/>
            </a:xfrm>
            <a:custGeom>
              <a:avLst/>
              <a:gdLst>
                <a:gd name="connsiteX0" fmla="*/ 0 w 1134737"/>
                <a:gd name="connsiteY0" fmla="*/ 0 h 1619480"/>
                <a:gd name="connsiteX1" fmla="*/ 121186 w 1134737"/>
                <a:gd name="connsiteY1" fmla="*/ 517793 h 1619480"/>
                <a:gd name="connsiteX2" fmla="*/ 396607 w 1134737"/>
                <a:gd name="connsiteY2" fmla="*/ 1079653 h 1619480"/>
                <a:gd name="connsiteX3" fmla="*/ 837282 w 1134737"/>
                <a:gd name="connsiteY3" fmla="*/ 1476260 h 1619480"/>
                <a:gd name="connsiteX4" fmla="*/ 1134737 w 1134737"/>
                <a:gd name="connsiteY4" fmla="*/ 1619480 h 1619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4737" h="1619480" fill="norm" stroke="1" extrusionOk="0">
                  <a:moveTo>
                    <a:pt x="0" y="0"/>
                  </a:moveTo>
                  <a:cubicBezTo>
                    <a:pt x="27542" y="168925"/>
                    <a:pt x="55085" y="337851"/>
                    <a:pt x="121186" y="517793"/>
                  </a:cubicBezTo>
                  <a:cubicBezTo>
                    <a:pt x="187287" y="697735"/>
                    <a:pt x="277258" y="919909"/>
                    <a:pt x="396607" y="1079653"/>
                  </a:cubicBezTo>
                  <a:cubicBezTo>
                    <a:pt x="515956" y="1239397"/>
                    <a:pt x="714260" y="1386289"/>
                    <a:pt x="837282" y="1476260"/>
                  </a:cubicBezTo>
                  <a:cubicBezTo>
                    <a:pt x="960304" y="1566231"/>
                    <a:pt x="1047520" y="1592855"/>
                    <a:pt x="1134737" y="161948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58" name="TextBox 57"/>
            <p:cNvSpPr txBox="1"/>
            <p:nvPr/>
          </p:nvSpPr>
          <p:spPr bwMode="auto">
            <a:xfrm>
              <a:off x="4919742" y="1841651"/>
              <a:ext cx="4621726" cy="538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sz="1200" b="1" i="1">
                            <a:solidFill>
                              <a:schemeClr val="tx2"/>
                            </a:solidFill>
                            <a:latin typeface="Cambria Math"/>
                          </a:rPr>
                          <m:t>𝒚</m:t>
                        </m:r>
                        <m:r>
                          <m:rPr/>
                          <a:rPr lang="en-GB" sz="1200" b="1" i="1">
                            <a:solidFill>
                              <a:schemeClr val="tx2"/>
                            </a:solidFill>
                            <a:latin typeface="Cambria Math"/>
                          </a:rPr>
                          <m:t>=</m:t>
                        </m:r>
                        <m:func>
                          <m:funcPr>
                            <m:ctrlPr>
                              <a:rPr lang="en-GB" sz="1200" b="1" i="1">
                                <a:solidFill>
                                  <a:schemeClr val="tx2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uncPr>
                          <m:fName>
                            <m:r>
                              <m:rPr/>
                              <a:rPr lang="en-GB" sz="1200" b="1" i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𝐬𝐞𝐜</m:t>
                            </m:r>
                          </m:fName>
                          <m:e>
                            <m:r>
                              <m:rPr/>
                              <a:rPr lang="en-GB" sz="12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m:rPr/>
                              <a:rPr lang="en-GB" sz="12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</m:func>
                      </m:oMath>
                    </m:oMathPara>
                  </a14:m>
                </mc:Choice>
                <mc:Fallback/>
              </mc:AlternateContent>
              <a:endParaRPr lang="en-GB" sz="1200" b="1">
                <a:solidFill>
                  <a:schemeClr val="tx2"/>
                </a:solidFill>
              </a:endParaRPr>
            </a:p>
          </p:txBody>
        </p:sp>
      </p:grpSp>
      <p:sp>
        <p:nvSpPr>
          <p:cNvPr id="294966858" name="Arrow: Right 59"/>
          <p:cNvSpPr/>
          <p:nvPr/>
        </p:nvSpPr>
        <p:spPr bwMode="auto">
          <a:xfrm rot="8820940">
            <a:off x="5617422" y="4441940"/>
            <a:ext cx="863987" cy="41789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1390616262" name="Straight Arrow Connector 60"/>
          <p:cNvCxnSpPr/>
          <p:nvPr/>
        </p:nvCxnSpPr>
        <p:spPr bwMode="auto">
          <a:xfrm flipV="1">
            <a:off x="2777035" y="5367993"/>
            <a:ext cx="2582273" cy="67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7949844" name="Straight Arrow Connector 61"/>
          <p:cNvCxnSpPr/>
          <p:nvPr/>
        </p:nvCxnSpPr>
        <p:spPr bwMode="auto">
          <a:xfrm flipH="1" flipV="1">
            <a:off x="2789735" y="4296833"/>
            <a:ext cx="2741" cy="24007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53386433" name="TextBox 63"/>
          <p:cNvSpPr txBox="1"/>
          <p:nvPr/>
        </p:nvSpPr>
        <p:spPr bwMode="auto">
          <a:xfrm>
            <a:off x="2620148" y="4007875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𝑦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grpSp>
        <p:nvGrpSpPr>
          <p:cNvPr id="76261683" name="Group 64"/>
          <p:cNvGrpSpPr/>
          <p:nvPr/>
        </p:nvGrpSpPr>
        <p:grpSpPr bwMode="auto">
          <a:xfrm>
            <a:off x="2768558" y="4145769"/>
            <a:ext cx="1263844" cy="2557263"/>
            <a:chOff x="1543544" y="1444073"/>
            <a:chExt cx="5794885" cy="4967744"/>
          </a:xfrm>
        </p:grpSpPr>
        <p:cxnSp>
          <p:nvCxnSpPr>
            <p:cNvPr id="66" name="Straight Connector 65"/>
            <p:cNvCxnSpPr/>
            <p:nvPr/>
          </p:nvCxnSpPr>
          <p:spPr bwMode="auto">
            <a:xfrm flipV="1">
              <a:off x="2757002" y="1444074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auto">
            <a:xfrm flipV="1">
              <a:off x="5000337" y="1444073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Freeform 21"/>
            <p:cNvSpPr/>
            <p:nvPr/>
          </p:nvSpPr>
          <p:spPr bwMode="auto">
            <a:xfrm>
              <a:off x="1543544" y="1627973"/>
              <a:ext cx="1024569" cy="2175699"/>
            </a:xfrm>
            <a:custGeom>
              <a:avLst/>
              <a:gdLst>
                <a:gd name="connsiteX0" fmla="*/ 0 w 1024569"/>
                <a:gd name="connsiteY0" fmla="*/ 1498293 h 1498293"/>
                <a:gd name="connsiteX1" fmla="*/ 385590 w 1024569"/>
                <a:gd name="connsiteY1" fmla="*/ 1366091 h 1498293"/>
                <a:gd name="connsiteX2" fmla="*/ 870332 w 1024569"/>
                <a:gd name="connsiteY2" fmla="*/ 870332 h 1498293"/>
                <a:gd name="connsiteX3" fmla="*/ 1024569 w 1024569"/>
                <a:gd name="connsiteY3" fmla="*/ 0 h 149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4569" h="1498293" fill="norm" stroke="1" extrusionOk="0">
                  <a:moveTo>
                    <a:pt x="0" y="1498293"/>
                  </a:moveTo>
                  <a:cubicBezTo>
                    <a:pt x="120267" y="1484522"/>
                    <a:pt x="240535" y="1470751"/>
                    <a:pt x="385590" y="1366091"/>
                  </a:cubicBezTo>
                  <a:cubicBezTo>
                    <a:pt x="530645" y="1261431"/>
                    <a:pt x="763836" y="1098014"/>
                    <a:pt x="870332" y="870332"/>
                  </a:cubicBezTo>
                  <a:cubicBezTo>
                    <a:pt x="976828" y="642650"/>
                    <a:pt x="1000698" y="321325"/>
                    <a:pt x="1024569" y="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69" name="Freeform 22"/>
            <p:cNvSpPr/>
            <p:nvPr/>
          </p:nvSpPr>
          <p:spPr bwMode="auto">
            <a:xfrm>
              <a:off x="2853369" y="4880299"/>
              <a:ext cx="2071171" cy="1531518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 fill="norm" stroke="1" extrusionOk="0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70" name="Freeform 22"/>
            <p:cNvSpPr/>
            <p:nvPr/>
          </p:nvSpPr>
          <p:spPr bwMode="auto">
            <a:xfrm rot="10800000">
              <a:off x="5267259" y="1663148"/>
              <a:ext cx="2071171" cy="2127254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 fill="norm" stroke="1" extrusionOk="0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</p:grpSp>
      <p:sp>
        <p:nvSpPr>
          <p:cNvPr id="1346181791" name="TextBox 70"/>
          <p:cNvSpPr txBox="1"/>
          <p:nvPr/>
        </p:nvSpPr>
        <p:spPr bwMode="auto">
          <a:xfrm>
            <a:off x="2448992" y="5759452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−2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sp>
        <p:nvSpPr>
          <p:cNvPr id="70427799" name="TextBox 71"/>
          <p:cNvSpPr txBox="1"/>
          <p:nvPr/>
        </p:nvSpPr>
        <p:spPr bwMode="auto">
          <a:xfrm>
            <a:off x="5258091" y="5215638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𝑥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sp>
        <p:nvSpPr>
          <p:cNvPr id="899967061" name="TextBox 72"/>
          <p:cNvSpPr txBox="1"/>
          <p:nvPr/>
        </p:nvSpPr>
        <p:spPr bwMode="auto">
          <a:xfrm>
            <a:off x="3083401" y="5366227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90°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sp>
        <p:nvSpPr>
          <p:cNvPr id="1683227891" name="TextBox 73"/>
          <p:cNvSpPr txBox="1"/>
          <p:nvPr/>
        </p:nvSpPr>
        <p:spPr bwMode="auto">
          <a:xfrm>
            <a:off x="3559296" y="5360520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180°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sp>
        <p:nvSpPr>
          <p:cNvPr id="110509676" name="TextBox 74"/>
          <p:cNvSpPr txBox="1"/>
          <p:nvPr/>
        </p:nvSpPr>
        <p:spPr bwMode="auto">
          <a:xfrm>
            <a:off x="4091380" y="5357551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270°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sp>
        <p:nvSpPr>
          <p:cNvPr id="2067606861" name="TextBox 75"/>
          <p:cNvSpPr txBox="1"/>
          <p:nvPr/>
        </p:nvSpPr>
        <p:spPr bwMode="auto">
          <a:xfrm>
            <a:off x="4612211" y="5354376"/>
            <a:ext cx="344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360°</m:t>
                      </m:r>
                    </m:oMath>
                  </m:oMathPara>
                </a14:m>
              </mc:Choice>
              <mc:Fallback/>
            </mc:AlternateContent>
            <a:endParaRPr lang="en-GB" sz="1200"/>
          </a:p>
        </p:txBody>
      </p:sp>
      <p:grpSp>
        <p:nvGrpSpPr>
          <p:cNvPr id="795292227" name="Group 76"/>
          <p:cNvGrpSpPr/>
          <p:nvPr/>
        </p:nvGrpSpPr>
        <p:grpSpPr bwMode="auto">
          <a:xfrm>
            <a:off x="4077330" y="4177705"/>
            <a:ext cx="1923420" cy="2557263"/>
            <a:chOff x="2757002" y="1444073"/>
            <a:chExt cx="8819138" cy="4967744"/>
          </a:xfrm>
        </p:grpSpPr>
        <p:cxnSp>
          <p:nvCxnSpPr>
            <p:cNvPr id="78" name="Straight Connector 77"/>
            <p:cNvCxnSpPr/>
            <p:nvPr/>
          </p:nvCxnSpPr>
          <p:spPr bwMode="auto">
            <a:xfrm flipV="1">
              <a:off x="2757002" y="1444074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 bwMode="auto">
            <a:xfrm flipV="1">
              <a:off x="5000337" y="1444073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Freeform 22"/>
            <p:cNvSpPr/>
            <p:nvPr/>
          </p:nvSpPr>
          <p:spPr bwMode="auto">
            <a:xfrm>
              <a:off x="2853369" y="4880299"/>
              <a:ext cx="2071171" cy="1531518"/>
            </a:xfrm>
            <a:custGeom>
              <a:avLst/>
              <a:gdLst>
                <a:gd name="connsiteX0" fmla="*/ 0 w 2071171"/>
                <a:gd name="connsiteY0" fmla="*/ 1520501 h 1531518"/>
                <a:gd name="connsiteX1" fmla="*/ 264404 w 2071171"/>
                <a:gd name="connsiteY1" fmla="*/ 617118 h 1531518"/>
                <a:gd name="connsiteX2" fmla="*/ 661012 w 2071171"/>
                <a:gd name="connsiteY2" fmla="*/ 132376 h 1531518"/>
                <a:gd name="connsiteX3" fmla="*/ 980501 w 2071171"/>
                <a:gd name="connsiteY3" fmla="*/ 173 h 1531518"/>
                <a:gd name="connsiteX4" fmla="*/ 1377108 w 2071171"/>
                <a:gd name="connsiteY4" fmla="*/ 110342 h 1531518"/>
                <a:gd name="connsiteX5" fmla="*/ 1652530 w 2071171"/>
                <a:gd name="connsiteY5" fmla="*/ 352713 h 1531518"/>
                <a:gd name="connsiteX6" fmla="*/ 1916935 w 2071171"/>
                <a:gd name="connsiteY6" fmla="*/ 837455 h 1531518"/>
                <a:gd name="connsiteX7" fmla="*/ 2027103 w 2071171"/>
                <a:gd name="connsiteY7" fmla="*/ 1366265 h 1531518"/>
                <a:gd name="connsiteX8" fmla="*/ 2071171 w 2071171"/>
                <a:gd name="connsiteY8" fmla="*/ 1531518 h 153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1171" h="1531518" fill="norm" stroke="1" extrusionOk="0">
                  <a:moveTo>
                    <a:pt x="0" y="1520501"/>
                  </a:moveTo>
                  <a:cubicBezTo>
                    <a:pt x="77117" y="1184486"/>
                    <a:pt x="154235" y="848472"/>
                    <a:pt x="264404" y="617118"/>
                  </a:cubicBezTo>
                  <a:cubicBezTo>
                    <a:pt x="374573" y="385764"/>
                    <a:pt x="541663" y="235200"/>
                    <a:pt x="661012" y="132376"/>
                  </a:cubicBezTo>
                  <a:cubicBezTo>
                    <a:pt x="780361" y="29552"/>
                    <a:pt x="861152" y="3845"/>
                    <a:pt x="980501" y="173"/>
                  </a:cubicBezTo>
                  <a:cubicBezTo>
                    <a:pt x="1099850" y="-3499"/>
                    <a:pt x="1265103" y="51585"/>
                    <a:pt x="1377108" y="110342"/>
                  </a:cubicBezTo>
                  <a:cubicBezTo>
                    <a:pt x="1489113" y="169099"/>
                    <a:pt x="1562559" y="231528"/>
                    <a:pt x="1652530" y="352713"/>
                  </a:cubicBezTo>
                  <a:cubicBezTo>
                    <a:pt x="1742501" y="473898"/>
                    <a:pt x="1854506" y="668530"/>
                    <a:pt x="1916935" y="837455"/>
                  </a:cubicBezTo>
                  <a:cubicBezTo>
                    <a:pt x="1979364" y="1006380"/>
                    <a:pt x="2001397" y="1250588"/>
                    <a:pt x="2027103" y="1366265"/>
                  </a:cubicBezTo>
                  <a:cubicBezTo>
                    <a:pt x="2052809" y="1481942"/>
                    <a:pt x="2061990" y="1506730"/>
                    <a:pt x="2071171" y="1531518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1" name="Freeform 23"/>
            <p:cNvSpPr/>
            <p:nvPr/>
          </p:nvSpPr>
          <p:spPr bwMode="auto">
            <a:xfrm>
              <a:off x="5155105" y="1675491"/>
              <a:ext cx="1134738" cy="2101765"/>
            </a:xfrm>
            <a:custGeom>
              <a:avLst/>
              <a:gdLst>
                <a:gd name="connsiteX0" fmla="*/ 0 w 1134737"/>
                <a:gd name="connsiteY0" fmla="*/ 0 h 1619480"/>
                <a:gd name="connsiteX1" fmla="*/ 121186 w 1134737"/>
                <a:gd name="connsiteY1" fmla="*/ 517793 h 1619480"/>
                <a:gd name="connsiteX2" fmla="*/ 396607 w 1134737"/>
                <a:gd name="connsiteY2" fmla="*/ 1079653 h 1619480"/>
                <a:gd name="connsiteX3" fmla="*/ 837282 w 1134737"/>
                <a:gd name="connsiteY3" fmla="*/ 1476260 h 1619480"/>
                <a:gd name="connsiteX4" fmla="*/ 1134737 w 1134737"/>
                <a:gd name="connsiteY4" fmla="*/ 1619480 h 1619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4737" h="1619480" fill="norm" stroke="1" extrusionOk="0">
                  <a:moveTo>
                    <a:pt x="0" y="0"/>
                  </a:moveTo>
                  <a:cubicBezTo>
                    <a:pt x="27542" y="168925"/>
                    <a:pt x="55085" y="337851"/>
                    <a:pt x="121186" y="517793"/>
                  </a:cubicBezTo>
                  <a:cubicBezTo>
                    <a:pt x="187287" y="697735"/>
                    <a:pt x="277258" y="919909"/>
                    <a:pt x="396607" y="1079653"/>
                  </a:cubicBezTo>
                  <a:cubicBezTo>
                    <a:pt x="515956" y="1239397"/>
                    <a:pt x="714260" y="1386289"/>
                    <a:pt x="837282" y="1476260"/>
                  </a:cubicBezTo>
                  <a:cubicBezTo>
                    <a:pt x="960304" y="1566231"/>
                    <a:pt x="1047520" y="1592855"/>
                    <a:pt x="1134737" y="1619480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2" name="TextBox 81"/>
            <p:cNvSpPr txBox="1"/>
            <p:nvPr/>
          </p:nvSpPr>
          <p:spPr bwMode="auto">
            <a:xfrm>
              <a:off x="5181781" y="1601109"/>
              <a:ext cx="6394359" cy="538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sz="1200" b="1" i="1">
                            <a:solidFill>
                              <a:schemeClr val="tx2"/>
                            </a:solidFill>
                            <a:latin typeface="Cambria Math"/>
                          </a:rPr>
                          <m:t>𝒚</m:t>
                        </m:r>
                        <m:r>
                          <m:rPr/>
                          <a:rPr lang="en-GB" sz="1200" b="1" i="1">
                            <a:solidFill>
                              <a:schemeClr val="tx2"/>
                            </a:solidFill>
                            <a:latin typeface="Cambria Math"/>
                          </a:rPr>
                          <m:t>=−</m:t>
                        </m:r>
                        <m:r>
                          <m:rPr/>
                          <a:rPr lang="en-GB" sz="1200" b="1" i="1">
                            <a:solidFill>
                              <a:schemeClr val="tx2"/>
                            </a:solidFill>
                            <a:latin typeface="Cambria Math"/>
                          </a:rPr>
                          <m:t>𝟏</m:t>
                        </m:r>
                        <m:r>
                          <m:rPr/>
                          <a:rPr lang="en-GB" sz="1200" b="1" i="1">
                            <a:solidFill>
                              <a:schemeClr val="tx2"/>
                            </a:solidFill>
                            <a:latin typeface="Cambria Math"/>
                          </a:rPr>
                          <m:t>+</m:t>
                        </m:r>
                        <m:func>
                          <m:funcPr>
                            <m:ctrlPr>
                              <a:rPr lang="en-GB" sz="1200" b="1" i="1">
                                <a:solidFill>
                                  <a:schemeClr val="tx2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uncPr>
                          <m:fName>
                            <m:r>
                              <m:rPr/>
                              <a:rPr lang="en-GB" sz="1200" b="1" i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𝐬𝐞𝐜</m:t>
                            </m:r>
                          </m:fName>
                          <m:e>
                            <m:r>
                              <m:rPr/>
                              <a:rPr lang="en-GB" sz="12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m:rPr/>
                              <a:rPr lang="en-GB" sz="12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</m:func>
                      </m:oMath>
                    </m:oMathPara>
                  </a14:m>
                </mc:Choice>
                <mc:Fallback/>
              </mc:AlternateContent>
              <a:endParaRPr lang="en-GB" sz="1200" b="1">
                <a:solidFill>
                  <a:schemeClr val="tx2"/>
                </a:solidFill>
              </a:endParaRPr>
            </a:p>
          </p:txBody>
        </p:sp>
      </p:grpSp>
      <p:sp>
        <p:nvSpPr>
          <p:cNvPr id="1374159018" name="TextBox 83"/>
          <p:cNvSpPr txBox="1"/>
          <p:nvPr/>
        </p:nvSpPr>
        <p:spPr bwMode="auto">
          <a:xfrm>
            <a:off x="6190456" y="5122713"/>
            <a:ext cx="2106722" cy="11695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/>
              <a:t>Draw the transformations stage by stage, unless you feel comfortable doing multiple transformations at once.</a:t>
            </a:r>
            <a:endParaRPr/>
          </a:p>
        </p:txBody>
      </p:sp>
      <p:sp>
        <p:nvSpPr>
          <p:cNvPr id="608157467" name="Rectangle 84"/>
          <p:cNvSpPr/>
          <p:nvPr/>
        </p:nvSpPr>
        <p:spPr bwMode="auto">
          <a:xfrm>
            <a:off x="310828" y="1175490"/>
            <a:ext cx="8208912" cy="5553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081574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081574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815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8157467"/>
                  </p:tgtEl>
                </p:cond>
              </p:nextCondLst>
            </p:seq>
          </p:childTnLst>
        </p:cTn>
      </p:par>
    </p:tnLst>
    <p:bldLst>
      <p:bldP spid="60815746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20210130" name="Group 1"/>
          <p:cNvGrpSpPr/>
          <p:nvPr/>
        </p:nvGrpSpPr>
        <p:grpSpPr bwMode="auto"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>
                  <a:latin typeface="+mj-lt"/>
                </a:rPr>
                <a:t>Exercises 6B</a:t>
              </a:r>
              <a:endParaRPr lang="en-GB" sz="3200"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087553378" name="TextBox 4"/>
          <p:cNvSpPr txBox="1"/>
          <p:nvPr/>
        </p:nvSpPr>
        <p:spPr bwMode="auto">
          <a:xfrm>
            <a:off x="236048" y="662045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400"/>
              <a:t>Pearson Pure Mathematics Year 2/AS</a:t>
            </a:r>
            <a:endParaRPr/>
          </a:p>
          <a:p>
            <a:pPr>
              <a:defRPr/>
            </a:pPr>
            <a:r>
              <a:rPr lang="en-GB" sz="2400"/>
              <a:t>Page 148-149</a:t>
            </a:r>
            <a:endParaRPr/>
          </a:p>
        </p:txBody>
      </p:sp>
      <p:cxnSp>
        <p:nvCxnSpPr>
          <p:cNvPr id="69363092" name="Straight Connector 5"/>
          <p:cNvCxnSpPr/>
          <p:nvPr/>
        </p:nvCxnSpPr>
        <p:spPr bwMode="auto">
          <a:xfrm>
            <a:off x="0" y="1594754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7274144" name="Group 1"/>
          <p:cNvGrpSpPr/>
          <p:nvPr/>
        </p:nvGrpSpPr>
        <p:grpSpPr bwMode="auto"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>
                  <a:latin typeface="+mj-lt"/>
                </a:rPr>
                <a:t>Using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r>
                          <m:rPr/>
                          <a:rPr lang="en-GB" sz="3200" b="0" i="1">
                            <a:latin typeface="Cambria Math"/>
                          </a:rPr>
                          <m:t>𝑠𝑒𝑐</m:t>
                        </m:r>
                        <m:r>
                          <m:rPr/>
                          <a:rPr lang="en-GB" sz="3200" b="0" i="1">
                            <a:latin typeface="Cambria Math"/>
                          </a:rPr>
                          <m:t>,</m:t>
                        </m:r>
                        <m:r>
                          <m:rPr/>
                          <a:rPr lang="en-GB" sz="3200" b="0" i="1">
                            <a:latin typeface="Cambria Math"/>
                          </a:rPr>
                          <m:t>𝑐𝑜𝑠𝑒𝑐</m:t>
                        </m:r>
                        <m:r>
                          <m:rPr/>
                          <a:rPr lang="en-GB" sz="3200" b="0" i="1">
                            <a:latin typeface="Cambria Math"/>
                          </a:rPr>
                          <m:t>,</m:t>
                        </m:r>
                        <m:r>
                          <m:rPr/>
                          <a:rPr lang="en-GB" sz="3200" b="0" i="1">
                            <a:latin typeface="Cambria Math"/>
                          </a:rPr>
                          <m:t>𝑐𝑜𝑡</m:t>
                        </m:r>
                      </m:oMath>
                    </m:oMathPara>
                  </a14:m>
                </mc:Choice>
                <mc:Fallback/>
              </mc:AlternateContent>
              <a:endParaRPr lang="en-GB" sz="3200"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836224140" name="TextBox 4"/>
          <p:cNvSpPr txBox="1"/>
          <p:nvPr/>
        </p:nvSpPr>
        <p:spPr bwMode="auto">
          <a:xfrm>
            <a:off x="250393" y="734549"/>
            <a:ext cx="8208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Questions in the exam usually come in two flavours: (a) ‘</a:t>
            </a:r>
            <a:r>
              <a:rPr lang="en-GB"/>
              <a:t>provey</a:t>
            </a:r>
            <a:r>
              <a:rPr lang="en-GB"/>
              <a:t>’ questions requiring to prove some identity and (b) ‘</a:t>
            </a:r>
            <a:r>
              <a:rPr lang="en-GB"/>
              <a:t>solvey</a:t>
            </a:r>
            <a:r>
              <a:rPr lang="en-GB"/>
              <a:t>’ questions.</a:t>
            </a:r>
            <a:endParaRPr/>
          </a:p>
        </p:txBody>
      </p:sp>
      <p:sp>
        <p:nvSpPr>
          <p:cNvPr id="95089993" name="TextBox 5"/>
          <p:cNvSpPr txBox="1"/>
          <p:nvPr/>
        </p:nvSpPr>
        <p:spPr bwMode="auto">
          <a:xfrm>
            <a:off x="6001528" y="1578362"/>
            <a:ext cx="2592288" cy="12632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600" b="1"/>
              <a:t>Fro Tip 1: </a:t>
            </a:r>
            <a:r>
              <a:rPr lang="en-GB" sz="1600"/>
              <a:t>Get everything in terms of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600" b="0" i="1">
                          <a:latin typeface="Cambria Math"/>
                        </a:rPr>
                        <m:t>𝑠𝑖𝑛</m:t>
                      </m:r>
                    </m:oMath>
                  </m:oMathPara>
                </a14:m>
              </mc:Choice>
              <mc:Fallback/>
            </mc:AlternateContent>
            <a:r>
              <a:rPr lang="en-GB" sz="1600"/>
              <a:t> and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600" b="0" i="1">
                          <a:latin typeface="Cambria Math"/>
                        </a:rPr>
                        <m:t>𝑐𝑜𝑠</m:t>
                      </m:r>
                    </m:oMath>
                  </m:oMathPara>
                </a14:m>
              </mc:Choice>
              <mc:Fallback/>
            </mc:AlternateContent>
            <a:r>
              <a:rPr lang="en-GB" sz="1600"/>
              <a:t> first (using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sz="16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en-GB" sz="1600"/>
              <a:t> rather than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sz="16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600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>
                                  <a:latin typeface="Cambria Math"/>
                                </a:rPr>
                                <m:t>tan</m:t>
                              </m:r>
                            </m:fName>
                            <m:e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en-GB" sz="1600"/>
              <a:t>)</a:t>
            </a:r>
            <a:endParaRPr/>
          </a:p>
        </p:txBody>
      </p:sp>
      <p:sp>
        <p:nvSpPr>
          <p:cNvPr id="1931222335" name="TextBox 6"/>
          <p:cNvSpPr txBox="1"/>
          <p:nvPr/>
        </p:nvSpPr>
        <p:spPr bwMode="auto">
          <a:xfrm>
            <a:off x="2021613" y="3040188"/>
            <a:ext cx="5113140" cy="9142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600" b="1"/>
              <a:t>Fro Tip 2: </a:t>
            </a:r>
            <a:r>
              <a:rPr lang="en-GB" sz="1600"/>
              <a:t>Whenever you have algebraic fractions being added/subtracted, whether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600" b="0" i="1">
                              <a:latin typeface="Cambria Math"/>
                            </a:rPr>
                            <m:t>𝑎</m:t>
                          </m:r>
                        </m:num>
                        <m:den>
                          <m:r>
                            <m:rPr/>
                            <a:rPr lang="en-GB" sz="1600" b="0" i="1">
                              <a:latin typeface="Cambria Math"/>
                            </a:rPr>
                            <m:t>𝑏</m:t>
                          </m:r>
                        </m:den>
                      </m:f>
                      <m:r>
                        <m:rPr/>
                        <a:rPr lang="en-GB" sz="1600" b="0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600" b="0" i="1">
                              <a:latin typeface="Cambria Math"/>
                            </a:rPr>
                            <m:t>𝑐</m:t>
                          </m:r>
                        </m:num>
                        <m:den>
                          <m:r>
                            <m:rPr/>
                            <a:rPr lang="en-GB" sz="1600" b="0" i="1">
                              <a:latin typeface="Cambria Math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en-GB" sz="1600"/>
              <a:t> or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600" b="0" i="1">
                              <a:latin typeface="Cambria Math"/>
                            </a:rPr>
                            <m:t>𝑎</m:t>
                          </m:r>
                        </m:num>
                        <m:den>
                          <m:r>
                            <m:rPr/>
                            <a:rPr lang="en-GB" sz="1600" b="0" i="1">
                              <a:latin typeface="Cambria Math"/>
                            </a:rPr>
                            <m:t>𝑏</m:t>
                          </m:r>
                        </m:den>
                      </m:f>
                      <m:r>
                        <m:rPr/>
                        <a:rPr lang="en-GB" sz="1600" b="0" i="1">
                          <a:latin typeface="Cambria Math"/>
                        </a:rPr>
                        <m:t>+</m:t>
                      </m:r>
                      <m:r>
                        <m:rPr/>
                        <a:rPr lang="en-GB" sz="1600" b="0" i="1">
                          <a:latin typeface="Cambria Math"/>
                        </a:rPr>
                        <m:t>𝑐</m:t>
                      </m:r>
                    </m:oMath>
                  </m:oMathPara>
                </a14:m>
              </mc:Choice>
              <mc:Fallback/>
            </mc:AlternateContent>
            <a:r>
              <a:rPr lang="en-GB" sz="1600"/>
              <a:t>, combine them into one (as we can typically then use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600" b="0" i="0">
                                  <a:latin typeface="Cambria Math"/>
                                </a:rPr>
                                <m:t>sin</m:t>
                              </m:r>
                            </m:e>
                            <m:sup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sz="1600" b="0" i="1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600" b="0" i="0">
                                  <a:latin typeface="Cambria Math"/>
                                </a:rPr>
                                <m:t>cos</m:t>
                              </m:r>
                            </m:e>
                            <m:sup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sz="1600" b="0" i="1">
                          <a:latin typeface="Cambria Math"/>
                        </a:rPr>
                        <m:t>=1</m:t>
                      </m:r>
                    </m:oMath>
                  </m:oMathPara>
                </a14:m>
              </mc:Choice>
              <mc:Fallback/>
            </mc:AlternateContent>
            <a:r>
              <a:rPr lang="en-GB" sz="1600"/>
              <a:t>)</a:t>
            </a:r>
            <a:endParaRPr/>
          </a:p>
        </p:txBody>
      </p:sp>
      <p:sp>
        <p:nvSpPr>
          <p:cNvPr id="893382182" name="TextBox 7"/>
          <p:cNvSpPr txBox="1"/>
          <p:nvPr/>
        </p:nvSpPr>
        <p:spPr bwMode="auto">
          <a:xfrm>
            <a:off x="459684" y="1668357"/>
            <a:ext cx="5120428" cy="1237198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600"/>
              <a:t>[Textbook]</a:t>
            </a:r>
            <a:endParaRPr/>
          </a:p>
          <a:p>
            <a:pPr marL="342900" indent="-342900">
              <a:buAutoNum type="alphaLcParenBoth"/>
              <a:defRPr/>
            </a:pPr>
            <a:r>
              <a:rPr lang="en-GB" sz="1600" b="0"/>
              <a:t>Simplify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sec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 sz="1600"/>
          </a:p>
          <a:p>
            <a:pPr marL="342900" indent="-342900">
              <a:buAutoNum type="alphaLcParenBoth"/>
              <a:defRPr/>
            </a:pPr>
            <a:r>
              <a:rPr lang="en-GB" sz="1600"/>
              <a:t>Simplify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600" b="0" i="1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>
                                  <a:latin typeface="Cambria Math"/>
                                </a:rPr>
                                <m:t>sec</m:t>
                              </m:r>
                            </m:fName>
                            <m:e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  <m:r>
                            <m:rPr/>
                            <a:rPr lang="en-GB" sz="1600" b="0" i="1">
                              <a:latin typeface="Cambria Math"/>
                            </a:rPr>
                            <m:t>+</m:t>
                          </m:r>
                          <m:r>
                            <m:rPr/>
                            <a:rPr lang="en-GB" sz="1600" b="0" i="1">
                              <a:latin typeface="Cambria Math"/>
                            </a:rPr>
                            <m:t>𝑐𝑜𝑠𝑒𝑐</m:t>
                          </m:r>
                          <m:r>
                            <m:rPr/>
                            <a:rPr lang="en-GB" sz="1600" b="0" i="1">
                              <a:latin typeface="Cambria Math"/>
                            </a:rPr>
                            <m:t> </m:t>
                          </m:r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endParaRPr lang="en-GB" sz="1600"/>
          </a:p>
          <a:p>
            <a:pPr marL="342900" indent="-342900">
              <a:buAutoNum type="alphaLcParenBoth"/>
              <a:defRPr/>
            </a:pPr>
            <a:r>
              <a:rPr lang="en-GB" sz="1600"/>
              <a:t>Prove that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>
                                  <a:latin typeface="Cambria Math"/>
                                </a:rPr>
                                <m:t>cot</m:t>
                              </m:r>
                            </m:fName>
                            <m:e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  <m:r>
                            <m:rPr/>
                            <a:rPr lang="en-GB" sz="1600" b="0" i="1">
                              <a:latin typeface="Cambria Math"/>
                            </a:rPr>
                            <m:t> </m:t>
                          </m:r>
                          <m:r>
                            <m:rPr/>
                            <a:rPr lang="en-GB" sz="1600" b="0" i="1">
                              <a:latin typeface="Cambria Math"/>
                            </a:rPr>
                            <m:t>𝑐𝑜𝑠𝑒𝑐</m:t>
                          </m:r>
                          <m:r>
                            <m:rPr/>
                            <a:rPr lang="en-GB" sz="1600" b="0" i="1">
                              <a:latin typeface="Cambria Math"/>
                            </a:rPr>
                            <m:t> </m:t>
                          </m:r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num>
                        <m:den>
                          <m:func>
                            <m:func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16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b="0" i="0">
                                      <a:latin typeface="Cambria Math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m:rPr/>
                                    <a:rPr lang="en-GB" sz="1600" b="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  <m:r>
                            <m:rPr/>
                            <a:rPr lang="en-GB" sz="1600" b="0" i="1">
                              <a:latin typeface="Cambria Math"/>
                            </a:rPr>
                            <m:t>+</m:t>
                          </m:r>
                          <m:r>
                            <m:rPr/>
                            <a:rPr lang="en-GB" sz="1600" b="0" i="1">
                              <a:latin typeface="Cambria Math"/>
                            </a:rPr>
                            <m:t>𝑐𝑜𝑠𝑒</m:t>
                          </m:r>
                          <m:sSup>
                            <m:sSup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𝑐</m:t>
                              </m:r>
                            </m:e>
                            <m:sup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/>
                            <a:rPr lang="en-GB" sz="1600" b="0" i="1">
                              <a:latin typeface="Cambria Math"/>
                            </a:rPr>
                            <m:t> </m:t>
                          </m:r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den>
                      </m:f>
                      <m:r>
                        <m:rPr/>
                        <a:rPr lang="en-GB" sz="1600" b="0" i="1">
                          <a:latin typeface="Cambria Math"/>
                        </a:rPr>
                        <m:t>≡</m:t>
                      </m:r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600" b="0" i="0">
                                  <a:latin typeface="Cambria Math"/>
                                </a:rPr>
                                <m:t>cos</m:t>
                              </m:r>
                            </m:e>
                            <m:sup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 sz="1600"/>
          </a:p>
        </p:txBody>
      </p:sp>
      <p:sp>
        <p:nvSpPr>
          <p:cNvPr id="311974065" name="TextBox 8"/>
          <p:cNvSpPr txBox="1"/>
          <p:nvPr/>
        </p:nvSpPr>
        <p:spPr bwMode="auto">
          <a:xfrm>
            <a:off x="573460" y="4171319"/>
            <a:ext cx="3888432" cy="2648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sz="16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GB" sz="1600" i="1">
                              <a:latin typeface="Cambria Math"/>
                            </a:rPr>
                            <m:t>𝜃</m:t>
                          </m:r>
                        </m:e>
                      </m:func>
                      <m:func>
                        <m:funcPr>
                          <m:ctrlPr>
                            <a:rPr lang="en-GB" sz="16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m:rPr/>
                            <a:rPr lang="en-GB" sz="1600" i="1">
                              <a:latin typeface="Cambria Math"/>
                            </a:rPr>
                            <m:t>𝜃</m:t>
                          </m:r>
                        </m:e>
                      </m:func>
                      <m:func>
                        <m:funcPr>
                          <m:ctrlPr>
                            <a:rPr lang="en-GB" sz="16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/>
                            </a:rPr>
                            <m:t>sec</m:t>
                          </m:r>
                        </m:fName>
                        <m:e>
                          <m:r>
                            <m:rPr/>
                            <a:rPr lang="en-GB" sz="160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600" b="0" i="1">
                          <a:latin typeface="Cambria Math"/>
                        </a:rPr>
                        <m:t>≡</m:t>
                      </m:r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600" b="0" i="1">
                          <a:latin typeface="Cambria Math"/>
                        </a:rPr>
                        <m:t>×</m:t>
                      </m:r>
                      <m:f>
                        <m:f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m:rPr/>
                        <a:rPr lang="en-GB" sz="1600" b="0" i="1">
                          <a:latin typeface="Cambria Math"/>
                        </a:rPr>
                        <m:t>×</m:t>
                      </m:r>
                      <m:f>
                        <m:f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600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m:rPr/>
                        <a:rPr lang="en-GB" sz="1600" b="0" i="1">
                          <a:latin typeface="Cambria Math"/>
                        </a:rPr>
                        <m:t>≡1</m:t>
                      </m:r>
                    </m:oMath>
                  </m:oMathPara>
                </a14:m>
              </mc:Choice>
              <mc:Fallback/>
            </mc:AlternateContent>
            <a:endParaRPr lang="en-GB" sz="1600"/>
          </a:p>
          <a:p>
            <a:pPr>
              <a:defRPr/>
            </a:pPr>
            <a:endParaRPr lang="en-GB" sz="1600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sz="16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GB" sz="1600" i="1">
                              <a:latin typeface="Cambria Math"/>
                            </a:rPr>
                            <m:t>𝜃</m:t>
                          </m:r>
                        </m:e>
                      </m:func>
                      <m:func>
                        <m:funcPr>
                          <m:ctrlPr>
                            <a:rPr lang="en-GB" sz="16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m:rPr/>
                            <a:rPr lang="en-GB" sz="160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600" i="1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GB" sz="16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6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/>
                                </a:rPr>
                                <m:t>sec</m:t>
                              </m:r>
                            </m:fName>
                            <m:e>
                              <m:r>
                                <m:rPr/>
                                <a:rPr lang="en-GB" sz="1600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  <m:r>
                            <m:rPr/>
                            <a:rPr lang="en-GB" sz="1600" i="1">
                              <a:latin typeface="Cambria Math"/>
                            </a:rPr>
                            <m:t>+</m:t>
                          </m:r>
                          <m:r>
                            <m:rPr/>
                            <a:rPr lang="en-GB" sz="1600" i="1">
                              <a:latin typeface="Cambria Math"/>
                            </a:rPr>
                            <m:t>𝑐𝑜𝑠𝑒𝑐</m:t>
                          </m:r>
                          <m:r>
                            <m:rPr/>
                            <a:rPr lang="en-GB" sz="1600" i="1">
                              <a:latin typeface="Cambria Math"/>
                            </a:rPr>
                            <m:t> </m:t>
                          </m:r>
                          <m:r>
                            <m:rPr/>
                            <a:rPr lang="en-GB" sz="1600" i="1">
                              <a:latin typeface="Cambria Math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lang="en-GB" sz="1600" b="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d>
                        <m:d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GB" sz="16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 b="0" i="0">
                                      <a:latin typeface="Cambria Math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m:rPr/>
                                    <a:rPr lang="en-GB" sz="1600" b="0" i="1"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</m:func>
                            </m:den>
                          </m:f>
                          <m:r>
                            <m:rPr/>
                            <a:rPr lang="en-GB" sz="1600" b="0" i="1"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GB" sz="16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 b="0" i="0">
                                      <a:latin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m:rPr/>
                                    <a:rPr lang="en-GB" sz="1600" b="0" i="1"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</m:func>
                            </m:den>
                          </m:f>
                        </m:e>
                      </m:d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lang="en-GB" sz="1600" b="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d>
                        <m:d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GB" sz="16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 b="0" i="0">
                                      <a:latin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m:rPr/>
                                    <a:rPr lang="en-GB" sz="1600" b="0" i="1"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GB" sz="16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 b="0" i="0">
                                      <a:latin typeface="Cambria Math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m:rPr/>
                                    <a:rPr lang="en-GB" sz="1600" b="0" i="1"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GB" sz="16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 b="0" i="0">
                                      <a:latin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m:rPr/>
                                    <a:rPr lang="en-GB" sz="1600" b="0" i="1"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GB" sz="16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 b="0" i="0">
                                      <a:latin typeface="Cambria Math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m:rPr/>
                                    <a:rPr lang="en-GB" sz="1600" b="0" i="1"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</m:func>
                            </m:den>
                          </m:f>
                        </m:e>
                      </m:d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lang="en-GB" sz="1600" b="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600" b="0" i="1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 sz="1600"/>
          </a:p>
        </p:txBody>
      </p:sp>
      <p:sp>
        <p:nvSpPr>
          <p:cNvPr id="1630497360" name="TextBox 9"/>
          <p:cNvSpPr txBox="1"/>
          <p:nvPr/>
        </p:nvSpPr>
        <p:spPr bwMode="auto">
          <a:xfrm>
            <a:off x="4834889" y="4057777"/>
            <a:ext cx="3888432" cy="2591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GB" sz="16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16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/>
                                </a:rPr>
                                <m:t>cot</m:t>
                              </m:r>
                            </m:fName>
                            <m:e>
                              <m:r>
                                <m:rPr/>
                                <a:rPr lang="en-GB" sz="1600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  <m:r>
                            <m:rPr/>
                            <a:rPr lang="en-GB" sz="1600" i="1">
                              <a:latin typeface="Cambria Math"/>
                            </a:rPr>
                            <m:t> </m:t>
                          </m:r>
                          <m:r>
                            <m:rPr/>
                            <a:rPr lang="en-GB" sz="1600" i="1">
                              <a:latin typeface="Cambria Math"/>
                            </a:rPr>
                            <m:t>𝑐𝑜𝑠𝑒𝑐</m:t>
                          </m:r>
                          <m:r>
                            <m:rPr/>
                            <a:rPr lang="en-GB" sz="1600" i="1">
                              <a:latin typeface="Cambria Math"/>
                            </a:rPr>
                            <m:t> </m:t>
                          </m:r>
                          <m:r>
                            <m:rPr/>
                            <a:rPr lang="en-GB" sz="1600" i="1">
                              <a:latin typeface="Cambria Math"/>
                            </a:rPr>
                            <m:t>𝜃</m:t>
                          </m:r>
                        </m:num>
                        <m:den>
                          <m:func>
                            <m:funcPr>
                              <m:ctrlPr>
                                <a:rPr lang="en-GB" sz="16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16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>
                                      <a:latin typeface="Cambria Math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m:rPr/>
                                    <a:rPr lang="en-GB" sz="16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sz="1600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  <m:r>
                            <m:rPr/>
                            <a:rPr lang="en-GB" sz="1600" i="1">
                              <a:latin typeface="Cambria Math"/>
                            </a:rPr>
                            <m:t>+</m:t>
                          </m:r>
                          <m:r>
                            <m:rPr/>
                            <a:rPr lang="en-GB" sz="1600" i="1">
                              <a:latin typeface="Cambria Math"/>
                            </a:rPr>
                            <m:t>𝑐𝑜𝑠𝑒</m:t>
                          </m:r>
                          <m:sSup>
                            <m:sSupPr>
                              <m:ctrlPr>
                                <a:rPr lang="en-GB" sz="16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/>
                                <a:rPr lang="en-GB" sz="1600" i="1">
                                  <a:latin typeface="Cambria Math"/>
                                </a:rPr>
                                <m:t>𝑐</m:t>
                              </m:r>
                            </m:e>
                            <m:sup>
                              <m:r>
                                <m:rPr/>
                                <a:rPr lang="en-GB" sz="16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/>
                            <a:rPr lang="en-GB" sz="1600" i="1">
                              <a:latin typeface="Cambria Math"/>
                            </a:rPr>
                            <m:t> </m:t>
                          </m:r>
                          <m:r>
                            <m:rPr/>
                            <a:rPr lang="en-GB" sz="1600" i="1">
                              <a:latin typeface="Cambria Math"/>
                            </a:rPr>
                            <m:t>𝜃</m:t>
                          </m:r>
                        </m:den>
                      </m:f>
                      <m:r>
                        <m:rPr/>
                        <a:rPr lang="en-GB" sz="1600" b="0" i="1">
                          <a:latin typeface="Cambria Math"/>
                        </a:rPr>
                        <m:t>≡</m:t>
                      </m:r>
                      <m:f>
                        <m:fPr>
                          <m:ctrlPr>
                            <a:rPr lang="en-GB" sz="16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GB" sz="16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 b="0" i="0">
                                      <a:latin typeface="Cambria Math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m:rPr/>
                                    <a:rPr lang="en-GB" sz="1600" b="0" i="1"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GB" sz="16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 b="0" i="0">
                                      <a:latin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m:rPr/>
                                    <a:rPr lang="en-GB" sz="1600" b="0" i="1"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</m:func>
                            </m:den>
                          </m:f>
                          <m:r>
                            <m:rPr/>
                            <a:rPr lang="en-GB" sz="1600" b="0" i="1">
                              <a:latin typeface="Cambria Math"/>
                            </a:rPr>
                            <m:t>×</m:t>
                          </m:r>
                          <m:f>
                            <m:f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GB" sz="16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 b="0" i="0">
                                      <a:latin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m:rPr/>
                                    <a:rPr lang="en-GB" sz="1600" b="0" i="1"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</m:func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GB" sz="16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sz="1600" b="0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600" b="0" i="0">
                                          <a:latin typeface="Cambria Math"/>
                                        </a:rPr>
                                        <m:t>cos</m:t>
                                      </m:r>
                                    </m:e>
                                    <m:sup>
                                      <m:r>
                                        <m:rPr/>
                                        <a:rPr lang="en-GB" sz="1600" b="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m:rPr/>
                                    <a:rPr lang="en-GB" sz="1600" b="0" i="1"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</m:func>
                            </m:den>
                          </m:f>
                          <m:r>
                            <m:rPr/>
                            <a:rPr lang="en-GB" sz="1600" b="0" i="1"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GB" sz="16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sz="1600" b="0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600" b="0" i="0">
                                          <a:latin typeface="Cambria Math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m:rPr/>
                                        <a:rPr lang="en-GB" sz="1600" b="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m:rPr/>
                                    <a:rPr lang="en-GB" sz="1600" b="0" i="1">
                                      <a:latin typeface="Cambria Math"/>
                                    </a:rPr>
                                    <m:t>𝜃</m:t>
                                  </m:r>
                                </m:e>
                              </m:func>
                            </m:den>
                          </m:f>
                        </m:den>
                      </m:f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lang="en-GB" sz="1600" b="0" i="1">
                          <a:latin typeface="Cambria Math"/>
                        </a:rPr>
                        <m:t>≡</m:t>
                      </m:r>
                      <m:f>
                        <m:fPr>
                          <m:ctrlPr>
                            <a:rPr lang="en-GB" sz="16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GB" sz="1600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 sz="1600">
                                          <a:latin typeface="Cambria Math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m:rPr/>
                                        <a:rPr lang="en-GB" sz="1600" i="1">
                                          <a:latin typeface="Cambria Math"/>
                                        </a:rPr>
                                        <m:t>𝜃</m:t>
                                      </m:r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en-GB" sz="1600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GB" sz="1600" b="0" i="1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600">
                                              <a:latin typeface="Cambria Math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m:rPr/>
                                            <a:rPr lang="en-GB" sz="1600" b="0" i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m:rPr/>
                                        <a:rPr lang="en-GB" sz="1600" i="1">
                                          <a:latin typeface="Cambria Math"/>
                                        </a:rPr>
                                        <m:t>𝜃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GB" sz="1600" b="0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GB" sz="1600" b="0" i="1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600" b="0" i="0">
                                              <a:latin typeface="Cambria Math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m:rPr/>
                                            <a:rPr lang="en-GB" sz="1600" b="0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m:rPr/>
                                        <a:rPr lang="en-GB" sz="1600" b="0" i="1">
                                          <a:latin typeface="Cambria Math"/>
                                        </a:rPr>
                                        <m:t>𝜃</m:t>
                                      </m:r>
                                    </m:e>
                                  </m:func>
                                  <m:r>
                                    <m:rPr/>
                                    <a:rPr lang="en-GB" sz="1600" b="0" i="1">
                                      <a:latin typeface="Cambria Math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GB" sz="1600" b="0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GB" sz="1600" b="0" i="1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600" b="0" i="0">
                                              <a:latin typeface="Cambria Math"/>
                                            </a:rPr>
                                            <m:t>cos</m:t>
                                          </m:r>
                                        </m:e>
                                        <m:sup>
                                          <m:r>
                                            <m:rPr/>
                                            <a:rPr lang="en-GB" sz="1600" b="0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m:rPr/>
                                        <a:rPr lang="en-GB" sz="1600" b="0" i="1">
                                          <a:latin typeface="Cambria Math"/>
                                        </a:rPr>
                                        <m:t>𝜃</m:t>
                                      </m:r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en-GB" sz="1600" b="0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GB" sz="1600" b="0" i="1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600" b="0" i="0">
                                              <a:latin typeface="Cambria Math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m:rPr/>
                                            <a:rPr lang="en-GB" sz="1600" b="0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m:rPr/>
                                        <a:rPr lang="en-GB" sz="1600" b="0" i="1">
                                          <a:latin typeface="Cambria Math"/>
                                        </a:rPr>
                                        <m:t>𝜃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GB" sz="1600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GB" sz="1600" i="1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600">
                                              <a:latin typeface="Cambria Math"/>
                                            </a:rPr>
                                            <m:t>cos</m:t>
                                          </m:r>
                                        </m:e>
                                        <m:sup>
                                          <m:r>
                                            <m:rPr/>
                                            <a:rPr lang="en-GB" sz="1600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m:rPr/>
                                        <a:rPr lang="en-GB" sz="1600" i="1">
                                          <a:latin typeface="Cambria Math"/>
                                        </a:rPr>
                                        <m:t>𝜃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den>
                      </m:f>
                      <m:r>
                        <m:rPr/>
                        <a:rPr lang="en-GB" sz="1600" b="0" i="1">
                          <a:latin typeface="Cambria Math"/>
                        </a:rPr>
                        <m:t>≡</m:t>
                      </m:r>
                      <m:f>
                        <m:fPr>
                          <m:ctrlPr>
                            <a:rPr lang="en-GB" sz="16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16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GB" sz="1600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 sz="1600">
                                          <a:latin typeface="Cambria Math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m:rPr/>
                                        <a:rPr lang="en-GB" sz="1600" i="1">
                                          <a:latin typeface="Cambria Math"/>
                                        </a:rPr>
                                        <m:t>𝜃</m:t>
                                      </m:r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en-GB" sz="1600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GB" sz="1600" i="1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600">
                                              <a:latin typeface="Cambria Math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m:rPr/>
                                            <a:rPr lang="en-GB" sz="160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m:rPr/>
                                        <a:rPr lang="en-GB" sz="1600" i="1">
                                          <a:latin typeface="Cambria Math"/>
                                        </a:rPr>
                                        <m:t>𝜃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GB" sz="16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m:rPr/>
                                    <a:rPr lang="en-GB" sz="1600" b="0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func>
                                    <m:funcPr>
                                      <m:ctrlPr>
                                        <a:rPr lang="en-GB" sz="1600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GB" sz="1600" i="1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600">
                                              <a:latin typeface="Cambria Math"/>
                                            </a:rPr>
                                            <m:t>sin</m:t>
                                          </m:r>
                                        </m:e>
                                        <m:sup>
                                          <m:r>
                                            <m:rPr/>
                                            <a:rPr lang="en-GB" sz="1600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m:rPr/>
                                        <a:rPr lang="en-GB" sz="1600" i="1">
                                          <a:latin typeface="Cambria Math"/>
                                        </a:rPr>
                                        <m:t>𝜃</m:t>
                                      </m:r>
                                    </m:e>
                                  </m:func>
                                  <m:func>
                                    <m:funcPr>
                                      <m:ctrlPr>
                                        <a:rPr lang="en-GB" sz="1600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GB" sz="1600" i="1"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sz="1600">
                                              <a:latin typeface="Cambria Math"/>
                                            </a:rPr>
                                            <m:t>cos</m:t>
                                          </m:r>
                                        </m:e>
                                        <m:sup>
                                          <m:r>
                                            <m:rPr/>
                                            <a:rPr lang="en-GB" sz="1600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m:rPr/>
                                        <a:rPr lang="en-GB" sz="1600" i="1">
                                          <a:latin typeface="Cambria Math"/>
                                        </a:rPr>
                                        <m:t>𝜃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lang="en-GB" sz="1600" b="0" i="1">
                          <a:latin typeface="Cambria Math"/>
                        </a:rPr>
                        <m:t>≡</m:t>
                      </m:r>
                      <m:f>
                        <m:f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16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b="0" i="0">
                                      <a:latin typeface="Cambria Math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m:rPr/>
                                    <a:rPr lang="en-GB" sz="1600" b="0" i="1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m:rPr/>
                            <a:rPr lang="en-GB" sz="1600" b="0" i="1">
                              <a:latin typeface="Cambria Math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lang="en-GB" sz="1600" b="0" i="1">
                          <a:latin typeface="Cambria Math"/>
                        </a:rPr>
                        <m:t>≡</m:t>
                      </m:r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6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600" b="0" i="0">
                                  <a:latin typeface="Cambria Math"/>
                                </a:rPr>
                                <m:t>cos</m:t>
                              </m:r>
                            </m:e>
                            <m:sup>
                              <m:r>
                                <m:rPr/>
                                <a:rPr lang="en-GB" sz="1600" b="0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 sz="1600"/>
          </a:p>
        </p:txBody>
      </p:sp>
      <p:sp>
        <p:nvSpPr>
          <p:cNvPr id="1838895356" name="TextBox 10"/>
          <p:cNvSpPr txBox="1"/>
          <p:nvPr/>
        </p:nvSpPr>
        <p:spPr bwMode="auto">
          <a:xfrm>
            <a:off x="6320694" y="6018315"/>
            <a:ext cx="16102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100"/>
              <a:t>Multiply top and bottom by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1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1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100" b="0" i="0">
                                  <a:latin typeface="Cambria Math"/>
                                </a:rPr>
                                <m:t>sin</m:t>
                              </m:r>
                            </m:e>
                            <m:sup>
                              <m:r>
                                <m:rPr/>
                                <a:rPr lang="en-GB" sz="11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11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func>
                        <m:funcPr>
                          <m:ctrlPr>
                            <a:rPr lang="en-GB" sz="11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1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100" b="0" i="0">
                                  <a:latin typeface="Cambria Math"/>
                                </a:rPr>
                                <m:t>cos</m:t>
                              </m:r>
                            </m:e>
                            <m:sup>
                              <m:r>
                                <m:rPr/>
                                <a:rPr lang="en-GB" sz="11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1100" b="0" i="1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 sz="1100"/>
          </a:p>
        </p:txBody>
      </p:sp>
      <p:cxnSp>
        <p:nvCxnSpPr>
          <p:cNvPr id="1683480754" name="Straight Arrow Connector 12"/>
          <p:cNvCxnSpPr/>
          <p:nvPr/>
        </p:nvCxnSpPr>
        <p:spPr bwMode="auto">
          <a:xfrm flipV="1">
            <a:off x="6706840" y="5810102"/>
            <a:ext cx="125760" cy="231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6833586" name="Rectangle 13"/>
          <p:cNvSpPr/>
          <p:nvPr/>
        </p:nvSpPr>
        <p:spPr bwMode="auto">
          <a:xfrm>
            <a:off x="196404" y="4267696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/>
              <a:t>a</a:t>
            </a:r>
            <a:endParaRPr/>
          </a:p>
        </p:txBody>
      </p:sp>
      <p:sp>
        <p:nvSpPr>
          <p:cNvPr id="562850984" name="Rectangle 14"/>
          <p:cNvSpPr/>
          <p:nvPr/>
        </p:nvSpPr>
        <p:spPr bwMode="auto">
          <a:xfrm>
            <a:off x="196404" y="5079604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/>
              <a:t>b</a:t>
            </a:r>
            <a:endParaRPr/>
          </a:p>
        </p:txBody>
      </p:sp>
      <p:sp>
        <p:nvSpPr>
          <p:cNvPr id="1052892452" name="Rectangle 15"/>
          <p:cNvSpPr/>
          <p:nvPr/>
        </p:nvSpPr>
        <p:spPr bwMode="auto">
          <a:xfrm>
            <a:off x="4419042" y="4123680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/>
              <a:t>c</a:t>
            </a:r>
            <a:endParaRPr/>
          </a:p>
        </p:txBody>
      </p:sp>
      <p:sp>
        <p:nvSpPr>
          <p:cNvPr id="939560062" name="Rectangle 16"/>
          <p:cNvSpPr/>
          <p:nvPr/>
        </p:nvSpPr>
        <p:spPr bwMode="auto">
          <a:xfrm>
            <a:off x="484435" y="4256314"/>
            <a:ext cx="3549467" cy="684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1163386125" name="Rectangle 17"/>
          <p:cNvSpPr/>
          <p:nvPr/>
        </p:nvSpPr>
        <p:spPr bwMode="auto">
          <a:xfrm>
            <a:off x="488007" y="5076032"/>
            <a:ext cx="3549467" cy="166766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1685440463" name="Rectangle 18"/>
          <p:cNvSpPr/>
          <p:nvPr/>
        </p:nvSpPr>
        <p:spPr bwMode="auto">
          <a:xfrm>
            <a:off x="4689624" y="4114800"/>
            <a:ext cx="3549467" cy="26289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395600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395600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956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56006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63386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63386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338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338612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854404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854404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5440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85440463"/>
                  </p:tgtEl>
                </p:cond>
              </p:nextCondLst>
            </p:seq>
          </p:childTnLst>
        </p:cTn>
      </p:par>
    </p:tnLst>
    <p:bldLst>
      <p:bldP spid="939560062" grpId="0" animBg="1"/>
      <p:bldP spid="1163386125" grpId="0" animBg="1"/>
      <p:bldP spid="168544046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08257727" name="Group 1"/>
          <p:cNvGrpSpPr/>
          <p:nvPr/>
        </p:nvGrpSpPr>
        <p:grpSpPr bwMode="auto"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/>
                <a:t>Test Your Understanding</a:t>
              </a:r>
              <a:endParaRPr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274539457" name="TextBox 4"/>
          <p:cNvSpPr txBox="1"/>
          <p:nvPr/>
        </p:nvSpPr>
        <p:spPr bwMode="auto">
          <a:xfrm>
            <a:off x="251520" y="896375"/>
            <a:ext cx="3888432" cy="2278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sec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−</m:t>
                      </m:r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≡</m:t>
                      </m:r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1" i="0">
                          <a:latin typeface="Cambria Math"/>
                        </a:rPr>
                        <m:t>𝐋𝐇𝐒</m:t>
                      </m:r>
                      <m:r>
                        <m:rPr/>
                        <a:rPr lang="en-GB" b="1" i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1" i="1">
                              <a:latin typeface="Cambria Math"/>
                            </a:rPr>
                            <m:t>𝟏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/>
                                <a:rPr lang="en-GB" b="1" i="0">
                                  <a:latin typeface="Cambria Math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  <m:r>
                        <m:rPr/>
                        <a:rPr lang="en-GB" b="1" i="1">
                          <a:latin typeface="Cambria Math"/>
                        </a:rPr>
                        <m:t>−</m:t>
                      </m:r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/>
                            <a:rPr lang="en-GB" b="1" i="0">
                              <a:latin typeface="Cambria Math"/>
                            </a:rPr>
                            <m:t>𝐜𝐨𝐬</m:t>
                          </m:r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1" i="1">
                          <a:latin typeface="Cambria Math"/>
                        </a:rPr>
                        <m:t>       =</m:t>
                      </m:r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1" i="1">
                              <a:latin typeface="Cambria Math"/>
                            </a:rPr>
                            <m:t>𝟏</m:t>
                          </m:r>
                          <m:r>
                            <m:rPr/>
                            <a:rPr lang="en-GB" b="1" i="1">
                              <a:latin typeface="Cambria Math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/>
                                    <a:rPr lang="en-GB" b="1" i="0">
                                      <a:latin typeface="Cambria Math"/>
                                    </a:rPr>
                                    <m:t>𝐜𝐨𝐬</m:t>
                                  </m:r>
                                </m:e>
                                <m:sup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/>
                                <a:rPr lang="en-GB" b="1" i="0">
                                  <a:latin typeface="Cambria Math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1" i="0">
                          <a:latin typeface="Cambria Math"/>
                        </a:rPr>
                        <m:t>       </m:t>
                      </m:r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/>
                                    <a:rPr lang="en-GB" b="1" i="0">
                                      <a:latin typeface="Cambria Math"/>
                                    </a:rPr>
                                    <m:t>𝐬𝐢𝐧</m:t>
                                  </m:r>
                                </m:e>
                                <m:sup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/>
                                <a:rPr lang="en-GB" b="1" i="0">
                                  <a:latin typeface="Cambria Math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1" i="1">
                          <a:latin typeface="Cambria Math"/>
                        </a:rPr>
                        <m:t>      =</m:t>
                      </m:r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/>
                            <a:rPr lang="en-GB" b="1" i="0">
                              <a:latin typeface="Cambria Math"/>
                            </a:rPr>
                            <m:t>𝐬𝐢𝐧</m:t>
                          </m:r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𝒙</m:t>
                          </m:r>
                        </m:e>
                      </m:func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/>
                            <a:rPr lang="en-GB" b="1" i="0">
                              <a:latin typeface="Cambria Math"/>
                            </a:rPr>
                            <m:t>𝐭𝐚𝐧</m:t>
                          </m:r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 b="1"/>
          </a:p>
        </p:txBody>
      </p:sp>
      <p:sp>
        <p:nvSpPr>
          <p:cNvPr id="461106471" name="TextBox 5"/>
          <p:cNvSpPr txBox="1"/>
          <p:nvPr/>
        </p:nvSpPr>
        <p:spPr bwMode="auto">
          <a:xfrm>
            <a:off x="2699792" y="4106033"/>
            <a:ext cx="5747253" cy="1772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d>
                        <m:d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1+</m:t>
                          </m:r>
                          <m:func>
                            <m:func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d>
                        <m:d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/>
                                </a:rPr>
                                <m:t>c</m:t>
                              </m:r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𝑜𝑠𝑒𝑐</m:t>
                              </m:r>
                            </m:fName>
                            <m:e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r>
                            <m:rPr/>
                            <a:rPr lang="en-GB" b="0" i="1">
                              <a:latin typeface="Cambria Math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/>
                                </a:rPr>
                                <m:t>cot</m:t>
                              </m:r>
                            </m:fName>
                            <m:e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m:rPr/>
                        <a:rPr lang="en-GB" b="0" i="1">
                          <a:latin typeface="Cambria Math"/>
                        </a:rPr>
                        <m:t>≡</m:t>
                      </m:r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/>
                            <a:rPr lang="en-GB" b="1" i="0">
                              <a:latin typeface="Cambria Math"/>
                            </a:rPr>
                            <m:t>𝐋𝐇𝐒</m:t>
                          </m:r>
                          <m:r>
                            <m:rPr/>
                            <a:rPr lang="en-GB" b="1" i="0">
                              <a:latin typeface="Cambria Math"/>
                            </a:rPr>
                            <m:t>=</m:t>
                          </m:r>
                          <m:r>
                            <m:rPr/>
                            <a:rPr lang="en-GB" b="1" i="0">
                              <a:latin typeface="Cambria Math"/>
                            </a:rPr>
                            <m:t>𝐜𝐨𝐬𝐞𝐜</m:t>
                          </m:r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𝒙</m:t>
                          </m:r>
                        </m:e>
                      </m:func>
                      <m:r>
                        <m:rPr/>
                        <a:rPr lang="en-GB" b="1" i="1">
                          <a:latin typeface="Cambria Math"/>
                        </a:rPr>
                        <m:t>−</m:t>
                      </m:r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/>
                            <a:rPr lang="en-GB" b="1" i="0">
                              <a:latin typeface="Cambria Math"/>
                            </a:rPr>
                            <m:t>𝐜𝐨𝐭</m:t>
                          </m:r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𝒙</m:t>
                          </m:r>
                        </m:e>
                      </m:func>
                      <m:r>
                        <m:rPr/>
                        <a:rPr lang="en-GB" b="1" i="1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/>
                            <a:rPr lang="en-GB" b="1" i="0">
                              <a:latin typeface="Cambria Math"/>
                            </a:rPr>
                            <m:t>𝐜𝐨𝐬</m:t>
                          </m:r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𝒙</m:t>
                          </m:r>
                        </m:e>
                      </m:func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/>
                            <a:rPr lang="en-GB" b="1" i="0">
                              <a:latin typeface="Cambria Math"/>
                            </a:rPr>
                            <m:t>𝐜</m:t>
                          </m:r>
                          <m:r>
                            <m:rPr/>
                            <a:rPr lang="en-GB" b="1" i="0">
                              <a:latin typeface="Cambria Math"/>
                            </a:rPr>
                            <m:t>𝐨</m:t>
                          </m:r>
                          <m:r>
                            <m:rPr/>
                            <a:rPr lang="en-GB" b="1" i="0">
                              <a:latin typeface="Cambria Math"/>
                            </a:rPr>
                            <m:t>𝐬</m:t>
                          </m:r>
                          <m:r>
                            <m:rPr/>
                            <a:rPr lang="en-GB" b="1" i="0">
                              <a:latin typeface="Cambria Math"/>
                            </a:rPr>
                            <m:t>𝐞</m:t>
                          </m:r>
                          <m:r>
                            <m:rPr/>
                            <a:rPr lang="en-GB" b="1" i="0">
                              <a:latin typeface="Cambria Math"/>
                            </a:rPr>
                            <m:t>𝐜</m:t>
                          </m:r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𝒙</m:t>
                          </m:r>
                        </m:e>
                      </m:func>
                      <m:r>
                        <m:rPr/>
                        <a:rPr lang="en-GB" b="1" i="1">
                          <a:latin typeface="Cambria Math"/>
                        </a:rPr>
                        <m:t>−</m:t>
                      </m:r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/>
                            <a:rPr lang="en-GB" b="1" i="0">
                              <a:latin typeface="Cambria Math"/>
                            </a:rPr>
                            <m:t>𝐜𝐨𝐬</m:t>
                          </m:r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𝒙</m:t>
                          </m:r>
                        </m:e>
                      </m:func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/>
                            <a:rPr lang="en-GB" b="1" i="0">
                              <a:latin typeface="Cambria Math"/>
                            </a:rPr>
                            <m:t>𝐜𝐨𝐭</m:t>
                          </m:r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1" i="1">
                              <a:latin typeface="Cambria Math"/>
                            </a:rPr>
                            <m:t>𝟏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/>
                                <a:rPr lang="en-GB" b="1" i="0">
                                  <a:latin typeface="Cambria Math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  <m:r>
                        <m:rPr/>
                        <a:rPr lang="en-GB" b="1" i="1">
                          <a:latin typeface="Cambria Math"/>
                        </a:rPr>
                        <m:t>−</m:t>
                      </m:r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/>
                            <a:rPr lang="en-GB" b="1" i="0">
                              <a:latin typeface="Cambria Math"/>
                            </a:rPr>
                            <m:t>𝐜𝐨𝐭</m:t>
                          </m:r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𝒙</m:t>
                          </m:r>
                        </m:e>
                      </m:func>
                      <m:r>
                        <m:rPr/>
                        <a:rPr lang="en-GB" b="1" i="1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/>
                            <a:rPr lang="en-GB" b="1" i="0">
                              <a:latin typeface="Cambria Math"/>
                            </a:rPr>
                            <m:t>𝐜𝐨𝐭</m:t>
                          </m:r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𝒙</m:t>
                          </m:r>
                        </m:e>
                      </m:func>
                      <m:r>
                        <m:rPr/>
                        <a:rPr lang="en-GB" b="1" i="1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/>
                                    <a:rPr lang="en-GB" b="1" i="0">
                                      <a:latin typeface="Cambria Math"/>
                                    </a:rPr>
                                    <m:t>𝐜𝐨𝐬</m:t>
                                  </m:r>
                                </m:e>
                                <m:sup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/>
                                <a:rPr lang="en-GB" b="1" i="0">
                                  <a:latin typeface="Cambria Math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1" i="1">
                              <a:latin typeface="Cambria Math"/>
                            </a:rPr>
                            <m:t>𝟏</m:t>
                          </m:r>
                          <m:r>
                            <m:rPr/>
                            <a:rPr lang="en-GB" b="1" i="1">
                              <a:latin typeface="Cambria Math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/>
                                    <a:rPr lang="en-GB" b="1" i="0">
                                      <a:latin typeface="Cambria Math"/>
                                    </a:rPr>
                                    <m:t>𝐜𝐨𝐬</m:t>
                                  </m:r>
                                </m:e>
                                <m:sup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/>
                                <a:rPr lang="en-GB" b="1" i="0">
                                  <a:latin typeface="Cambria Math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/>
                                    <a:rPr lang="en-GB" b="1" i="0">
                                      <a:latin typeface="Cambria Math"/>
                                    </a:rPr>
                                    <m:t>𝐬𝐢𝐧</m:t>
                                  </m:r>
                                </m:e>
                                <m:sup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/>
                                <a:rPr lang="en-GB" b="1" i="0">
                                  <a:latin typeface="Cambria Math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/>
                            <a:rPr lang="en-GB" b="1" i="0">
                              <a:latin typeface="Cambria Math"/>
                            </a:rPr>
                            <m:t>𝐬𝐢𝐧</m:t>
                          </m:r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 b="1"/>
          </a:p>
        </p:txBody>
      </p:sp>
      <p:sp>
        <p:nvSpPr>
          <p:cNvPr id="825014496" name="TextBox 6"/>
          <p:cNvSpPr txBox="1"/>
          <p:nvPr/>
        </p:nvSpPr>
        <p:spPr bwMode="auto">
          <a:xfrm>
            <a:off x="448180" y="941980"/>
            <a:ext cx="288032" cy="30777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/>
              <a:t>1</a:t>
            </a:r>
            <a:endParaRPr/>
          </a:p>
        </p:txBody>
      </p:sp>
      <p:sp>
        <p:nvSpPr>
          <p:cNvPr id="914177764" name="TextBox 7"/>
          <p:cNvSpPr txBox="1"/>
          <p:nvPr/>
        </p:nvSpPr>
        <p:spPr bwMode="auto">
          <a:xfrm>
            <a:off x="2462169" y="4108944"/>
            <a:ext cx="288032" cy="30777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/>
              <a:t>2</a:t>
            </a:r>
            <a:endParaRPr/>
          </a:p>
        </p:txBody>
      </p:sp>
      <p:sp>
        <p:nvSpPr>
          <p:cNvPr id="967071106" name="Rectangle 8"/>
          <p:cNvSpPr/>
          <p:nvPr/>
        </p:nvSpPr>
        <p:spPr bwMode="auto">
          <a:xfrm>
            <a:off x="827584" y="1249758"/>
            <a:ext cx="3240360" cy="203522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230340922" name="Rectangle 9"/>
          <p:cNvSpPr/>
          <p:nvPr/>
        </p:nvSpPr>
        <p:spPr bwMode="auto">
          <a:xfrm>
            <a:off x="2943019" y="4487980"/>
            <a:ext cx="5373667" cy="16515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67071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67071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707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707110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03409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03409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34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0340922"/>
                  </p:tgtEl>
                </p:cond>
              </p:nextCondLst>
            </p:seq>
          </p:childTnLst>
        </p:cTn>
      </p:par>
    </p:tnLst>
    <p:bldLst>
      <p:bldP spid="967071106" grpId="0" animBg="1"/>
      <p:bldP spid="2303409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55917801" name="Group 1"/>
          <p:cNvGrpSpPr/>
          <p:nvPr/>
        </p:nvGrpSpPr>
        <p:grpSpPr bwMode="auto"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/>
                <a:t>Solvey</a:t>
              </a:r>
              <a:r>
                <a:rPr lang="en-GB" sz="3200"/>
                <a:t> Questions</a:t>
              </a:r>
              <a:endParaRPr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948044038" name="TextBox 5"/>
          <p:cNvSpPr txBox="1"/>
          <p:nvPr/>
        </p:nvSpPr>
        <p:spPr bwMode="auto">
          <a:xfrm>
            <a:off x="395536" y="883101"/>
            <a:ext cx="3680267" cy="1077218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600"/>
              <a:t>[Textbook] Solve the following equations in the interval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600" b="0" i="1">
                          <a:latin typeface="Cambria Math"/>
                        </a:rPr>
                        <m:t>0≤</m:t>
                      </m:r>
                      <m:r>
                        <m:rPr/>
                        <a:rPr lang="en-GB" sz="1600" b="0" i="1">
                          <a:latin typeface="Cambria Math"/>
                        </a:rPr>
                        <m:t>𝜃</m:t>
                      </m:r>
                      <m:r>
                        <m:rPr/>
                        <a:rPr lang="en-GB" sz="1600" b="0" i="1">
                          <a:latin typeface="Cambria Math"/>
                        </a:rPr>
                        <m:t>≤360°</m:t>
                      </m:r>
                    </m:oMath>
                  </m:oMathPara>
                </a14:m>
              </mc:Choice>
              <mc:Fallback/>
            </mc:AlternateContent>
            <a:r>
              <a:rPr lang="en-GB" sz="1600"/>
              <a:t>:</a:t>
            </a:r>
            <a:endParaRPr/>
          </a:p>
          <a:p>
            <a:pPr marL="342900" indent="-342900">
              <a:buAutoNum type="alphaLcParenR"/>
              <a:defRPr/>
            </a:pPr>
            <a:r>
              <a:rPr lang="en-GB" sz="1600" b="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sec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600" b="0" i="1">
                          <a:latin typeface="Cambria Math"/>
                        </a:rPr>
                        <m:t>=−2.5</m:t>
                      </m:r>
                    </m:oMath>
                  </m:oMathPara>
                </a14:m>
              </mc:Choice>
              <mc:Fallback/>
            </mc:AlternateContent>
            <a:endParaRPr lang="en-GB" sz="1600"/>
          </a:p>
          <a:p>
            <a:pPr marL="342900" indent="-342900">
              <a:buAutoNum type="alphaLcParenR"/>
              <a:defRPr/>
            </a:pPr>
            <a:r>
              <a:rPr lang="en-GB" sz="16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2</m:t>
                          </m:r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600" b="0" i="1">
                          <a:latin typeface="Cambria Math"/>
                        </a:rPr>
                        <m:t>=0.6</m:t>
                      </m:r>
                    </m:oMath>
                  </m:oMathPara>
                </a14:m>
              </mc:Choice>
              <mc:Fallback/>
            </mc:AlternateContent>
            <a:endParaRPr lang="en-GB" sz="1600"/>
          </a:p>
        </p:txBody>
      </p:sp>
      <p:sp>
        <p:nvSpPr>
          <p:cNvPr id="611809515" name="TextBox 6"/>
          <p:cNvSpPr txBox="1"/>
          <p:nvPr/>
        </p:nvSpPr>
        <p:spPr bwMode="auto">
          <a:xfrm>
            <a:off x="4690176" y="883101"/>
            <a:ext cx="4017889" cy="338554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600"/>
              <a:t>Solve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600" b="0" i="1">
                          <a:latin typeface="Cambria Math"/>
                        </a:rPr>
                        <m:t>=0</m:t>
                      </m:r>
                    </m:oMath>
                  </m:oMathPara>
                </a14:m>
              </mc:Choice>
              <mc:Fallback/>
            </mc:AlternateContent>
            <a:r>
              <a:rPr lang="en-GB" sz="1600"/>
              <a:t> in the interval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600" b="0" i="1">
                          <a:latin typeface="Cambria Math"/>
                        </a:rPr>
                        <m:t>0≤</m:t>
                      </m:r>
                      <m:r>
                        <m:rPr/>
                        <a:rPr lang="en-GB" sz="1600" b="0" i="1">
                          <a:latin typeface="Cambria Math"/>
                        </a:rPr>
                        <m:t>𝜃</m:t>
                      </m:r>
                      <m:r>
                        <m:rPr/>
                        <a:rPr lang="en-GB" sz="1600" b="0" i="1">
                          <a:latin typeface="Cambria Math"/>
                        </a:rPr>
                        <m:t>≤2</m:t>
                      </m:r>
                      <m:r>
                        <m:rPr/>
                        <a:rPr lang="en-GB" sz="1600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r>
              <a:rPr lang="en-GB" sz="1600"/>
              <a:t>.</a:t>
            </a:r>
            <a:endParaRPr/>
          </a:p>
        </p:txBody>
      </p:sp>
      <p:sp>
        <p:nvSpPr>
          <p:cNvPr id="1417218570" name="TextBox 7"/>
          <p:cNvSpPr txBox="1"/>
          <p:nvPr/>
        </p:nvSpPr>
        <p:spPr bwMode="auto">
          <a:xfrm>
            <a:off x="540679" y="2350006"/>
            <a:ext cx="3653950" cy="2557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sec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=−2.5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=−0.4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lang="en-GB" b="0" i="1">
                          <a:latin typeface="Cambria Math"/>
                        </a:rPr>
                        <m:t>𝜃</m:t>
                      </m:r>
                      <m:r>
                        <m:rPr/>
                        <a:rPr lang="en-GB" b="0" i="1">
                          <a:latin typeface="Cambria Math"/>
                        </a:rPr>
                        <m:t>=113.6°, 246.5°</m:t>
                      </m:r>
                    </m:oMath>
                  </m:oMathPara>
                </a14:m>
              </mc:Choice>
              <mc:Fallback/>
            </mc:AlternateContent>
            <a:endParaRPr lang="en-GB"/>
          </a:p>
          <a:p>
            <a:pPr>
              <a:defRPr/>
            </a:pPr>
            <a:endParaRPr lang="en-GB"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2</m:t>
                          </m:r>
                          <m:r>
                            <m:rPr/>
                            <a:rPr lang="en-GB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=0.6     0≤2</m:t>
                      </m:r>
                      <m:r>
                        <m:rPr/>
                        <a:rPr lang="en-GB" b="0" i="1">
                          <a:latin typeface="Cambria Math"/>
                        </a:rPr>
                        <m:t>𝜃</m:t>
                      </m:r>
                      <m:r>
                        <m:rPr/>
                        <a:rPr lang="en-GB" b="0" i="1">
                          <a:latin typeface="Cambria Math"/>
                        </a:rPr>
                        <m:t>≤720°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2</m:t>
                          </m:r>
                          <m:r>
                            <m:rPr/>
                            <a:rPr lang="en-GB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0" i="1"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m:rPr/>
                            <a:rPr lang="en-GB" b="0" i="1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lang="en-GB" b="0" i="1">
                          <a:latin typeface="Cambria Math"/>
                        </a:rPr>
                        <m:t>2</m:t>
                      </m:r>
                      <m:r>
                        <m:rPr/>
                        <a:rPr lang="en-GB" b="0" i="1">
                          <a:latin typeface="Cambria Math"/>
                        </a:rPr>
                        <m:t>𝜃</m:t>
                      </m:r>
                      <m:r>
                        <m:rPr/>
                        <a:rPr lang="en-GB" b="0" i="1">
                          <a:latin typeface="Cambria Math"/>
                        </a:rPr>
                        <m:t>=59.0°, 239.0°, 419.0°, 599.0°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lang="en-GB" b="0" i="1">
                          <a:latin typeface="Cambria Math"/>
                        </a:rPr>
                        <m:t>𝜃</m:t>
                      </m:r>
                      <m:r>
                        <m:rPr/>
                        <a:rPr lang="en-GB" b="0" i="1">
                          <a:latin typeface="Cambria Math"/>
                        </a:rPr>
                        <m:t>=29.5°, 120°, 210°, 300° (3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𝑠𝑓</m:t>
                      </m:r>
                      <m:r>
                        <m:rPr/>
                        <a:rPr lang="en-GB" b="0" i="1">
                          <a:latin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sp>
        <p:nvSpPr>
          <p:cNvPr id="107269449" name="TextBox 8"/>
          <p:cNvSpPr txBox="1"/>
          <p:nvPr/>
        </p:nvSpPr>
        <p:spPr bwMode="auto">
          <a:xfrm>
            <a:off x="4831997" y="1417657"/>
            <a:ext cx="2368781" cy="1164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=0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lang="en-GB" b="0" i="1">
                          <a:latin typeface="Cambria Math"/>
                        </a:rPr>
                        <m:t>∴</m:t>
                      </m:r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→∞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lang="en-GB" b="0" i="1">
                          <a:latin typeface="Cambria Math"/>
                        </a:rPr>
                        <m:t>𝜃</m:t>
                      </m:r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0" i="1">
                              <a:latin typeface="Cambria Math"/>
                            </a:rPr>
                            <m:t>𝜋</m:t>
                          </m:r>
                        </m:num>
                        <m:den>
                          <m:r>
                            <m:rPr/>
                            <a:rPr lang="en-GB" b="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m:rPr/>
                        <a:rPr lang="en-GB" b="0" i="1">
                          <a:latin typeface="Cambria Math"/>
                        </a:rPr>
                        <m:t>,</m:t>
                      </m:r>
                      <m:f>
                        <m:f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0" i="1">
                              <a:latin typeface="Cambria Math"/>
                            </a:rPr>
                            <m:t>3</m:t>
                          </m:r>
                          <m:r>
                            <m:rPr/>
                            <a:rPr lang="en-GB" b="0" i="1">
                              <a:latin typeface="Cambria Math"/>
                            </a:rPr>
                            <m:t>𝜋</m:t>
                          </m:r>
                        </m:num>
                        <m:den>
                          <m:r>
                            <m:rPr/>
                            <a:rPr lang="en-GB" b="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sp>
        <p:nvSpPr>
          <p:cNvPr id="680751522" name="Rectangle 9"/>
          <p:cNvSpPr/>
          <p:nvPr/>
        </p:nvSpPr>
        <p:spPr bwMode="auto">
          <a:xfrm>
            <a:off x="253940" y="2424434"/>
            <a:ext cx="216024" cy="21489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/>
              <a:t>a</a:t>
            </a:r>
            <a:endParaRPr/>
          </a:p>
        </p:txBody>
      </p:sp>
      <p:sp>
        <p:nvSpPr>
          <p:cNvPr id="523983323" name="Rectangle 10"/>
          <p:cNvSpPr/>
          <p:nvPr/>
        </p:nvSpPr>
        <p:spPr bwMode="auto">
          <a:xfrm>
            <a:off x="253940" y="3521208"/>
            <a:ext cx="216024" cy="21489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/>
              <a:t>b</a:t>
            </a:r>
            <a:endParaRPr/>
          </a:p>
        </p:txBody>
      </p:sp>
      <p:sp>
        <p:nvSpPr>
          <p:cNvPr id="1079129364" name="Rectangle 12"/>
          <p:cNvSpPr/>
          <p:nvPr/>
        </p:nvSpPr>
        <p:spPr bwMode="auto">
          <a:xfrm>
            <a:off x="469964" y="3521208"/>
            <a:ext cx="3605840" cy="14655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grpSp>
        <p:nvGrpSpPr>
          <p:cNvPr id="1788958156" name="Group 33"/>
          <p:cNvGrpSpPr/>
          <p:nvPr/>
        </p:nvGrpSpPr>
        <p:grpSpPr bwMode="auto">
          <a:xfrm>
            <a:off x="4861074" y="3031352"/>
            <a:ext cx="3819528" cy="3027128"/>
            <a:chOff x="1354647" y="1337976"/>
            <a:chExt cx="5873578" cy="5004678"/>
          </a:xfrm>
        </p:grpSpPr>
        <p:cxnSp>
          <p:nvCxnSpPr>
            <p:cNvPr id="14" name="Straight Arrow Connector 13"/>
            <p:cNvCxnSpPr/>
            <p:nvPr/>
          </p:nvCxnSpPr>
          <p:spPr bwMode="auto">
            <a:xfrm>
              <a:off x="1654467" y="3853327"/>
              <a:ext cx="5304612" cy="1184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 bwMode="auto">
            <a:xfrm flipV="1">
              <a:off x="1654467" y="2318200"/>
              <a:ext cx="0" cy="293303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 bwMode="auto">
            <a:xfrm>
              <a:off x="1354647" y="1744012"/>
              <a:ext cx="344656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sz="2000" b="0" i="1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</mc:Choice>
                <mc:Fallback/>
              </mc:AlternateContent>
              <a:endParaRPr lang="en-GB" sz="2000"/>
            </a:p>
          </p:txBody>
        </p:sp>
        <p:sp>
          <p:nvSpPr>
            <p:cNvPr id="17" name="TextBox 16"/>
            <p:cNvSpPr txBox="1"/>
            <p:nvPr/>
          </p:nvSpPr>
          <p:spPr bwMode="auto">
            <a:xfrm>
              <a:off x="6883569" y="3523646"/>
              <a:ext cx="344656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sz="2000" b="0" i="1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</mc:Choice>
                <mc:Fallback/>
              </mc:AlternateContent>
              <a:endParaRPr lang="en-GB" sz="2000"/>
            </a:p>
          </p:txBody>
        </p:sp>
        <p:sp>
          <p:nvSpPr>
            <p:cNvPr id="20" name="TextBox 19"/>
            <p:cNvSpPr txBox="1"/>
            <p:nvPr/>
          </p:nvSpPr>
          <p:spPr bwMode="auto">
            <a:xfrm>
              <a:off x="2571719" y="3816518"/>
              <a:ext cx="344656" cy="819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f>
                          <m:fPr>
                            <m:ctrlPr>
                              <a:rPr lang="en-GB" sz="1400" b="0" i="1"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/>
                              <a:rPr lang="en-GB" sz="1400" b="0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m:rPr/>
                              <a:rPr lang="en-GB" sz="1400" b="0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  <m:r>
                          <m:rPr/>
                          <a:rPr lang="en-GB" sz="1400" b="0" i="1">
                            <a:latin typeface="Cambria Math"/>
                          </a:rPr>
                          <m:t>𝜋</m:t>
                        </m:r>
                      </m:oMath>
                    </m:oMathPara>
                  </a14:m>
                </mc:Choice>
                <mc:Fallback/>
              </mc:AlternateContent>
              <a:endParaRPr lang="en-GB" sz="2000"/>
            </a:p>
          </p:txBody>
        </p:sp>
        <p:sp>
          <p:nvSpPr>
            <p:cNvPr id="21" name="TextBox 20"/>
            <p:cNvSpPr txBox="1"/>
            <p:nvPr/>
          </p:nvSpPr>
          <p:spPr bwMode="auto">
            <a:xfrm>
              <a:off x="4767231" y="3816518"/>
              <a:ext cx="344656" cy="7241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f>
                          <m:fPr>
                            <m:ctrlPr>
                              <a:rPr lang="en-GB" sz="1200" b="0" i="1"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/>
                              <a:rPr lang="en-GB" sz="1200" b="0" i="1">
                                <a:latin typeface="Cambria Math"/>
                              </a:rPr>
                              <m:t>3</m:t>
                            </m:r>
                          </m:num>
                          <m:den>
                            <m:r>
                              <m:rPr/>
                              <a:rPr lang="en-GB" sz="1200" b="0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  <m:r>
                          <m:rPr/>
                          <a:rPr lang="en-GB" sz="1200" b="0" i="1">
                            <a:latin typeface="Cambria Math"/>
                          </a:rPr>
                          <m:t>𝜋</m:t>
                        </m:r>
                      </m:oMath>
                    </m:oMathPara>
                  </a14:m>
                </mc:Choice>
                <mc:Fallback/>
              </mc:AlternateContent>
              <a:endParaRPr lang="en-GB" sz="2000"/>
            </a:p>
          </p:txBody>
        </p:sp>
        <p:cxnSp>
          <p:nvCxnSpPr>
            <p:cNvPr id="23" name="Straight Connector 22"/>
            <p:cNvCxnSpPr/>
            <p:nvPr/>
          </p:nvCxnSpPr>
          <p:spPr bwMode="auto">
            <a:xfrm flipV="1">
              <a:off x="2821009" y="1337976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auto">
            <a:xfrm flipV="1">
              <a:off x="4939559" y="1337976"/>
              <a:ext cx="13241" cy="495708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Freeform 15"/>
            <p:cNvSpPr/>
            <p:nvPr/>
          </p:nvSpPr>
          <p:spPr bwMode="auto">
            <a:xfrm>
              <a:off x="1663547" y="1366092"/>
              <a:ext cx="1101687" cy="2478795"/>
            </a:xfrm>
            <a:custGeom>
              <a:avLst/>
              <a:gdLst>
                <a:gd name="connsiteX0" fmla="*/ 0 w 1101687"/>
                <a:gd name="connsiteY0" fmla="*/ 2478795 h 2478795"/>
                <a:gd name="connsiteX1" fmla="*/ 396607 w 1101687"/>
                <a:gd name="connsiteY1" fmla="*/ 2203373 h 2478795"/>
                <a:gd name="connsiteX2" fmla="*/ 738130 w 1101687"/>
                <a:gd name="connsiteY2" fmla="*/ 1784732 h 2478795"/>
                <a:gd name="connsiteX3" fmla="*/ 969484 w 1101687"/>
                <a:gd name="connsiteY3" fmla="*/ 1101686 h 2478795"/>
                <a:gd name="connsiteX4" fmla="*/ 1079653 w 1101687"/>
                <a:gd name="connsiteY4" fmla="*/ 297455 h 2478795"/>
                <a:gd name="connsiteX5" fmla="*/ 1101687 w 1101687"/>
                <a:gd name="connsiteY5" fmla="*/ 0 h 2478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1687" h="2478795" fill="norm" stroke="1" extrusionOk="0">
                  <a:moveTo>
                    <a:pt x="0" y="2478795"/>
                  </a:moveTo>
                  <a:cubicBezTo>
                    <a:pt x="136792" y="2398922"/>
                    <a:pt x="273585" y="2319050"/>
                    <a:pt x="396607" y="2203373"/>
                  </a:cubicBezTo>
                  <a:cubicBezTo>
                    <a:pt x="519629" y="2087696"/>
                    <a:pt x="642651" y="1968346"/>
                    <a:pt x="738130" y="1784732"/>
                  </a:cubicBezTo>
                  <a:cubicBezTo>
                    <a:pt x="833609" y="1601118"/>
                    <a:pt x="912564" y="1349565"/>
                    <a:pt x="969484" y="1101686"/>
                  </a:cubicBezTo>
                  <a:cubicBezTo>
                    <a:pt x="1026404" y="853807"/>
                    <a:pt x="1057619" y="481069"/>
                    <a:pt x="1079653" y="297455"/>
                  </a:cubicBezTo>
                  <a:cubicBezTo>
                    <a:pt x="1101687" y="113841"/>
                    <a:pt x="1101687" y="56920"/>
                    <a:pt x="1101687" y="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" name="Freeform 16"/>
            <p:cNvSpPr/>
            <p:nvPr/>
          </p:nvSpPr>
          <p:spPr bwMode="auto">
            <a:xfrm>
              <a:off x="2853369" y="1344058"/>
              <a:ext cx="2049137" cy="4759287"/>
            </a:xfrm>
            <a:custGeom>
              <a:avLst/>
              <a:gdLst>
                <a:gd name="connsiteX0" fmla="*/ 0 w 2071171"/>
                <a:gd name="connsiteY0" fmla="*/ 4583017 h 4583017"/>
                <a:gd name="connsiteX1" fmla="*/ 132202 w 2071171"/>
                <a:gd name="connsiteY1" fmla="*/ 3756752 h 4583017"/>
                <a:gd name="connsiteX2" fmla="*/ 385590 w 2071171"/>
                <a:gd name="connsiteY2" fmla="*/ 2985571 h 4583017"/>
                <a:gd name="connsiteX3" fmla="*/ 727113 w 2071171"/>
                <a:gd name="connsiteY3" fmla="*/ 2577947 h 4583017"/>
                <a:gd name="connsiteX4" fmla="*/ 1057619 w 2071171"/>
                <a:gd name="connsiteY4" fmla="*/ 2346592 h 4583017"/>
                <a:gd name="connsiteX5" fmla="*/ 1443209 w 2071171"/>
                <a:gd name="connsiteY5" fmla="*/ 2060154 h 4583017"/>
                <a:gd name="connsiteX6" fmla="*/ 1773715 w 2071171"/>
                <a:gd name="connsiteY6" fmla="*/ 1718631 h 4583017"/>
                <a:gd name="connsiteX7" fmla="*/ 2016086 w 2071171"/>
                <a:gd name="connsiteY7" fmla="*/ 1255923 h 4583017"/>
                <a:gd name="connsiteX8" fmla="*/ 2071171 w 2071171"/>
                <a:gd name="connsiteY8" fmla="*/ 0 h 4583017"/>
                <a:gd name="connsiteX0" fmla="*/ 0 w 2071171"/>
                <a:gd name="connsiteY0" fmla="*/ 4583017 h 4583017"/>
                <a:gd name="connsiteX1" fmla="*/ 132202 w 2071171"/>
                <a:gd name="connsiteY1" fmla="*/ 3756752 h 4583017"/>
                <a:gd name="connsiteX2" fmla="*/ 385590 w 2071171"/>
                <a:gd name="connsiteY2" fmla="*/ 2985571 h 4583017"/>
                <a:gd name="connsiteX3" fmla="*/ 727113 w 2071171"/>
                <a:gd name="connsiteY3" fmla="*/ 2577947 h 4583017"/>
                <a:gd name="connsiteX4" fmla="*/ 1057619 w 2071171"/>
                <a:gd name="connsiteY4" fmla="*/ 2346592 h 4583017"/>
                <a:gd name="connsiteX5" fmla="*/ 1421176 w 2071171"/>
                <a:gd name="connsiteY5" fmla="*/ 2049137 h 4583017"/>
                <a:gd name="connsiteX6" fmla="*/ 1773715 w 2071171"/>
                <a:gd name="connsiteY6" fmla="*/ 1718631 h 4583017"/>
                <a:gd name="connsiteX7" fmla="*/ 2016086 w 2071171"/>
                <a:gd name="connsiteY7" fmla="*/ 1255923 h 4583017"/>
                <a:gd name="connsiteX8" fmla="*/ 2071171 w 2071171"/>
                <a:gd name="connsiteY8" fmla="*/ 0 h 4583017"/>
                <a:gd name="connsiteX0" fmla="*/ 0 w 2071171"/>
                <a:gd name="connsiteY0" fmla="*/ 4583017 h 4583017"/>
                <a:gd name="connsiteX1" fmla="*/ 132202 w 2071171"/>
                <a:gd name="connsiteY1" fmla="*/ 3756752 h 4583017"/>
                <a:gd name="connsiteX2" fmla="*/ 385590 w 2071171"/>
                <a:gd name="connsiteY2" fmla="*/ 2985571 h 4583017"/>
                <a:gd name="connsiteX3" fmla="*/ 727113 w 2071171"/>
                <a:gd name="connsiteY3" fmla="*/ 2577947 h 4583017"/>
                <a:gd name="connsiteX4" fmla="*/ 1057619 w 2071171"/>
                <a:gd name="connsiteY4" fmla="*/ 2346592 h 4583017"/>
                <a:gd name="connsiteX5" fmla="*/ 1421176 w 2071171"/>
                <a:gd name="connsiteY5" fmla="*/ 2049137 h 4583017"/>
                <a:gd name="connsiteX6" fmla="*/ 1729648 w 2071171"/>
                <a:gd name="connsiteY6" fmla="*/ 1685580 h 4583017"/>
                <a:gd name="connsiteX7" fmla="*/ 2016086 w 2071171"/>
                <a:gd name="connsiteY7" fmla="*/ 1255923 h 4583017"/>
                <a:gd name="connsiteX8" fmla="*/ 2071171 w 2071171"/>
                <a:gd name="connsiteY8" fmla="*/ 0 h 4583017"/>
                <a:gd name="connsiteX0" fmla="*/ 0 w 2071171"/>
                <a:gd name="connsiteY0" fmla="*/ 4583017 h 4583017"/>
                <a:gd name="connsiteX1" fmla="*/ 132202 w 2071171"/>
                <a:gd name="connsiteY1" fmla="*/ 3756752 h 4583017"/>
                <a:gd name="connsiteX2" fmla="*/ 385590 w 2071171"/>
                <a:gd name="connsiteY2" fmla="*/ 2985571 h 4583017"/>
                <a:gd name="connsiteX3" fmla="*/ 727113 w 2071171"/>
                <a:gd name="connsiteY3" fmla="*/ 2577947 h 4583017"/>
                <a:gd name="connsiteX4" fmla="*/ 1057619 w 2071171"/>
                <a:gd name="connsiteY4" fmla="*/ 2346592 h 4583017"/>
                <a:gd name="connsiteX5" fmla="*/ 1421176 w 2071171"/>
                <a:gd name="connsiteY5" fmla="*/ 2049137 h 4583017"/>
                <a:gd name="connsiteX6" fmla="*/ 1729648 w 2071171"/>
                <a:gd name="connsiteY6" fmla="*/ 1685580 h 4583017"/>
                <a:gd name="connsiteX7" fmla="*/ 1994052 w 2071171"/>
                <a:gd name="connsiteY7" fmla="*/ 672029 h 4583017"/>
                <a:gd name="connsiteX8" fmla="*/ 2071171 w 2071171"/>
                <a:gd name="connsiteY8" fmla="*/ 0 h 4583017"/>
                <a:gd name="connsiteX0" fmla="*/ 0 w 2071171"/>
                <a:gd name="connsiteY0" fmla="*/ 4836405 h 4836405"/>
                <a:gd name="connsiteX1" fmla="*/ 132202 w 2071171"/>
                <a:gd name="connsiteY1" fmla="*/ 4010140 h 4836405"/>
                <a:gd name="connsiteX2" fmla="*/ 385590 w 2071171"/>
                <a:gd name="connsiteY2" fmla="*/ 3238959 h 4836405"/>
                <a:gd name="connsiteX3" fmla="*/ 727113 w 2071171"/>
                <a:gd name="connsiteY3" fmla="*/ 2831335 h 4836405"/>
                <a:gd name="connsiteX4" fmla="*/ 1057619 w 2071171"/>
                <a:gd name="connsiteY4" fmla="*/ 2599980 h 4836405"/>
                <a:gd name="connsiteX5" fmla="*/ 1421176 w 2071171"/>
                <a:gd name="connsiteY5" fmla="*/ 2302525 h 4836405"/>
                <a:gd name="connsiteX6" fmla="*/ 1729648 w 2071171"/>
                <a:gd name="connsiteY6" fmla="*/ 1938968 h 4836405"/>
                <a:gd name="connsiteX7" fmla="*/ 1994052 w 2071171"/>
                <a:gd name="connsiteY7" fmla="*/ 925417 h 4836405"/>
                <a:gd name="connsiteX8" fmla="*/ 2071171 w 2071171"/>
                <a:gd name="connsiteY8" fmla="*/ 0 h 4836405"/>
                <a:gd name="connsiteX0" fmla="*/ 0 w 2071171"/>
                <a:gd name="connsiteY0" fmla="*/ 4836405 h 4836405"/>
                <a:gd name="connsiteX1" fmla="*/ 132202 w 2071171"/>
                <a:gd name="connsiteY1" fmla="*/ 4010140 h 4836405"/>
                <a:gd name="connsiteX2" fmla="*/ 385590 w 2071171"/>
                <a:gd name="connsiteY2" fmla="*/ 3238959 h 4836405"/>
                <a:gd name="connsiteX3" fmla="*/ 727113 w 2071171"/>
                <a:gd name="connsiteY3" fmla="*/ 2831335 h 4836405"/>
                <a:gd name="connsiteX4" fmla="*/ 1057619 w 2071171"/>
                <a:gd name="connsiteY4" fmla="*/ 2599980 h 4836405"/>
                <a:gd name="connsiteX5" fmla="*/ 1421176 w 2071171"/>
                <a:gd name="connsiteY5" fmla="*/ 2302525 h 4836405"/>
                <a:gd name="connsiteX6" fmla="*/ 1729648 w 2071171"/>
                <a:gd name="connsiteY6" fmla="*/ 1938968 h 4836405"/>
                <a:gd name="connsiteX7" fmla="*/ 1961001 w 2071171"/>
                <a:gd name="connsiteY7" fmla="*/ 991518 h 4836405"/>
                <a:gd name="connsiteX8" fmla="*/ 2071171 w 2071171"/>
                <a:gd name="connsiteY8" fmla="*/ 0 h 4836405"/>
                <a:gd name="connsiteX0" fmla="*/ 0 w 2049137"/>
                <a:gd name="connsiteY0" fmla="*/ 4759287 h 4759287"/>
                <a:gd name="connsiteX1" fmla="*/ 132202 w 2049137"/>
                <a:gd name="connsiteY1" fmla="*/ 3933022 h 4759287"/>
                <a:gd name="connsiteX2" fmla="*/ 385590 w 2049137"/>
                <a:gd name="connsiteY2" fmla="*/ 3161841 h 4759287"/>
                <a:gd name="connsiteX3" fmla="*/ 727113 w 2049137"/>
                <a:gd name="connsiteY3" fmla="*/ 2754217 h 4759287"/>
                <a:gd name="connsiteX4" fmla="*/ 1057619 w 2049137"/>
                <a:gd name="connsiteY4" fmla="*/ 2522862 h 4759287"/>
                <a:gd name="connsiteX5" fmla="*/ 1421176 w 2049137"/>
                <a:gd name="connsiteY5" fmla="*/ 2225407 h 4759287"/>
                <a:gd name="connsiteX6" fmla="*/ 1729648 w 2049137"/>
                <a:gd name="connsiteY6" fmla="*/ 1861850 h 4759287"/>
                <a:gd name="connsiteX7" fmla="*/ 1961001 w 2049137"/>
                <a:gd name="connsiteY7" fmla="*/ 914400 h 4759287"/>
                <a:gd name="connsiteX8" fmla="*/ 2049137 w 2049137"/>
                <a:gd name="connsiteY8" fmla="*/ 0 h 475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49137" h="4759287" fill="norm" stroke="1" extrusionOk="0">
                  <a:moveTo>
                    <a:pt x="0" y="4759287"/>
                  </a:moveTo>
                  <a:cubicBezTo>
                    <a:pt x="33968" y="4479275"/>
                    <a:pt x="67937" y="4199263"/>
                    <a:pt x="132202" y="3933022"/>
                  </a:cubicBezTo>
                  <a:cubicBezTo>
                    <a:pt x="196467" y="3666781"/>
                    <a:pt x="286438" y="3358308"/>
                    <a:pt x="385590" y="3161841"/>
                  </a:cubicBezTo>
                  <a:cubicBezTo>
                    <a:pt x="484742" y="2965374"/>
                    <a:pt x="615108" y="2860713"/>
                    <a:pt x="727113" y="2754217"/>
                  </a:cubicBezTo>
                  <a:cubicBezTo>
                    <a:pt x="839118" y="2647721"/>
                    <a:pt x="941942" y="2610997"/>
                    <a:pt x="1057619" y="2522862"/>
                  </a:cubicBezTo>
                  <a:cubicBezTo>
                    <a:pt x="1173296" y="2434727"/>
                    <a:pt x="1309171" y="2335576"/>
                    <a:pt x="1421176" y="2225407"/>
                  </a:cubicBezTo>
                  <a:cubicBezTo>
                    <a:pt x="1533181" y="2115238"/>
                    <a:pt x="1639677" y="2080351"/>
                    <a:pt x="1729648" y="1861850"/>
                  </a:cubicBezTo>
                  <a:cubicBezTo>
                    <a:pt x="1819619" y="1643349"/>
                    <a:pt x="1907753" y="1224708"/>
                    <a:pt x="1961001" y="914400"/>
                  </a:cubicBezTo>
                  <a:cubicBezTo>
                    <a:pt x="2014249" y="604092"/>
                    <a:pt x="2046382" y="484742"/>
                    <a:pt x="2049137" y="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" name="Freeform 17"/>
            <p:cNvSpPr/>
            <p:nvPr/>
          </p:nvSpPr>
          <p:spPr bwMode="auto">
            <a:xfrm>
              <a:off x="4990641" y="3866920"/>
              <a:ext cx="1167788" cy="2357610"/>
            </a:xfrm>
            <a:custGeom>
              <a:avLst/>
              <a:gdLst>
                <a:gd name="connsiteX0" fmla="*/ 0 w 1167788"/>
                <a:gd name="connsiteY0" fmla="*/ 2357610 h 2357610"/>
                <a:gd name="connsiteX1" fmla="*/ 66101 w 1167788"/>
                <a:gd name="connsiteY1" fmla="*/ 1531345 h 2357610"/>
                <a:gd name="connsiteX2" fmla="*/ 220337 w 1167788"/>
                <a:gd name="connsiteY2" fmla="*/ 925417 h 2357610"/>
                <a:gd name="connsiteX3" fmla="*/ 683046 w 1167788"/>
                <a:gd name="connsiteY3" fmla="*/ 407625 h 2357610"/>
                <a:gd name="connsiteX4" fmla="*/ 1167788 w 1167788"/>
                <a:gd name="connsiteY4" fmla="*/ 0 h 2357610"/>
                <a:gd name="connsiteX0" fmla="*/ 0 w 1167788"/>
                <a:gd name="connsiteY0" fmla="*/ 2357610 h 2357610"/>
                <a:gd name="connsiteX1" fmla="*/ 66101 w 1167788"/>
                <a:gd name="connsiteY1" fmla="*/ 1531345 h 2357610"/>
                <a:gd name="connsiteX2" fmla="*/ 220337 w 1167788"/>
                <a:gd name="connsiteY2" fmla="*/ 925417 h 2357610"/>
                <a:gd name="connsiteX3" fmla="*/ 649995 w 1167788"/>
                <a:gd name="connsiteY3" fmla="*/ 374575 h 2357610"/>
                <a:gd name="connsiteX4" fmla="*/ 1167788 w 1167788"/>
                <a:gd name="connsiteY4" fmla="*/ 0 h 2357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7788" h="2357610" fill="norm" stroke="1" extrusionOk="0">
                  <a:moveTo>
                    <a:pt x="0" y="2357610"/>
                  </a:moveTo>
                  <a:cubicBezTo>
                    <a:pt x="14689" y="2063827"/>
                    <a:pt x="29378" y="1770044"/>
                    <a:pt x="66101" y="1531345"/>
                  </a:cubicBezTo>
                  <a:cubicBezTo>
                    <a:pt x="102824" y="1292646"/>
                    <a:pt x="123021" y="1118212"/>
                    <a:pt x="220337" y="925417"/>
                  </a:cubicBezTo>
                  <a:cubicBezTo>
                    <a:pt x="317653" y="732622"/>
                    <a:pt x="492087" y="528811"/>
                    <a:pt x="649995" y="374575"/>
                  </a:cubicBezTo>
                  <a:cubicBezTo>
                    <a:pt x="807903" y="220339"/>
                    <a:pt x="1004371" y="126694"/>
                    <a:pt x="1167788" y="0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/>
            </a:p>
          </p:txBody>
        </p:sp>
        <p:grpSp>
          <p:nvGrpSpPr>
            <p:cNvPr id="28" name="Group 27"/>
            <p:cNvGrpSpPr/>
            <p:nvPr/>
          </p:nvGrpSpPr>
          <p:grpSpPr bwMode="auto">
            <a:xfrm>
              <a:off x="1729648" y="1351126"/>
              <a:ext cx="4648932" cy="4991528"/>
              <a:chOff x="1729648" y="1351126"/>
              <a:chExt cx="4648932" cy="4991528"/>
            </a:xfrm>
          </p:grpSpPr>
          <p:cxnSp>
            <p:nvCxnSpPr>
              <p:cNvPr id="29" name="Straight Connector 28"/>
              <p:cNvCxnSpPr/>
              <p:nvPr/>
            </p:nvCxnSpPr>
            <p:spPr bwMode="auto">
              <a:xfrm flipV="1">
                <a:off x="3925009" y="1351126"/>
                <a:ext cx="13241" cy="4957081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auto">
              <a:xfrm flipV="1">
                <a:off x="6138568" y="1385573"/>
                <a:ext cx="13241" cy="4957081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31" name="Freeform 31"/>
              <p:cNvSpPr/>
              <p:nvPr/>
            </p:nvSpPr>
            <p:spPr bwMode="auto">
              <a:xfrm>
                <a:off x="1729648" y="1410159"/>
                <a:ext cx="2159306" cy="4836405"/>
              </a:xfrm>
              <a:custGeom>
                <a:avLst/>
                <a:gdLst>
                  <a:gd name="connsiteX0" fmla="*/ 0 w 2159306"/>
                  <a:gd name="connsiteY0" fmla="*/ 0 h 4836405"/>
                  <a:gd name="connsiteX1" fmla="*/ 121186 w 2159306"/>
                  <a:gd name="connsiteY1" fmla="*/ 1057619 h 4836405"/>
                  <a:gd name="connsiteX2" fmla="*/ 330506 w 2159306"/>
                  <a:gd name="connsiteY2" fmla="*/ 1795749 h 4836405"/>
                  <a:gd name="connsiteX3" fmla="*/ 550844 w 2159306"/>
                  <a:gd name="connsiteY3" fmla="*/ 2027104 h 4836405"/>
                  <a:gd name="connsiteX4" fmla="*/ 1090670 w 2159306"/>
                  <a:gd name="connsiteY4" fmla="*/ 2445745 h 4836405"/>
                  <a:gd name="connsiteX5" fmla="*/ 1630497 w 2159306"/>
                  <a:gd name="connsiteY5" fmla="*/ 2930487 h 4836405"/>
                  <a:gd name="connsiteX6" fmla="*/ 2038121 w 2159306"/>
                  <a:gd name="connsiteY6" fmla="*/ 3723701 h 4836405"/>
                  <a:gd name="connsiteX7" fmla="*/ 2159306 w 2159306"/>
                  <a:gd name="connsiteY7" fmla="*/ 4836405 h 4836405"/>
                  <a:gd name="connsiteX0" fmla="*/ 0 w 2159306"/>
                  <a:gd name="connsiteY0" fmla="*/ 0 h 4836405"/>
                  <a:gd name="connsiteX1" fmla="*/ 121186 w 2159306"/>
                  <a:gd name="connsiteY1" fmla="*/ 1057619 h 4836405"/>
                  <a:gd name="connsiteX2" fmla="*/ 330506 w 2159306"/>
                  <a:gd name="connsiteY2" fmla="*/ 1795749 h 4836405"/>
                  <a:gd name="connsiteX3" fmla="*/ 1090670 w 2159306"/>
                  <a:gd name="connsiteY3" fmla="*/ 2445745 h 4836405"/>
                  <a:gd name="connsiteX4" fmla="*/ 1630497 w 2159306"/>
                  <a:gd name="connsiteY4" fmla="*/ 2930487 h 4836405"/>
                  <a:gd name="connsiteX5" fmla="*/ 2038121 w 2159306"/>
                  <a:gd name="connsiteY5" fmla="*/ 3723701 h 4836405"/>
                  <a:gd name="connsiteX6" fmla="*/ 2159306 w 2159306"/>
                  <a:gd name="connsiteY6" fmla="*/ 4836405 h 4836405"/>
                  <a:gd name="connsiteX0" fmla="*/ 0 w 2159306"/>
                  <a:gd name="connsiteY0" fmla="*/ 0 h 4836405"/>
                  <a:gd name="connsiteX1" fmla="*/ 121186 w 2159306"/>
                  <a:gd name="connsiteY1" fmla="*/ 1057619 h 4836405"/>
                  <a:gd name="connsiteX2" fmla="*/ 396607 w 2159306"/>
                  <a:gd name="connsiteY2" fmla="*/ 1795749 h 4836405"/>
                  <a:gd name="connsiteX3" fmla="*/ 1090670 w 2159306"/>
                  <a:gd name="connsiteY3" fmla="*/ 2445745 h 4836405"/>
                  <a:gd name="connsiteX4" fmla="*/ 1630497 w 2159306"/>
                  <a:gd name="connsiteY4" fmla="*/ 2930487 h 4836405"/>
                  <a:gd name="connsiteX5" fmla="*/ 2038121 w 2159306"/>
                  <a:gd name="connsiteY5" fmla="*/ 3723701 h 4836405"/>
                  <a:gd name="connsiteX6" fmla="*/ 2159306 w 2159306"/>
                  <a:gd name="connsiteY6" fmla="*/ 4836405 h 4836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59306" h="4836405" fill="norm" stroke="1" extrusionOk="0">
                    <a:moveTo>
                      <a:pt x="0" y="0"/>
                    </a:moveTo>
                    <a:cubicBezTo>
                      <a:pt x="33051" y="379164"/>
                      <a:pt x="55085" y="758328"/>
                      <a:pt x="121186" y="1057619"/>
                    </a:cubicBezTo>
                    <a:cubicBezTo>
                      <a:pt x="187287" y="1356911"/>
                      <a:pt x="235026" y="1564395"/>
                      <a:pt x="396607" y="1795749"/>
                    </a:cubicBezTo>
                    <a:cubicBezTo>
                      <a:pt x="558188" y="2027103"/>
                      <a:pt x="885022" y="2256622"/>
                      <a:pt x="1090670" y="2445745"/>
                    </a:cubicBezTo>
                    <a:cubicBezTo>
                      <a:pt x="1296318" y="2634868"/>
                      <a:pt x="1472588" y="2717494"/>
                      <a:pt x="1630497" y="2930487"/>
                    </a:cubicBezTo>
                    <a:cubicBezTo>
                      <a:pt x="1788406" y="3143480"/>
                      <a:pt x="1949986" y="3406048"/>
                      <a:pt x="2038121" y="3723701"/>
                    </a:cubicBezTo>
                    <a:cubicBezTo>
                      <a:pt x="2126256" y="4041354"/>
                      <a:pt x="2142781" y="4438879"/>
                      <a:pt x="2159306" y="4836405"/>
                    </a:cubicBezTo>
                  </a:path>
                </a:pathLst>
              </a:cu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/>
              </a:p>
            </p:txBody>
          </p:sp>
          <p:sp>
            <p:nvSpPr>
              <p:cNvPr id="32" name="Freeform 32"/>
              <p:cNvSpPr/>
              <p:nvPr/>
            </p:nvSpPr>
            <p:spPr bwMode="auto">
              <a:xfrm>
                <a:off x="3986215" y="1398313"/>
                <a:ext cx="2084079" cy="4836405"/>
              </a:xfrm>
              <a:custGeom>
                <a:avLst/>
                <a:gdLst>
                  <a:gd name="connsiteX0" fmla="*/ 0 w 2159306"/>
                  <a:gd name="connsiteY0" fmla="*/ 0 h 4836405"/>
                  <a:gd name="connsiteX1" fmla="*/ 121186 w 2159306"/>
                  <a:gd name="connsiteY1" fmla="*/ 1057619 h 4836405"/>
                  <a:gd name="connsiteX2" fmla="*/ 330506 w 2159306"/>
                  <a:gd name="connsiteY2" fmla="*/ 1795749 h 4836405"/>
                  <a:gd name="connsiteX3" fmla="*/ 550844 w 2159306"/>
                  <a:gd name="connsiteY3" fmla="*/ 2027104 h 4836405"/>
                  <a:gd name="connsiteX4" fmla="*/ 1090670 w 2159306"/>
                  <a:gd name="connsiteY4" fmla="*/ 2445745 h 4836405"/>
                  <a:gd name="connsiteX5" fmla="*/ 1630497 w 2159306"/>
                  <a:gd name="connsiteY5" fmla="*/ 2930487 h 4836405"/>
                  <a:gd name="connsiteX6" fmla="*/ 2038121 w 2159306"/>
                  <a:gd name="connsiteY6" fmla="*/ 3723701 h 4836405"/>
                  <a:gd name="connsiteX7" fmla="*/ 2159306 w 2159306"/>
                  <a:gd name="connsiteY7" fmla="*/ 4836405 h 4836405"/>
                  <a:gd name="connsiteX0" fmla="*/ 0 w 2159306"/>
                  <a:gd name="connsiteY0" fmla="*/ 0 h 4836405"/>
                  <a:gd name="connsiteX1" fmla="*/ 121186 w 2159306"/>
                  <a:gd name="connsiteY1" fmla="*/ 1057619 h 4836405"/>
                  <a:gd name="connsiteX2" fmla="*/ 330506 w 2159306"/>
                  <a:gd name="connsiteY2" fmla="*/ 1795749 h 4836405"/>
                  <a:gd name="connsiteX3" fmla="*/ 1090670 w 2159306"/>
                  <a:gd name="connsiteY3" fmla="*/ 2445745 h 4836405"/>
                  <a:gd name="connsiteX4" fmla="*/ 1630497 w 2159306"/>
                  <a:gd name="connsiteY4" fmla="*/ 2930487 h 4836405"/>
                  <a:gd name="connsiteX5" fmla="*/ 2038121 w 2159306"/>
                  <a:gd name="connsiteY5" fmla="*/ 3723701 h 4836405"/>
                  <a:gd name="connsiteX6" fmla="*/ 2159306 w 2159306"/>
                  <a:gd name="connsiteY6" fmla="*/ 4836405 h 4836405"/>
                  <a:gd name="connsiteX0" fmla="*/ 0 w 2159306"/>
                  <a:gd name="connsiteY0" fmla="*/ 0 h 4836405"/>
                  <a:gd name="connsiteX1" fmla="*/ 121186 w 2159306"/>
                  <a:gd name="connsiteY1" fmla="*/ 1057619 h 4836405"/>
                  <a:gd name="connsiteX2" fmla="*/ 396607 w 2159306"/>
                  <a:gd name="connsiteY2" fmla="*/ 1795749 h 4836405"/>
                  <a:gd name="connsiteX3" fmla="*/ 1090670 w 2159306"/>
                  <a:gd name="connsiteY3" fmla="*/ 2445745 h 4836405"/>
                  <a:gd name="connsiteX4" fmla="*/ 1630497 w 2159306"/>
                  <a:gd name="connsiteY4" fmla="*/ 2930487 h 4836405"/>
                  <a:gd name="connsiteX5" fmla="*/ 2038121 w 2159306"/>
                  <a:gd name="connsiteY5" fmla="*/ 3723701 h 4836405"/>
                  <a:gd name="connsiteX6" fmla="*/ 2159306 w 2159306"/>
                  <a:gd name="connsiteY6" fmla="*/ 4836405 h 4836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59306" h="4836405" fill="norm" stroke="1" extrusionOk="0">
                    <a:moveTo>
                      <a:pt x="0" y="0"/>
                    </a:moveTo>
                    <a:cubicBezTo>
                      <a:pt x="33051" y="379164"/>
                      <a:pt x="55085" y="758328"/>
                      <a:pt x="121186" y="1057619"/>
                    </a:cubicBezTo>
                    <a:cubicBezTo>
                      <a:pt x="187287" y="1356911"/>
                      <a:pt x="235026" y="1564395"/>
                      <a:pt x="396607" y="1795749"/>
                    </a:cubicBezTo>
                    <a:cubicBezTo>
                      <a:pt x="558188" y="2027103"/>
                      <a:pt x="885022" y="2256622"/>
                      <a:pt x="1090670" y="2445745"/>
                    </a:cubicBezTo>
                    <a:cubicBezTo>
                      <a:pt x="1296318" y="2634868"/>
                      <a:pt x="1472588" y="2717494"/>
                      <a:pt x="1630497" y="2930487"/>
                    </a:cubicBezTo>
                    <a:cubicBezTo>
                      <a:pt x="1788406" y="3143480"/>
                      <a:pt x="1949986" y="3406048"/>
                      <a:pt x="2038121" y="3723701"/>
                    </a:cubicBezTo>
                    <a:cubicBezTo>
                      <a:pt x="2126256" y="4041354"/>
                      <a:pt x="2142781" y="4438879"/>
                      <a:pt x="2159306" y="4836405"/>
                    </a:cubicBezTo>
                  </a:path>
                </a:pathLst>
              </a:cu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GB"/>
              </a:p>
            </p:txBody>
          </p:sp>
          <p:sp>
            <p:nvSpPr>
              <p:cNvPr id="33" name="TextBox 32"/>
              <p:cNvSpPr txBox="1"/>
              <p:nvPr/>
            </p:nvSpPr>
            <p:spPr bwMode="auto">
              <a:xfrm rot="2477860">
                <a:off x="4397322" y="3505937"/>
                <a:ext cx="1981258" cy="508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>
                          <m:jc m:val="centerGroup"/>
                        </m:oMathParaPr>
                        <m:oMath>
                          <m:r>
                            <m:rPr/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𝒚</m:t>
                          </m:r>
                          <m:r>
                            <m:rPr/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=</m:t>
                          </m:r>
                          <m:func>
                            <m:funcPr>
                              <m:ctrlPr>
                                <a:rPr lang="en-GB" sz="1400" b="1" i="1">
                                  <a:solidFill>
                                    <a:schemeClr val="tx2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/>
                                <a:rPr lang="en-GB" sz="1400" b="1" i="0">
                                  <a:solidFill>
                                    <a:schemeClr val="tx2"/>
                                  </a:solidFill>
                                  <a:latin typeface="Cambria Math"/>
                                </a:rPr>
                                <m:t>𝐜𝐨𝐭</m:t>
                              </m:r>
                            </m:fName>
                            <m:e>
                              <m:r>
                                <m:rPr/>
                                <a:rPr lang="en-GB" sz="1400" b="1" i="1">
                                  <a:solidFill>
                                    <a:schemeClr val="tx2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oMath>
                      </m:oMathPara>
                    </a14:m>
                  </mc:Choice>
                  <mc:Fallback/>
                </mc:AlternateContent>
                <a:endParaRPr lang="en-GB" b="1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22" name="TextBox 21"/>
            <p:cNvSpPr txBox="1"/>
            <p:nvPr/>
          </p:nvSpPr>
          <p:spPr bwMode="auto">
            <a:xfrm rot="19586162">
              <a:off x="2954447" y="3467673"/>
              <a:ext cx="1796132" cy="4579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sz="1200" b="0" i="1">
                            <a:latin typeface="Cambria Math"/>
                          </a:rPr>
                          <m:t>𝑦</m:t>
                        </m:r>
                        <m:r>
                          <m:rPr/>
                          <a:rPr lang="en-GB" sz="1200" b="0" i="1">
                            <a:latin typeface="Cambria Math"/>
                          </a:rPr>
                          <m:t>=</m:t>
                        </m:r>
                        <m:func>
                          <m:funcPr>
                            <m:ctrlPr>
                              <a:rPr lang="en-GB" sz="1200" b="0" i="1"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200" b="0" i="0">
                                <a:latin typeface="Cambria Math"/>
                              </a:rPr>
                              <m:t>tan</m:t>
                            </m:r>
                          </m:fName>
                          <m:e>
                            <m:r>
                              <m:rPr/>
                              <a:rPr lang="en-GB" sz="1200" b="0" i="1">
                                <a:latin typeface="Cambria Math"/>
                              </a:rPr>
                              <m:t>𝑥</m:t>
                            </m:r>
                          </m:e>
                        </m:func>
                      </m:oMath>
                    </m:oMathPara>
                  </a14:m>
                </mc:Choice>
                <mc:Fallback/>
              </mc:AlternateContent>
              <a:endParaRPr lang="en-GB" sz="1200"/>
            </a:p>
          </p:txBody>
        </p:sp>
        <p:sp>
          <p:nvSpPr>
            <p:cNvPr id="18" name="TextBox 17"/>
            <p:cNvSpPr txBox="1"/>
            <p:nvPr/>
          </p:nvSpPr>
          <p:spPr bwMode="auto">
            <a:xfrm>
              <a:off x="3721219" y="3889700"/>
              <a:ext cx="344656" cy="559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sz="1600" b="0" i="1">
                            <a:latin typeface="Cambria Math"/>
                          </a:rPr>
                          <m:t>𝜋</m:t>
                        </m:r>
                      </m:oMath>
                    </m:oMathPara>
                  </a14:m>
                </mc:Choice>
                <mc:Fallback/>
              </mc:AlternateContent>
              <a:endParaRPr lang="en-GB" sz="2000"/>
            </a:p>
          </p:txBody>
        </p:sp>
        <p:sp>
          <p:nvSpPr>
            <p:cNvPr id="19" name="TextBox 18"/>
            <p:cNvSpPr txBox="1"/>
            <p:nvPr/>
          </p:nvSpPr>
          <p:spPr bwMode="auto">
            <a:xfrm>
              <a:off x="5869435" y="3962112"/>
              <a:ext cx="344656" cy="508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r>
                          <m:rPr/>
                          <a:rPr lang="en-GB" sz="1400" b="0" i="1">
                            <a:latin typeface="Cambria Math"/>
                          </a:rPr>
                          <m:t>2</m:t>
                        </m:r>
                        <m:r>
                          <m:rPr/>
                          <a:rPr lang="en-GB" sz="1400" b="0" i="1">
                            <a:latin typeface="Cambria Math"/>
                          </a:rPr>
                          <m:t>𝜋</m:t>
                        </m:r>
                      </m:oMath>
                    </m:oMathPara>
                  </a14:m>
                </mc:Choice>
                <mc:Fallback/>
              </mc:AlternateContent>
              <a:endParaRPr lang="en-GB" sz="2000"/>
            </a:p>
          </p:txBody>
        </p:sp>
      </p:grpSp>
      <p:sp>
        <p:nvSpPr>
          <p:cNvPr id="85165853" name="TextBox 34"/>
          <p:cNvSpPr txBox="1"/>
          <p:nvPr/>
        </p:nvSpPr>
        <p:spPr bwMode="auto">
          <a:xfrm>
            <a:off x="6473047" y="1566512"/>
            <a:ext cx="2139325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200"/>
              <a:t>You can’t reciprocate 0. However, the value tends towards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±∞</m:t>
                      </m:r>
                    </m:oMath>
                  </m:oMathPara>
                </a14:m>
              </mc:Choice>
              <mc:Fallback/>
            </mc:AlternateContent>
            <a:r>
              <a:rPr lang="en-GB" sz="1200"/>
              <a:t>, which coincides with the asymptotes of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200" b="0" i="1">
                          <a:latin typeface="Cambria Math"/>
                        </a:rPr>
                        <m:t>𝑡𝑎𝑛</m:t>
                      </m:r>
                    </m:oMath>
                  </m:oMathPara>
                </a14:m>
              </mc:Choice>
              <mc:Fallback/>
            </mc:AlternateContent>
            <a:r>
              <a:rPr lang="en-GB" sz="1200"/>
              <a:t>.</a:t>
            </a:r>
            <a:endParaRPr/>
          </a:p>
        </p:txBody>
      </p:sp>
      <p:sp>
        <p:nvSpPr>
          <p:cNvPr id="556802687" name="Rectangle 35"/>
          <p:cNvSpPr/>
          <p:nvPr/>
        </p:nvSpPr>
        <p:spPr bwMode="auto">
          <a:xfrm>
            <a:off x="4692043" y="1235050"/>
            <a:ext cx="4016022" cy="500226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1157366673" name="TextBox 36"/>
          <p:cNvSpPr txBox="1"/>
          <p:nvPr/>
        </p:nvSpPr>
        <p:spPr bwMode="auto">
          <a:xfrm>
            <a:off x="2319261" y="2505721"/>
            <a:ext cx="1636051" cy="27699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200"/>
              <a:t>Reciprocate both sides.</a:t>
            </a:r>
            <a:endParaRPr/>
          </a:p>
        </p:txBody>
      </p:sp>
      <p:sp>
        <p:nvSpPr>
          <p:cNvPr id="437723092" name="Rectangle 11"/>
          <p:cNvSpPr/>
          <p:nvPr/>
        </p:nvSpPr>
        <p:spPr bwMode="auto">
          <a:xfrm>
            <a:off x="469964" y="2426003"/>
            <a:ext cx="3605840" cy="78356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377230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377230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772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772309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791293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79129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912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912936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568026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568026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680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6802687"/>
                  </p:tgtEl>
                </p:cond>
              </p:nextCondLst>
            </p:seq>
          </p:childTnLst>
        </p:cTn>
      </p:par>
    </p:tnLst>
    <p:bldLst>
      <p:bldP spid="1079129364" grpId="0" animBg="1"/>
      <p:bldP spid="556802687" grpId="0" animBg="1"/>
      <p:bldP spid="43772309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4940126" name="Group 1"/>
          <p:cNvGrpSpPr/>
          <p:nvPr/>
        </p:nvGrpSpPr>
        <p:grpSpPr bwMode="auto"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/>
                <a:t>Test Your Understanding</a:t>
              </a:r>
              <a:endParaRPr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01847145" name="TextBox 4"/>
          <p:cNvSpPr txBox="1"/>
          <p:nvPr/>
        </p:nvSpPr>
        <p:spPr bwMode="auto">
          <a:xfrm>
            <a:off x="512494" y="950853"/>
            <a:ext cx="4935188" cy="70788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000"/>
              <a:t>Solve in the interval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0≤</m:t>
                      </m:r>
                      <m:r>
                        <m:rPr/>
                        <a:rPr lang="en-GB" sz="2000" b="0" i="1">
                          <a:latin typeface="Cambria Math"/>
                        </a:rPr>
                        <m:t>𝜃</m:t>
                      </m:r>
                      <m:r>
                        <m:rPr/>
                        <a:rPr lang="en-GB" sz="2000" b="0" i="1">
                          <a:latin typeface="Cambria Math"/>
                        </a:rPr>
                        <m:t>&lt;360°</m:t>
                      </m:r>
                    </m:oMath>
                  </m:oMathPara>
                </a14:m>
              </mc:Choice>
              <mc:Fallback/>
            </mc:AlternateContent>
            <a:r>
              <a:rPr lang="en-GB" sz="2000"/>
              <a:t>:</a:t>
            </a:r>
            <a:endParaRPr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𝑐𝑜𝑠𝑒𝑐</m:t>
                      </m:r>
                      <m:r>
                        <m:rPr/>
                        <a:rPr lang="en-GB" sz="2000" b="0" i="1">
                          <a:latin typeface="Cambria Math"/>
                        </a:rPr>
                        <m:t> 3</m:t>
                      </m:r>
                      <m:r>
                        <m:rPr/>
                        <a:rPr lang="en-GB" sz="2000" b="0" i="1">
                          <a:latin typeface="Cambria Math"/>
                        </a:rPr>
                        <m:t>𝜃</m:t>
                      </m:r>
                      <m:r>
                        <m:rPr/>
                        <a:rPr lang="en-GB" sz="2000" b="0" i="1">
                          <a:latin typeface="Cambria Math"/>
                        </a:rPr>
                        <m:t>=2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353703934" name="TextBox 5"/>
          <p:cNvSpPr txBox="1"/>
          <p:nvPr/>
        </p:nvSpPr>
        <p:spPr bwMode="auto">
          <a:xfrm>
            <a:off x="434180" y="1823559"/>
            <a:ext cx="4896544" cy="1441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0" i="1">
                          <a:latin typeface="Cambria Math"/>
                        </a:rPr>
                        <m:t>0≤3</m:t>
                      </m:r>
                      <m:r>
                        <m:rPr/>
                        <a:rPr lang="en-GB" b="0" i="1">
                          <a:latin typeface="Cambria Math"/>
                        </a:rPr>
                        <m:t>𝜃</m:t>
                      </m:r>
                      <m:r>
                        <m:rPr/>
                        <a:rPr lang="en-GB" b="0" i="1">
                          <a:latin typeface="Cambria Math"/>
                        </a:rPr>
                        <m:t>&lt;1080°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3</m:t>
                          </m:r>
                          <m:r>
                            <m:rPr/>
                            <a:rPr lang="en-GB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/>
                            <a:rPr lang="en-GB" b="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0" i="1">
                          <a:latin typeface="Cambria Math"/>
                        </a:rPr>
                        <m:t>3</m:t>
                      </m:r>
                      <m:r>
                        <m:rPr/>
                        <a:rPr lang="en-GB" b="0" i="1">
                          <a:latin typeface="Cambria Math"/>
                        </a:rPr>
                        <m:t>𝜃</m:t>
                      </m:r>
                      <m:r>
                        <m:rPr/>
                        <a:rPr lang="en-GB" b="0" i="1">
                          <a:latin typeface="Cambria Math"/>
                        </a:rPr>
                        <m:t>=30°, 150°, 390°, 510°,750°, 870°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0" i="1">
                          <a:latin typeface="Cambria Math"/>
                        </a:rPr>
                        <m:t>𝜃</m:t>
                      </m:r>
                      <m:r>
                        <m:rPr/>
                        <a:rPr lang="en-GB" b="0" i="1">
                          <a:latin typeface="Cambria Math"/>
                        </a:rPr>
                        <m:t>=10°, 50°,130°, 170°,250°,290°</m:t>
                      </m:r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sp>
        <p:nvSpPr>
          <p:cNvPr id="854622049" name="Rectangle 6"/>
          <p:cNvSpPr/>
          <p:nvPr/>
        </p:nvSpPr>
        <p:spPr bwMode="auto">
          <a:xfrm>
            <a:off x="512494" y="1676155"/>
            <a:ext cx="4935188" cy="196886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546220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546220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462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4622049"/>
                  </p:tgtEl>
                </p:cond>
              </p:nextCondLst>
            </p:seq>
          </p:childTnLst>
        </p:cTn>
      </p:par>
    </p:tnLst>
    <p:bldLst>
      <p:bldP spid="85462204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62294166" name="Group 1"/>
          <p:cNvGrpSpPr/>
          <p:nvPr/>
        </p:nvGrpSpPr>
        <p:grpSpPr bwMode="auto"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>
                  <a:latin typeface="+mj-lt"/>
                </a:rPr>
                <a:t>Exercises 6C</a:t>
              </a:r>
              <a:endParaRPr lang="en-GB" sz="3200"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325637080" name="TextBox 4"/>
          <p:cNvSpPr txBox="1"/>
          <p:nvPr/>
        </p:nvSpPr>
        <p:spPr bwMode="auto">
          <a:xfrm>
            <a:off x="236048" y="662045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400"/>
              <a:t>Pearson Pure Mathematics Year 2/AS</a:t>
            </a:r>
            <a:endParaRPr/>
          </a:p>
          <a:p>
            <a:pPr>
              <a:defRPr/>
            </a:pPr>
            <a:r>
              <a:rPr lang="en-GB" sz="2400"/>
              <a:t>Page 152</a:t>
            </a:r>
            <a:endParaRPr/>
          </a:p>
        </p:txBody>
      </p:sp>
      <p:cxnSp>
        <p:nvCxnSpPr>
          <p:cNvPr id="157156882" name="Straight Connector 5"/>
          <p:cNvCxnSpPr/>
          <p:nvPr/>
        </p:nvCxnSpPr>
        <p:spPr bwMode="auto">
          <a:xfrm>
            <a:off x="0" y="1594754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83625453" name="Group 1"/>
          <p:cNvGrpSpPr/>
          <p:nvPr/>
        </p:nvGrpSpPr>
        <p:grpSpPr bwMode="auto"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/>
                <a:t>New Identities</a:t>
              </a:r>
              <a:endParaRPr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24467276" name="TextBox 4"/>
          <p:cNvSpPr txBox="1"/>
          <p:nvPr/>
        </p:nvSpPr>
        <p:spPr bwMode="auto">
          <a:xfrm>
            <a:off x="251520" y="2060848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There are just two new identities you need to know:</a:t>
            </a:r>
            <a:endParaRPr/>
          </a:p>
        </p:txBody>
      </p:sp>
      <p:grpSp>
        <p:nvGrpSpPr>
          <p:cNvPr id="1427393403" name="Group 8"/>
          <p:cNvGrpSpPr/>
          <p:nvPr/>
        </p:nvGrpSpPr>
        <p:grpSpPr bwMode="auto">
          <a:xfrm>
            <a:off x="-2556792" y="4797152"/>
            <a:ext cx="2412268" cy="1777894"/>
            <a:chOff x="3995936" y="2011146"/>
            <a:chExt cx="5676900" cy="3787992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flipH="1">
              <a:off x="3995936" y="3408363"/>
              <a:ext cx="5676900" cy="239077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>
              <a:off x="5220072" y="2011146"/>
              <a:ext cx="1440160" cy="1638505"/>
            </a:xfrm>
            <a:prstGeom prst="rect">
              <a:avLst/>
            </a:prstGeom>
          </p:spPr>
        </p:pic>
      </p:grpSp>
      <p:sp>
        <p:nvSpPr>
          <p:cNvPr id="672095187" name="TextBox 9"/>
          <p:cNvSpPr txBox="1"/>
          <p:nvPr/>
        </p:nvSpPr>
        <p:spPr bwMode="auto">
          <a:xfrm>
            <a:off x="271240" y="775989"/>
            <a:ext cx="81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From C2 you knew:</a:t>
            </a:r>
            <a:endParaRPr/>
          </a:p>
        </p:txBody>
      </p:sp>
      <p:sp>
        <p:nvSpPr>
          <p:cNvPr id="107661926" name="TextBox 10"/>
          <p:cNvSpPr txBox="1"/>
          <p:nvPr/>
        </p:nvSpPr>
        <p:spPr bwMode="auto">
          <a:xfrm>
            <a:off x="2159623" y="1341473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unc>
                        <m:funcPr>
                          <m:ctrlPr>
                            <a:rPr lang="en-GB" sz="28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8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>
                                  <a:latin typeface="Cambria Math"/>
                                </a:rPr>
                                <m:t>sin</m:t>
                              </m:r>
                            </m:e>
                            <m:sup>
                              <m:r>
                                <m:rPr/>
                                <a:rPr lang="en-GB" sz="28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2800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sz="2800" b="0" i="1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sz="28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8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>
                                  <a:latin typeface="Cambria Math"/>
                                </a:rPr>
                                <m:t>cos</m:t>
                              </m:r>
                            </m:e>
                            <m:sup>
                              <m:r>
                                <m:rPr/>
                                <a:rPr lang="en-GB" sz="28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2800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sz="2800" b="0" i="1">
                          <a:latin typeface="Cambria Math"/>
                        </a:rPr>
                        <m:t>=1</m:t>
                      </m:r>
                    </m:oMath>
                  </m:oMathPara>
                </a14:m>
              </mc:Choice>
              <mc:Fallback/>
            </mc:AlternateContent>
            <a:endParaRPr lang="en-GB" sz="2800"/>
          </a:p>
        </p:txBody>
      </p:sp>
      <p:sp>
        <p:nvSpPr>
          <p:cNvPr id="1182255103" name="TextBox 11"/>
          <p:cNvSpPr txBox="1"/>
          <p:nvPr/>
        </p:nvSpPr>
        <p:spPr bwMode="auto">
          <a:xfrm>
            <a:off x="243675" y="2780221"/>
            <a:ext cx="2160240" cy="369332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Dividing by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/>
                                </a:rPr>
                                <m:t>cos</m:t>
                              </m:r>
                            </m:e>
                            <m:sup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/>
              <a:t>:</a:t>
            </a:r>
            <a:endParaRPr/>
          </a:p>
        </p:txBody>
      </p:sp>
      <p:sp>
        <p:nvSpPr>
          <p:cNvPr id="1790652183" name="TextBox 12"/>
          <p:cNvSpPr txBox="1"/>
          <p:nvPr/>
        </p:nvSpPr>
        <p:spPr bwMode="auto">
          <a:xfrm>
            <a:off x="2159623" y="2703277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800" b="0" i="1">
                          <a:latin typeface="Cambria Math"/>
                        </a:rPr>
                        <m:t>1+</m:t>
                      </m:r>
                      <m:func>
                        <m:funcPr>
                          <m:ctrlPr>
                            <a:rPr lang="en-GB" sz="28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8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>
                                  <a:latin typeface="Cambria Math"/>
                                </a:rPr>
                                <m:t>tan</m:t>
                              </m:r>
                            </m:e>
                            <m:sup>
                              <m:r>
                                <m:rPr/>
                                <a:rPr lang="en-GB" sz="28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2800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sz="2800" b="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28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8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>
                                  <a:latin typeface="Cambria Math"/>
                                </a:rPr>
                                <m:t>sec</m:t>
                              </m:r>
                            </m:e>
                            <m:sup>
                              <m:r>
                                <m:rPr/>
                                <a:rPr lang="en-GB" sz="28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2800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 sz="2800"/>
          </a:p>
        </p:txBody>
      </p:sp>
      <p:sp>
        <p:nvSpPr>
          <p:cNvPr id="741676706" name="TextBox 13"/>
          <p:cNvSpPr txBox="1"/>
          <p:nvPr/>
        </p:nvSpPr>
        <p:spPr bwMode="auto">
          <a:xfrm>
            <a:off x="235007" y="3476969"/>
            <a:ext cx="2160240" cy="369332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Dividing by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/>
                                </a:rPr>
                                <m:t>sin</m:t>
                              </m:r>
                            </m:e>
                            <m:sup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/>
              <a:t>:</a:t>
            </a:r>
            <a:endParaRPr/>
          </a:p>
        </p:txBody>
      </p:sp>
      <p:sp>
        <p:nvSpPr>
          <p:cNvPr id="109779358" name="TextBox 14"/>
          <p:cNvSpPr txBox="1"/>
          <p:nvPr/>
        </p:nvSpPr>
        <p:spPr bwMode="auto">
          <a:xfrm>
            <a:off x="2267744" y="3354230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800" b="0" i="1">
                          <a:latin typeface="Cambria Math"/>
                        </a:rPr>
                        <m:t>1+</m:t>
                      </m:r>
                      <m:func>
                        <m:funcPr>
                          <m:ctrlPr>
                            <a:rPr lang="en-GB" sz="28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8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>
                                  <a:latin typeface="Cambria Math"/>
                                </a:rPr>
                                <m:t>cot</m:t>
                              </m:r>
                            </m:e>
                            <m:sup>
                              <m:r>
                                <m:rPr/>
                                <a:rPr lang="en-GB" sz="28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2800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sz="2800" b="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28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8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0">
                                  <a:latin typeface="Cambria Math"/>
                                </a:rPr>
                                <m:t>cosec</m:t>
                              </m:r>
                            </m:e>
                            <m:sup>
                              <m:r>
                                <m:rPr/>
                                <a:rPr lang="en-GB" sz="28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2800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 sz="2800"/>
          </a:p>
        </p:txBody>
      </p:sp>
      <p:sp>
        <p:nvSpPr>
          <p:cNvPr id="281659449" name="Rectangle 16"/>
          <p:cNvSpPr/>
          <p:nvPr/>
        </p:nvSpPr>
        <p:spPr bwMode="auto">
          <a:xfrm>
            <a:off x="2915816" y="2788744"/>
            <a:ext cx="3528392" cy="3954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585338370" name="Rectangle 17"/>
          <p:cNvSpPr/>
          <p:nvPr/>
        </p:nvSpPr>
        <p:spPr bwMode="auto">
          <a:xfrm>
            <a:off x="2915816" y="3412826"/>
            <a:ext cx="3528392" cy="3954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grpSp>
        <p:nvGrpSpPr>
          <p:cNvPr id="1121009095" name="Group 21"/>
          <p:cNvGrpSpPr/>
          <p:nvPr/>
        </p:nvGrpSpPr>
        <p:grpSpPr bwMode="auto">
          <a:xfrm>
            <a:off x="6660232" y="2318555"/>
            <a:ext cx="2376264" cy="1815882"/>
            <a:chOff x="6660232" y="2318555"/>
            <a:chExt cx="2376264" cy="1815882"/>
          </a:xfrm>
        </p:grpSpPr>
        <p:sp>
          <p:nvSpPr>
            <p:cNvPr id="16" name="TextBox 15"/>
            <p:cNvSpPr txBox="1"/>
            <p:nvPr/>
          </p:nvSpPr>
          <p:spPr bwMode="auto">
            <a:xfrm>
              <a:off x="7092280" y="2318555"/>
              <a:ext cx="1944216" cy="181588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GB" sz="1400" b="1"/>
                <a:t>Fro Tip: </a:t>
              </a:r>
              <a:r>
                <a:rPr lang="en-GB" sz="1400"/>
                <a:t>I used to misremember this as “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r>
                          <m:rPr/>
                          <a:rPr lang="en-GB" sz="1400" b="0" i="1">
                            <a:latin typeface="Cambria Math"/>
                          </a:rPr>
                          <m:t>1+</m:t>
                        </m:r>
                        <m:func>
                          <m:funcPr>
                            <m:ctrlPr>
                              <a:rPr lang="en-GB" sz="1400" b="0" i="1"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sz="1400" b="0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sz="1400" b="0" i="0">
                                    <a:latin typeface="Cambria Math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m:rPr/>
                                  <a:rPr lang="en-GB" sz="1400" b="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m:rPr/>
                              <a:rPr lang="en-GB" sz="1400" b="0" i="1">
                                <a:latin typeface="Cambria Math"/>
                              </a:rPr>
                              <m:t>𝑥</m:t>
                            </m:r>
                          </m:e>
                        </m:func>
                        <m:r>
                          <m:rPr/>
                          <a:rPr lang="en-GB" sz="1400" b="0" i="1">
                            <a:latin typeface="Cambria Math"/>
                          </a:rPr>
                          <m:t>=</m:t>
                        </m:r>
                        <m:func>
                          <m:funcPr>
                            <m:ctrlPr>
                              <a:rPr lang="en-GB" sz="1400" b="0" i="1"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sz="1400" b="0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sz="1400" b="0" i="0">
                                    <a:latin typeface="Cambria Math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/>
                                  <a:rPr lang="en-GB" sz="1400" b="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m:rPr/>
                              <a:rPr lang="en-GB" sz="1400" b="0" i="1">
                                <a:latin typeface="Cambria Math"/>
                              </a:rPr>
                              <m:t>𝑥</m:t>
                            </m:r>
                          </m:e>
                        </m:func>
                      </m:oMath>
                    </m:oMathPara>
                  </a14:m>
                </mc:Choice>
                <mc:Fallback/>
              </mc:AlternateContent>
              <a:r>
                <a:rPr lang="en-GB" sz="1400"/>
                <a:t>”.</a:t>
              </a:r>
              <a:endParaRPr/>
            </a:p>
            <a:p>
              <a:pPr>
                <a:defRPr/>
              </a:pPr>
              <a:r>
                <a:rPr lang="en-GB" sz="1400"/>
                <a:t>Then I imagined the Queen coming back from holiday, saying “One is tanned”, i.e. the 1 goes with the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func>
                          <m:funcPr>
                            <m:ctrlPr>
                              <a:rPr lang="en-GB" sz="1400" b="0" i="1"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sz="1400" b="0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sz="1400" b="0" i="0">
                                    <a:latin typeface="Cambria Math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/>
                                  <a:rPr lang="en-GB" sz="1400" b="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m:rPr/>
                              <a:rPr lang="en-GB" sz="1400" b="0" i="1">
                                <a:latin typeface="Cambria Math"/>
                              </a:rPr>
                              <m:t>𝑥</m:t>
                            </m:r>
                          </m:e>
                        </m:func>
                        <m:r>
                          <m:rPr/>
                          <a:rPr lang="en-GB" sz="1400" b="0" i="1">
                            <a:latin typeface="Cambria Math"/>
                          </a:rPr>
                          <m:t>.</m:t>
                        </m:r>
                      </m:oMath>
                    </m:oMathPara>
                  </a14:m>
                </mc:Choice>
                <mc:Fallback/>
              </mc:AlternateContent>
              <a:endParaRPr lang="en-GB" sz="1400"/>
            </a:p>
          </p:txBody>
        </p:sp>
        <p:cxnSp>
          <p:nvCxnSpPr>
            <p:cNvPr id="21" name="Straight Arrow Connector 20"/>
            <p:cNvCxnSpPr>
              <a:stCxn id="16" idx="1"/>
            </p:cNvCxnSpPr>
            <p:nvPr/>
          </p:nvCxnSpPr>
          <p:spPr bwMode="auto">
            <a:xfrm flipH="1" flipV="1">
              <a:off x="6660232" y="2986450"/>
              <a:ext cx="432048" cy="2400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2651758" name="Group 25"/>
          <p:cNvGrpSpPr/>
          <p:nvPr/>
        </p:nvGrpSpPr>
        <p:grpSpPr bwMode="auto">
          <a:xfrm>
            <a:off x="6423361" y="3950673"/>
            <a:ext cx="2395052" cy="1822645"/>
            <a:chOff x="6423361" y="3950673"/>
            <a:chExt cx="2395052" cy="1822645"/>
          </a:xfrm>
        </p:grpSpPr>
        <p:cxnSp>
          <p:nvCxnSpPr>
            <p:cNvPr id="23" name="Straight Arrow Connector 22"/>
            <p:cNvCxnSpPr>
              <a:stCxn id="19" idx="0"/>
            </p:cNvCxnSpPr>
            <p:nvPr/>
          </p:nvCxnSpPr>
          <p:spPr bwMode="auto">
            <a:xfrm flipH="1" flipV="1">
              <a:off x="6423361" y="3950673"/>
              <a:ext cx="1422944" cy="6530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 bwMode="auto">
            <a:xfrm>
              <a:off x="6874197" y="4603767"/>
              <a:ext cx="1944216" cy="116955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GB" sz="1400" b="1"/>
                <a:t>Fro</a:t>
              </a:r>
              <a:r>
                <a:rPr lang="en-GB" sz="1400" b="1"/>
                <a:t> Tip: </a:t>
              </a:r>
              <a:r>
                <a:rPr lang="en-GB" sz="1400"/>
                <a:t>I remember this one by starting with the above, and slapping ‘co’ on front of each trig function.</a:t>
              </a:r>
              <a:endParaRPr/>
            </a:p>
          </p:txBody>
        </p:sp>
      </p:grpSp>
      <p:sp>
        <p:nvSpPr>
          <p:cNvPr id="2096954159" name="TextBox 23"/>
          <p:cNvSpPr txBox="1"/>
          <p:nvPr/>
        </p:nvSpPr>
        <p:spPr bwMode="auto">
          <a:xfrm>
            <a:off x="220801" y="4351792"/>
            <a:ext cx="3816424" cy="369332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“Prove that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1+</m:t>
                      </m:r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/>
                                </a:rPr>
                                <m:t>tan</m:t>
                              </m:r>
                            </m:e>
                            <m:sup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≡</m:t>
                      </m:r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/>
                                </a:rPr>
                                <m:t>sec</m:t>
                              </m:r>
                            </m:e>
                            <m:sup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/>
              <a:t>.”</a:t>
            </a:r>
            <a:endParaRPr/>
          </a:p>
        </p:txBody>
      </p:sp>
      <p:sp>
        <p:nvSpPr>
          <p:cNvPr id="395355629" name="TextBox 5"/>
          <p:cNvSpPr txBox="1"/>
          <p:nvPr/>
        </p:nvSpPr>
        <p:spPr bwMode="auto">
          <a:xfrm>
            <a:off x="453593" y="4883111"/>
            <a:ext cx="2870178" cy="1529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/>
                                <a:rPr lang="en-GB" b="1" i="0">
                                  <a:latin typeface="Cambria Math"/>
                                </a:rPr>
                                <m:t>𝐬𝐢𝐧</m:t>
                              </m:r>
                            </m:e>
                            <m:sup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𝒙</m:t>
                          </m:r>
                        </m:e>
                      </m:func>
                      <m:r>
                        <m:rPr/>
                        <a:rPr lang="en-GB" b="1" i="1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/>
                                <a:rPr lang="en-GB" b="1" i="0">
                                  <a:latin typeface="Cambria Math"/>
                                </a:rPr>
                                <m:t>𝐜𝐨𝐬</m:t>
                              </m:r>
                            </m:e>
                            <m:sup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𝒙</m:t>
                          </m:r>
                        </m:e>
                      </m:func>
                      <m:r>
                        <m:rPr/>
                        <a:rPr lang="en-GB" b="1" i="1">
                          <a:latin typeface="Cambria Math"/>
                        </a:rPr>
                        <m:t>≡</m:t>
                      </m:r>
                      <m:r>
                        <m:rPr/>
                        <a:rPr lang="en-GB" b="1" i="1">
                          <a:latin typeface="Cambria Math"/>
                        </a:rPr>
                        <m:t>𝟏</m:t>
                      </m:r>
                    </m:oMath>
                  </m:oMathPara>
                </a14:m>
              </mc:Choice>
              <mc:Fallback/>
            </mc:AlternateContent>
            <a:endParaRPr lang="en-GB" b="1"/>
          </a:p>
          <a:p>
            <a:pPr>
              <a:defRPr/>
            </a:pPr>
            <a:r>
              <a:rPr lang="en-GB" sz="1000" b="1"/>
              <a:t> </a:t>
            </a:r>
            <a:br>
              <a:rPr lang="en-GB" b="1"/>
            </a:b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/>
                                    <a:rPr lang="en-GB" b="1" i="0">
                                      <a:latin typeface="Cambria Math"/>
                                    </a:rPr>
                                    <m:t>𝐬𝐢𝐧</m:t>
                                  </m:r>
                                </m:e>
                                <m:sup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/>
                                    <a:rPr lang="en-GB" b="1" i="0">
                                      <a:latin typeface="Cambria Math"/>
                                    </a:rPr>
                                    <m:t>𝐜𝐨𝐬</m:t>
                                  </m:r>
                                </m:e>
                                <m:sup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  <m:r>
                        <m:rPr/>
                        <a:rPr lang="en-GB" b="1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/>
                                    <a:rPr lang="en-GB" b="1" i="0">
                                      <a:latin typeface="Cambria Math"/>
                                    </a:rPr>
                                    <m:t>𝐜𝐨𝐬</m:t>
                                  </m:r>
                                </m:e>
                                <m:sup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/>
                                    <a:rPr lang="en-GB" b="1" i="0">
                                      <a:latin typeface="Cambria Math"/>
                                    </a:rPr>
                                    <m:t>𝐜𝐨𝐬</m:t>
                                  </m:r>
                                </m:e>
                                <m:sup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  <m:r>
                        <m:rPr/>
                        <a:rPr lang="en-GB" b="1" i="1">
                          <a:latin typeface="Cambria Math"/>
                        </a:rPr>
                        <m:t>≡</m:t>
                      </m:r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1" i="1">
                              <a:latin typeface="Cambria Math"/>
                            </a:rPr>
                            <m:t>𝟏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/>
                                    <a:rPr lang="en-GB" b="1" i="0">
                                      <a:latin typeface="Cambria Math"/>
                                    </a:rPr>
                                    <m:t>𝐜𝐨𝐬</m:t>
                                  </m:r>
                                </m:e>
                                <m:sup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</mc:Choice>
              <mc:Fallback/>
            </mc:AlternateContent>
            <a:endParaRPr lang="en-GB" b="1"/>
          </a:p>
          <a:p>
            <a:pPr>
              <a:defRPr/>
            </a:pPr>
            <a:r>
              <a:rPr lang="en-GB" sz="1000" b="1"/>
              <a:t> </a:t>
            </a:r>
            <a:br>
              <a:rPr lang="en-GB" b="1"/>
            </a:b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/>
                                <a:rPr lang="en-GB" b="1" i="0">
                                  <a:latin typeface="Cambria Math"/>
                                </a:rPr>
                                <m:t>𝐭𝐚𝐧</m:t>
                              </m:r>
                            </m:e>
                            <m:sup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𝒙</m:t>
                          </m:r>
                        </m:e>
                      </m:func>
                      <m:r>
                        <m:rPr/>
                        <a:rPr lang="en-GB" b="1" i="1">
                          <a:latin typeface="Cambria Math"/>
                        </a:rPr>
                        <m:t>+</m:t>
                      </m:r>
                      <m:r>
                        <m:rPr/>
                        <a:rPr lang="en-GB" b="1" i="1">
                          <a:latin typeface="Cambria Math"/>
                        </a:rPr>
                        <m:t>𝟏</m:t>
                      </m:r>
                      <m:r>
                        <m:rPr/>
                        <a:rPr lang="en-GB" b="1" i="1">
                          <a:latin typeface="Cambria Math"/>
                        </a:rPr>
                        <m:t>≡</m:t>
                      </m:r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/>
                                <a:rPr lang="en-GB" b="1" i="0">
                                  <a:latin typeface="Cambria Math"/>
                                </a:rPr>
                                <m:t>𝐬𝐞𝐜</m:t>
                              </m:r>
                            </m:e>
                            <m:sup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 b="1"/>
          </a:p>
        </p:txBody>
      </p:sp>
      <p:sp>
        <p:nvSpPr>
          <p:cNvPr id="662535630" name="TextBox 28"/>
          <p:cNvSpPr txBox="1"/>
          <p:nvPr/>
        </p:nvSpPr>
        <p:spPr bwMode="auto">
          <a:xfrm>
            <a:off x="4382461" y="5279194"/>
            <a:ext cx="2250568" cy="95410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 b="1"/>
              <a:t>Fro Tip: </a:t>
            </a:r>
            <a:r>
              <a:rPr lang="en-GB" sz="1400"/>
              <a:t>This has been asked in an exam before! </a:t>
            </a:r>
            <a:r>
              <a:rPr lang="en-GB" sz="1400" u="sng"/>
              <a:t>You must explicitly show each term being divided by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400" b="0" i="1" u="sng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 u="sng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 u="sng">
                                  <a:latin typeface="Cambria Math"/>
                                </a:rPr>
                                <m:t>cos</m:t>
                              </m:r>
                            </m:e>
                            <m:sup>
                              <m:r>
                                <m:rPr/>
                                <a:rPr lang="en-GB" sz="1400" b="0" i="1" u="sng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1400" b="0" i="1" u="sng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 sz="1400" u="sng"/>
              <a:t>.</a:t>
            </a:r>
            <a:endParaRPr/>
          </a:p>
        </p:txBody>
      </p:sp>
      <p:cxnSp>
        <p:nvCxnSpPr>
          <p:cNvPr id="2044410523" name="Straight Arrow Connector 29"/>
          <p:cNvCxnSpPr/>
          <p:nvPr/>
        </p:nvCxnSpPr>
        <p:spPr bwMode="auto">
          <a:xfrm flipH="1" flipV="1">
            <a:off x="3454399" y="5617029"/>
            <a:ext cx="988305" cy="271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1659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81659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65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95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96954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5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535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253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441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4441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00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100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repeatCount="indefinite" fill="hold" nodeType="withEffect">
                                  <p:stCondLst>
                                    <p:cond delay="10500"/>
                                  </p:stCondLst>
                                  <p:childTnLst>
                                    <p:animMotion origin="layout" path="M 3.05556E-6 3.33333E-6 L 3.1835 0.01273 " pathEditMode="relative" rAng="0" ptsTypes="AA">
                                      <p:cBhvr>
                                        <p:cTn id="24" dur="10000" fill="hold"/>
                                        <p:tgtEl>
                                          <p:spTgt spid="14273934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167" y="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1659449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5853383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585338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533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5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265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5338370"/>
                  </p:tgtEl>
                </p:cond>
              </p:nextCondLst>
            </p:seq>
          </p:childTnLst>
        </p:cTn>
      </p:par>
    </p:tnLst>
    <p:bldLst>
      <p:bldP spid="281659449" grpId="0" animBg="1"/>
      <p:bldP spid="585338370" grpId="0" animBg="1"/>
      <p:bldP spid="2096954159" grpId="0" animBg="1"/>
      <p:bldP spid="395355629" grpId="0"/>
      <p:bldP spid="66253563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73346899" name="Group 1"/>
          <p:cNvGrpSpPr/>
          <p:nvPr/>
        </p:nvGrpSpPr>
        <p:grpSpPr bwMode="auto"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/>
                <a:t>Examples</a:t>
              </a:r>
              <a:endParaRPr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050341615" name="TextBox 4"/>
          <p:cNvSpPr txBox="1"/>
          <p:nvPr/>
        </p:nvSpPr>
        <p:spPr bwMode="auto">
          <a:xfrm>
            <a:off x="322964" y="785146"/>
            <a:ext cx="4969116" cy="52418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[Textbook] Prove that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/>
                                </a:rPr>
                                <m:t>c</m:t>
                              </m:r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𝑜𝑠𝑒𝑐</m:t>
                              </m:r>
                            </m:e>
                            <m:sup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4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−</m:t>
                      </m:r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/>
                                </a:rPr>
                                <m:t>cot</m:t>
                              </m:r>
                            </m:e>
                            <m:sup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4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0" i="1">
                              <a:latin typeface="Cambria Math"/>
                            </a:rPr>
                            <m:t>1+</m:t>
                          </m:r>
                          <m:func>
                            <m:func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>
                                      <a:latin typeface="Cambria Math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m:rPr/>
                                    <a:rPr lang="en-GB" b="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m:rPr/>
                            <a:rPr lang="en-GB" b="0" i="1">
                              <a:latin typeface="Cambria Math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>
                                      <a:latin typeface="Cambria Math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m:rPr/>
                                    <a:rPr lang="en-GB" b="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sp>
        <p:nvSpPr>
          <p:cNvPr id="515345943" name="Rectangle 6"/>
          <p:cNvSpPr/>
          <p:nvPr/>
        </p:nvSpPr>
        <p:spPr bwMode="auto">
          <a:xfrm>
            <a:off x="232927" y="1404205"/>
            <a:ext cx="5195416" cy="1813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1" i="1">
                          <a:latin typeface="Cambria Math"/>
                        </a:rPr>
                        <m:t>𝑳𝑯𝑺</m:t>
                      </m:r>
                      <m:r>
                        <m:rPr/>
                        <a:rPr lang="en-GB" b="1" i="1">
                          <a:latin typeface="Cambria Math"/>
                        </a:rPr>
                        <m:t>= </m:t>
                      </m:r>
                      <m:d>
                        <m:d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func>
                                <m:func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b="1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/>
                                        <a:rPr lang="en-GB" b="1" i="1">
                                          <a:latin typeface="Cambria Math"/>
                                        </a:rPr>
                                        <m:t>𝐜</m:t>
                                      </m:r>
                                      <m:r>
                                        <m:rPr/>
                                        <a:rPr lang="en-GB" b="1">
                                          <a:latin typeface="Cambria Math"/>
                                        </a:rPr>
                                        <m:t>𝐨𝐬𝐞</m:t>
                                      </m:r>
                                      <m:r>
                                        <m:rPr/>
                                        <a:rPr lang="en-GB" b="1" i="1">
                                          <a:latin typeface="Cambria Math"/>
                                        </a:rPr>
                                        <m:t>𝒄</m:t>
                                      </m:r>
                                    </m:e>
                                    <m:sup>
                                      <m:r>
                                        <m:rPr/>
                                        <a:rPr lang="en-GB" b="1" i="1">
                                          <a:latin typeface="Cambria Math"/>
                                        </a:rPr>
                                        <m:t>𝟐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𝜽</m:t>
                                  </m:r>
                                </m:e>
                              </m:func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b="1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/>
                                        <a:rPr lang="en-GB" b="1" i="1">
                                          <a:latin typeface="Cambria Math"/>
                                        </a:rPr>
                                        <m:t>𝒄𝒐𝒕</m:t>
                                      </m:r>
                                    </m:e>
                                    <m:sup>
                                      <m:r>
                                        <m:rPr/>
                                        <a:rPr lang="en-GB" b="1" i="1">
                                          <a:latin typeface="Cambria Math"/>
                                        </a:rPr>
                                        <m:t>𝟐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𝜽</m:t>
                                  </m:r>
                                </m:e>
                              </m:func>
                            </m:e>
                          </m:func>
                        </m:e>
                      </m:d>
                      <m:d>
                        <m:d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/>
                                    <a:rPr lang="en-GB" b="1">
                                      <a:latin typeface="Cambria Math"/>
                                    </a:rPr>
                                    <m:t>𝐜𝐨𝐬𝐞𝐜</m:t>
                                  </m:r>
                                </m:e>
                                <m:sup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𝜽</m:t>
                              </m:r>
                            </m:e>
                          </m:func>
                          <m:r>
                            <m:rPr/>
                            <a:rPr lang="en-GB" b="1" i="1">
                              <a:latin typeface="Cambria Math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𝒄𝒐𝒕</m:t>
                                  </m:r>
                                </m:e>
                                <m:sup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𝜽</m:t>
                              </m:r>
                            </m:e>
                          </m:func>
                        </m:e>
                      </m:d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𝐜𝐨𝐬𝐞</m:t>
                                  </m:r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𝒄</m:t>
                                  </m:r>
                                </m:e>
                                <m:sup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𝜽</m:t>
                              </m:r>
                            </m:e>
                          </m:func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𝒄𝒐𝒕</m:t>
                                  </m:r>
                                </m:e>
                                <m:sup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𝜽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1" i="1">
                              <a:latin typeface="Cambria Math"/>
                            </a:rPr>
                            <m:t>𝟏</m:t>
                          </m:r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/>
                                    <a:rPr lang="en-GB" b="1">
                                      <a:latin typeface="Cambria Math"/>
                                    </a:rPr>
                                    <m:t>𝐬𝐢𝐧</m:t>
                                  </m:r>
                                </m:e>
                                <m:sup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𝜽</m:t>
                              </m:r>
                            </m:e>
                          </m:func>
                        </m:den>
                      </m:f>
                      <m:r>
                        <m:rPr/>
                        <a:rPr lang="en-GB" b="1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/>
                                    <a:rPr lang="en-GB" b="1">
                                      <a:latin typeface="Cambria Math"/>
                                    </a:rPr>
                                    <m:t>𝐜𝐨𝐬</m:t>
                                  </m:r>
                                </m:e>
                                <m:sup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𝜽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/>
                                    <a:rPr lang="en-GB" b="1">
                                      <a:latin typeface="Cambria Math"/>
                                    </a:rPr>
                                    <m:t>𝐬𝐢𝐧</m:t>
                                  </m:r>
                                </m:e>
                                <m:sup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𝜽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1" i="1">
                              <a:latin typeface="Cambria Math"/>
                            </a:rPr>
                            <m:t>𝟏</m:t>
                          </m:r>
                          <m:r>
                            <m:rPr/>
                            <a:rPr lang="en-GB" b="1" i="1">
                              <a:latin typeface="Cambria Math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𝒄𝒐𝒔</m:t>
                                  </m:r>
                                </m:e>
                                <m:sup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𝜽</m:t>
                              </m:r>
                            </m:e>
                          </m:func>
                        </m:num>
                        <m:den>
                          <m:r>
                            <m:rPr/>
                            <a:rPr lang="en-GB" b="1" i="1">
                              <a:latin typeface="Cambria Math"/>
                            </a:rPr>
                            <m:t>𝟏</m:t>
                          </m:r>
                          <m:r>
                            <m:rPr/>
                            <a:rPr lang="en-GB" b="1" i="1">
                              <a:latin typeface="Cambria Math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𝒄𝒐𝒔</m:t>
                                  </m:r>
                                </m:e>
                                <m:sup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r>
                        <m:rPr/>
                        <a:rPr lang="en-GB" b="1" i="1">
                          <a:latin typeface="Cambria Math"/>
                        </a:rPr>
                        <m:t>𝑹𝑯𝑺</m:t>
                      </m:r>
                    </m:oMath>
                  </m:oMathPara>
                </a14:m>
              </mc:Choice>
              <mc:Fallback/>
            </mc:AlternateContent>
            <a:endParaRPr lang="en-GB" b="1"/>
          </a:p>
        </p:txBody>
      </p:sp>
      <p:sp>
        <p:nvSpPr>
          <p:cNvPr id="2020555980" name="Rectangle 5"/>
          <p:cNvSpPr/>
          <p:nvPr/>
        </p:nvSpPr>
        <p:spPr bwMode="auto">
          <a:xfrm>
            <a:off x="322964" y="1309327"/>
            <a:ext cx="4969116" cy="19088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455612338" name="TextBox 7"/>
          <p:cNvSpPr txBox="1"/>
          <p:nvPr/>
        </p:nvSpPr>
        <p:spPr bwMode="auto">
          <a:xfrm>
            <a:off x="338042" y="3501008"/>
            <a:ext cx="7010424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Solve the equation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4 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𝑐𝑜𝑠𝑒</m:t>
                      </m:r>
                      <m:sSup>
                        <m:sSup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m:rPr/>
                            <a:rPr lang="en-GB" b="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m:rPr/>
                        <a:rPr lang="en-GB" b="0" i="1">
                          <a:latin typeface="Cambria Math"/>
                        </a:rPr>
                        <m:t>𝜃</m:t>
                      </m:r>
                      <m:r>
                        <m:rPr/>
                        <a:rPr lang="en-GB" b="0" i="1">
                          <a:latin typeface="Cambria Math"/>
                        </a:rPr>
                        <m:t>−9=</m:t>
                      </m:r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/>
              <a:t> in the interval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0≤</m:t>
                      </m:r>
                      <m:r>
                        <m:rPr/>
                        <a:rPr lang="en-GB" b="0" i="1">
                          <a:latin typeface="Cambria Math"/>
                        </a:rPr>
                        <m:t>𝜃</m:t>
                      </m:r>
                      <m:r>
                        <m:rPr/>
                        <a:rPr lang="en-GB" b="0" i="1">
                          <a:latin typeface="Cambria Math"/>
                        </a:rPr>
                        <m:t>≤360°</m:t>
                      </m:r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sp>
        <p:nvSpPr>
          <p:cNvPr id="1292455120" name="TextBox 8"/>
          <p:cNvSpPr txBox="1"/>
          <p:nvPr/>
        </p:nvSpPr>
        <p:spPr bwMode="auto">
          <a:xfrm>
            <a:off x="466979" y="4032966"/>
            <a:ext cx="3335763" cy="2285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1" i="1">
                          <a:latin typeface="Cambria Math"/>
                        </a:rPr>
                        <m:t>𝟒</m:t>
                      </m:r>
                      <m:d>
                        <m:d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𝟏</m:t>
                          </m:r>
                          <m:r>
                            <m:rPr/>
                            <a:rPr lang="en-GB" b="1" i="1">
                              <a:latin typeface="Cambria Math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/>
                                    <a:rPr lang="en-GB" b="1" i="0">
                                      <a:latin typeface="Cambria Math"/>
                                    </a:rPr>
                                    <m:t>𝐜𝐨𝐭</m:t>
                                  </m:r>
                                </m:e>
                                <m:sup>
                                  <m:r>
                                    <m:rPr/>
                                    <a:rPr lang="en-GB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𝜽</m:t>
                              </m:r>
                            </m:e>
                          </m:func>
                        </m:e>
                      </m:d>
                      <m:r>
                        <m:rPr/>
                        <a:rPr lang="en-GB" b="1" i="1">
                          <a:latin typeface="Cambria Math"/>
                        </a:rPr>
                        <m:t>−</m:t>
                      </m:r>
                      <m:r>
                        <m:rPr/>
                        <a:rPr lang="en-GB" b="1" i="1">
                          <a:latin typeface="Cambria Math"/>
                        </a:rPr>
                        <m:t>𝟗</m:t>
                      </m:r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/>
                            <a:rPr lang="en-GB" b="1" i="0">
                              <a:latin typeface="Cambria Math"/>
                            </a:rPr>
                            <m:t>𝐜𝐨𝐭</m:t>
                          </m:r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𝜽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1" i="1">
                          <a:latin typeface="Cambria Math"/>
                        </a:rPr>
                        <m:t>𝟒</m:t>
                      </m:r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/>
                                <a:rPr lang="en-GB" b="1" i="0">
                                  <a:latin typeface="Cambria Math"/>
                                </a:rPr>
                                <m:t>𝐜𝐨𝐭</m:t>
                              </m:r>
                            </m:e>
                            <m:sup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𝜽</m:t>
                          </m:r>
                        </m:e>
                      </m:func>
                      <m:r>
                        <m:rPr/>
                        <a:rPr lang="en-GB" b="1" i="1">
                          <a:latin typeface="Cambria Math"/>
                        </a:rPr>
                        <m:t>−</m:t>
                      </m:r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/>
                            <a:rPr lang="en-GB" b="1" i="0">
                              <a:latin typeface="Cambria Math"/>
                            </a:rPr>
                            <m:t>𝐜𝐨𝐭</m:t>
                          </m:r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𝜽</m:t>
                          </m:r>
                        </m:e>
                      </m:func>
                      <m:r>
                        <m:rPr/>
                        <a:rPr lang="en-GB" b="1" i="1">
                          <a:latin typeface="Cambria Math"/>
                        </a:rPr>
                        <m:t>−</m:t>
                      </m:r>
                      <m:r>
                        <m:rPr/>
                        <a:rPr lang="en-GB" b="1" i="1">
                          <a:latin typeface="Cambria Math"/>
                        </a:rPr>
                        <m:t>𝟓</m:t>
                      </m:r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r>
                        <m:rPr/>
                        <a:rPr lang="en-GB" b="1" i="1">
                          <a:latin typeface="Cambria Math"/>
                        </a:rPr>
                        <m:t>𝟎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d>
                        <m:d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𝟒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/>
                                <a:rPr lang="en-GB" b="1" i="0">
                                  <a:latin typeface="Cambria Math"/>
                                </a:rPr>
                                <m:t>𝐜𝐨𝐭</m:t>
                              </m:r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𝜽</m:t>
                              </m:r>
                            </m:e>
                          </m:func>
                          <m:r>
                            <m:rPr/>
                            <a:rPr lang="en-GB" b="1" i="1">
                              <a:latin typeface="Cambria Math"/>
                            </a:rPr>
                            <m:t>−</m:t>
                          </m:r>
                          <m:r>
                            <m:rPr/>
                            <a:rPr lang="en-GB" b="1" i="1">
                              <a:latin typeface="Cambria Math"/>
                            </a:rPr>
                            <m:t>𝟓</m:t>
                          </m:r>
                        </m:e>
                      </m:d>
                      <m:d>
                        <m:d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/>
                                <a:rPr lang="en-GB" b="1" i="0">
                                  <a:latin typeface="Cambria Math"/>
                                </a:rPr>
                                <m:t>𝐜𝐨𝐭</m:t>
                              </m:r>
                            </m:fName>
                            <m:e>
                              <m:r>
                                <m:rPr/>
                                <a:rPr lang="en-GB" b="1" i="1">
                                  <a:latin typeface="Cambria Math"/>
                                </a:rPr>
                                <m:t>𝜽</m:t>
                              </m:r>
                            </m:e>
                          </m:func>
                          <m:r>
                            <m:rPr/>
                            <a:rPr lang="en-GB" b="1" i="1">
                              <a:latin typeface="Cambria Math"/>
                            </a:rPr>
                            <m:t>+</m:t>
                          </m:r>
                          <m:r>
                            <m:rPr/>
                            <a:rPr lang="en-GB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r>
                        <m:rPr/>
                        <a:rPr lang="en-GB" b="1" i="1">
                          <a:latin typeface="Cambria Math"/>
                        </a:rPr>
                        <m:t>𝟎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1" i="1">
                          <a:latin typeface="Cambria Math"/>
                        </a:rPr>
                        <m:t>∴</m:t>
                      </m:r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/>
                            <a:rPr lang="en-GB" b="1" i="0">
                              <a:latin typeface="Cambria Math"/>
                            </a:rPr>
                            <m:t>𝐜𝐨𝐭</m:t>
                          </m:r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𝜽</m:t>
                          </m:r>
                        </m:e>
                      </m:func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1" i="1">
                              <a:latin typeface="Cambria Math"/>
                            </a:rPr>
                            <m:t>𝟓</m:t>
                          </m:r>
                        </m:num>
                        <m:den>
                          <m:r>
                            <m:rPr/>
                            <a:rPr lang="en-GB" b="1" i="1">
                              <a:latin typeface="Cambria Math"/>
                            </a:rPr>
                            <m:t>𝟒</m:t>
                          </m:r>
                        </m:den>
                      </m:f>
                      <m:r>
                        <m:rPr/>
                        <a:rPr lang="en-GB" b="1" i="1">
                          <a:latin typeface="Cambria Math"/>
                        </a:rPr>
                        <m:t> </m:t>
                      </m:r>
                      <m:r>
                        <m:rPr/>
                        <a:rPr lang="en-GB" b="1" i="1">
                          <a:latin typeface="Cambria Math"/>
                        </a:rPr>
                        <m:t>𝒐𝒓</m:t>
                      </m:r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/>
                            <a:rPr lang="en-GB" b="1" i="0">
                              <a:latin typeface="Cambria Math"/>
                            </a:rPr>
                            <m:t>𝐜𝐨𝐭</m:t>
                          </m:r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𝜽</m:t>
                          </m:r>
                        </m:e>
                      </m:func>
                      <m:r>
                        <m:rPr/>
                        <a:rPr lang="en-GB" b="1" i="1">
                          <a:latin typeface="Cambria Math"/>
                        </a:rPr>
                        <m:t>=−</m:t>
                      </m:r>
                      <m:r>
                        <m:rPr/>
                        <a:rPr lang="en-GB" b="1" i="1">
                          <a:latin typeface="Cambria Math"/>
                        </a:rPr>
                        <m:t>𝟏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/>
                            <a:rPr lang="en-GB" b="1" i="0">
                              <a:latin typeface="Cambria Math"/>
                            </a:rPr>
                            <m:t>𝐭𝐚𝐧</m:t>
                          </m:r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𝜽</m:t>
                          </m:r>
                        </m:e>
                      </m:func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1" i="1">
                              <a:latin typeface="Cambria Math"/>
                            </a:rPr>
                            <m:t>𝟒</m:t>
                          </m:r>
                        </m:num>
                        <m:den>
                          <m:r>
                            <m:rPr/>
                            <a:rPr lang="en-GB" b="1" i="1">
                              <a:latin typeface="Cambria Math"/>
                            </a:rPr>
                            <m:t>𝟓</m:t>
                          </m:r>
                        </m:den>
                      </m:f>
                      <m:r>
                        <m:rPr/>
                        <a:rPr lang="en-GB" b="1" i="1">
                          <a:latin typeface="Cambria Math"/>
                        </a:rPr>
                        <m:t> </m:t>
                      </m:r>
                      <m:r>
                        <m:rPr/>
                        <a:rPr lang="en-GB" b="1" i="1">
                          <a:latin typeface="Cambria Math"/>
                        </a:rPr>
                        <m:t>𝒐𝒓</m:t>
                      </m:r>
                      <m:func>
                        <m:funcPr>
                          <m:ctrlPr>
                            <a:rPr lang="en-GB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/>
                            <a:rPr lang="en-GB" b="1" i="0">
                              <a:latin typeface="Cambria Math"/>
                            </a:rPr>
                            <m:t>𝐭𝐚𝐧</m:t>
                          </m:r>
                        </m:fName>
                        <m:e>
                          <m:r>
                            <m:rPr/>
                            <a:rPr lang="en-GB" b="1" i="1">
                              <a:latin typeface="Cambria Math"/>
                            </a:rPr>
                            <m:t>𝜽</m:t>
                          </m:r>
                        </m:e>
                      </m:func>
                      <m:r>
                        <m:rPr/>
                        <a:rPr lang="en-GB" b="1" i="1">
                          <a:latin typeface="Cambria Math"/>
                        </a:rPr>
                        <m:t>=−</m:t>
                      </m:r>
                      <m:r>
                        <m:rPr/>
                        <a:rPr lang="en-GB" b="1" i="1">
                          <a:latin typeface="Cambria Math"/>
                        </a:rPr>
                        <m:t>𝟏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1" i="1">
                          <a:latin typeface="Cambria Math"/>
                        </a:rPr>
                        <m:t>𝜽</m:t>
                      </m:r>
                      <m:r>
                        <m:rPr/>
                        <a:rPr lang="en-GB" b="1" i="1">
                          <a:latin typeface="Cambria Math"/>
                        </a:rPr>
                        <m:t>=</m:t>
                      </m:r>
                      <m:r>
                        <m:rPr/>
                        <a:rPr lang="en-GB" b="1" i="1">
                          <a:latin typeface="Cambria Math"/>
                        </a:rPr>
                        <m:t>𝟑𝟖</m:t>
                      </m:r>
                      <m:r>
                        <m:rPr/>
                        <a:rPr lang="en-GB" b="1" i="1">
                          <a:latin typeface="Cambria Math"/>
                        </a:rPr>
                        <m:t>.</m:t>
                      </m:r>
                      <m:r>
                        <m:rPr/>
                        <a:rPr lang="en-GB" b="1" i="1">
                          <a:latin typeface="Cambria Math"/>
                        </a:rPr>
                        <m:t>𝟕</m:t>
                      </m:r>
                      <m:r>
                        <m:rPr/>
                        <a:rPr lang="en-GB" b="1" i="1">
                          <a:latin typeface="Cambria Math"/>
                          <a:ea typeface="Cambria Math"/>
                        </a:rPr>
                        <m:t>°,</m:t>
                      </m:r>
                      <m:r>
                        <m:rPr/>
                        <a:rPr lang="en-GB" b="1" i="1">
                          <a:latin typeface="Cambria Math"/>
                        </a:rPr>
                        <m:t>𝟏𝟑𝟓</m:t>
                      </m:r>
                      <m:r>
                        <m:rPr/>
                        <a:rPr lang="en-GB" b="1" i="1">
                          <a:latin typeface="Cambria Math"/>
                        </a:rPr>
                        <m:t>°, </m:t>
                      </m:r>
                      <m:r>
                        <m:rPr/>
                        <a:rPr lang="en-GB" b="1" i="1">
                          <a:latin typeface="Cambria Math"/>
                        </a:rPr>
                        <m:t>𝟐𝟏𝟖</m:t>
                      </m:r>
                      <m:r>
                        <m:rPr/>
                        <a:rPr lang="en-GB" b="1" i="1">
                          <a:latin typeface="Cambria Math"/>
                        </a:rPr>
                        <m:t>.</m:t>
                      </m:r>
                      <m:r>
                        <m:rPr/>
                        <a:rPr lang="en-GB" b="1" i="1">
                          <a:latin typeface="Cambria Math"/>
                        </a:rPr>
                        <m:t>𝟕</m:t>
                      </m:r>
                      <m:r>
                        <m:rPr/>
                        <a:rPr lang="en-GB" b="1" i="1">
                          <a:latin typeface="Cambria Math"/>
                          <a:ea typeface="Cambria Math"/>
                        </a:rPr>
                        <m:t>°</m:t>
                      </m:r>
                      <m:r>
                        <m:rPr/>
                        <a:rPr lang="en-GB" b="1" i="1">
                          <a:latin typeface="Cambria Math"/>
                        </a:rPr>
                        <m:t>,</m:t>
                      </m:r>
                      <m:r>
                        <m:rPr/>
                        <a:rPr lang="en-GB" b="1" i="1">
                          <a:latin typeface="Cambria Math"/>
                        </a:rPr>
                        <m:t>𝟑𝟏𝟓</m:t>
                      </m:r>
                      <m:r>
                        <m:rPr/>
                        <a:rPr lang="en-GB" b="1" i="1">
                          <a:latin typeface="Cambria Math"/>
                        </a:rPr>
                        <m:t>°</m:t>
                      </m:r>
                    </m:oMath>
                  </m:oMathPara>
                </a14:m>
              </mc:Choice>
              <mc:Fallback/>
            </mc:AlternateContent>
            <a:endParaRPr lang="en-GB" b="1"/>
          </a:p>
        </p:txBody>
      </p:sp>
      <p:sp>
        <p:nvSpPr>
          <p:cNvPr id="1253301480" name="TextBox 9"/>
          <p:cNvSpPr txBox="1"/>
          <p:nvPr/>
        </p:nvSpPr>
        <p:spPr bwMode="auto">
          <a:xfrm>
            <a:off x="6415314" y="4134949"/>
            <a:ext cx="2509146" cy="138499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/>
              <a:t>This is just like in C2; if you had say a mixture of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,</m:t>
                      </m:r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>
                                  <a:latin typeface="Cambria Math"/>
                                </a:rPr>
                                <m:t>sin</m:t>
                              </m:r>
                            </m:e>
                            <m:sup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,</m:t>
                      </m:r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>
                                  <a:latin typeface="Cambria Math"/>
                                </a:rPr>
                                <m:t>cos</m:t>
                              </m:r>
                            </m:e>
                            <m:sup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 sz="1400"/>
              <a:t>: you’d change the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>
                                  <a:latin typeface="Cambria Math"/>
                                </a:rPr>
                                <m:t>cos</m:t>
                              </m:r>
                            </m:e>
                            <m:sup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 sz="1400"/>
              <a:t> to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400" b="0" i="1">
                          <a:latin typeface="Cambria Math"/>
                        </a:rPr>
                        <m:t>1−</m:t>
                      </m:r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>
                                  <a:latin typeface="Cambria Math"/>
                                </a:rPr>
                                <m:t>sin</m:t>
                              </m:r>
                            </m:e>
                            <m:sup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 sz="1400"/>
              <a:t> in order to get a quadratic in terms of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400" b="0" i="1">
                          <a:latin typeface="Cambria Math"/>
                        </a:rPr>
                        <m:t>𝑠𝑖𝑛</m:t>
                      </m:r>
                    </m:oMath>
                  </m:oMathPara>
                </a14:m>
              </mc:Choice>
              <mc:Fallback/>
            </mc:AlternateContent>
            <a:r>
              <a:rPr lang="en-GB" sz="1400"/>
              <a:t>.</a:t>
            </a:r>
            <a:endParaRPr/>
          </a:p>
        </p:txBody>
      </p:sp>
      <p:sp>
        <p:nvSpPr>
          <p:cNvPr id="936223099" name="Rectangle 10"/>
          <p:cNvSpPr/>
          <p:nvPr/>
        </p:nvSpPr>
        <p:spPr bwMode="auto">
          <a:xfrm>
            <a:off x="332205" y="3887784"/>
            <a:ext cx="5602110" cy="23802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205559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205559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0555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055598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362230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362230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622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6223099"/>
                  </p:tgtEl>
                </p:cond>
              </p:nextCondLst>
            </p:seq>
          </p:childTnLst>
        </p:cTn>
      </p:par>
    </p:tnLst>
    <p:bldLst>
      <p:bldP spid="2020555980" grpId="0" animBg="1"/>
      <p:bldP spid="93622309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8985116" name="Group 1"/>
          <p:cNvGrpSpPr/>
          <p:nvPr/>
        </p:nvGrpSpPr>
        <p:grpSpPr bwMode="auto"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/>
                <a:t>Test Your Understanding</a:t>
              </a:r>
              <a:endParaRPr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982670654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3528" y="1125881"/>
            <a:ext cx="6543675" cy="14001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31901230" name="TextBox 5"/>
          <p:cNvSpPr txBox="1"/>
          <p:nvPr/>
        </p:nvSpPr>
        <p:spPr bwMode="auto">
          <a:xfrm>
            <a:off x="323528" y="718250"/>
            <a:ext cx="2664295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Edexcel C3 June 2013 (R)</a:t>
            </a:r>
            <a:endParaRPr/>
          </a:p>
        </p:txBody>
      </p:sp>
      <p:sp>
        <p:nvSpPr>
          <p:cNvPr id="833273098" name="TextBox 6"/>
          <p:cNvSpPr txBox="1"/>
          <p:nvPr/>
        </p:nvSpPr>
        <p:spPr bwMode="auto">
          <a:xfrm>
            <a:off x="1014814" y="2598931"/>
            <a:ext cx="6048672" cy="1332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400" b="0" i="1">
                          <a:latin typeface="Cambria Math"/>
                        </a:rPr>
                        <m:t>3</m:t>
                      </m:r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>
                                  <a:latin typeface="Cambria Math"/>
                                </a:rPr>
                                <m:t>sec</m:t>
                              </m:r>
                            </m:e>
                            <m:sup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+3</m:t>
                      </m:r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sec</m:t>
                          </m:r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=2</m:t>
                      </m:r>
                      <m:d>
                        <m:d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14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 b="0" i="0">
                                      <a:latin typeface="Cambria Math"/>
                                    </a:rPr>
                                    <m:t>sec</m:t>
                                  </m:r>
                                </m:e>
                                <m:sup>
                                  <m:r>
                                    <m:rPr/>
                                    <a:rPr lang="en-GB" sz="1400" b="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  <m:r>
                            <m:rPr/>
                            <a:rPr lang="en-GB" sz="1400" b="0" i="1">
                              <a:latin typeface="Cambria Math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>
                                  <a:latin typeface="Cambria Math"/>
                                </a:rPr>
                                <m:t>sec</m:t>
                              </m:r>
                            </m:e>
                            <m:sup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+3</m:t>
                      </m:r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sec</m:t>
                          </m:r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+2=0     →</m:t>
                      </m:r>
                      <m:d>
                        <m:d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 b="0" i="0">
                                  <a:latin typeface="Cambria Math"/>
                                </a:rPr>
                                <m:t>sec</m:t>
                              </m:r>
                            </m:fName>
                            <m:e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  <m:r>
                            <m:rPr/>
                            <a:rPr lang="en-GB" sz="1400" b="0" i="1">
                              <a:latin typeface="Cambria Math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 b="0" i="0">
                                  <a:latin typeface="Cambria Math"/>
                                </a:rPr>
                                <m:t>sec</m:t>
                              </m:r>
                            </m:fName>
                            <m:e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  <m:r>
                            <m:rPr/>
                            <a:rPr lang="en-GB" sz="1400" b="0" i="1"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m:rPr/>
                        <a:rPr lang="en-GB" sz="1400" b="0" i="1">
                          <a:latin typeface="Cambria Math"/>
                        </a:rPr>
                        <m:t>=0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400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 b="0" i="0"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m:rPr/>
                        <a:rPr lang="en-GB" sz="1400" b="0" i="1">
                          <a:latin typeface="Cambria Math"/>
                        </a:rPr>
                        <m:t>=−2     →   </m:t>
                      </m:r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400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/>
                            <a:rPr lang="en-GB" sz="1400" b="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m:rPr/>
                        <a:rPr lang="en-GB" sz="1400" b="0" i="1">
                          <a:latin typeface="Cambria Math"/>
                        </a:rPr>
                        <m:t>    →  </m:t>
                      </m:r>
                      <m:r>
                        <m:rPr/>
                        <a:rPr lang="en-GB" sz="1400" b="0" i="1">
                          <a:latin typeface="Cambria Math"/>
                        </a:rPr>
                        <m:t>𝜃</m:t>
                      </m:r>
                      <m:r>
                        <m:rPr/>
                        <a:rPr lang="en-GB" sz="14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400" b="0" i="1">
                              <a:latin typeface="Cambria Math"/>
                            </a:rPr>
                            <m:t>2</m:t>
                          </m:r>
                          <m:r>
                            <m:rPr/>
                            <a:rPr lang="en-GB" sz="1400" b="0" i="1">
                              <a:latin typeface="Cambria Math"/>
                            </a:rPr>
                            <m:t>𝜋</m:t>
                          </m:r>
                        </m:num>
                        <m:den>
                          <m:r>
                            <m:rPr/>
                            <a:rPr lang="en-GB" sz="1400" b="0" i="1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m:rPr/>
                        <a:rPr lang="en-GB" sz="1400" b="0" i="1">
                          <a:latin typeface="Cambria Math"/>
                        </a:rPr>
                        <m:t>,</m:t>
                      </m:r>
                      <m:f>
                        <m:f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400" b="0" i="1">
                              <a:latin typeface="Cambria Math"/>
                            </a:rPr>
                            <m:t>4</m:t>
                          </m:r>
                          <m:r>
                            <m:rPr/>
                            <a:rPr lang="en-GB" sz="1400" b="0" i="1">
                              <a:latin typeface="Cambria Math"/>
                            </a:rPr>
                            <m:t>𝜋</m:t>
                          </m:r>
                        </m:num>
                        <m:den>
                          <m:r>
                            <m:rPr/>
                            <a:rPr lang="en-GB" sz="1400" b="0" i="1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400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 b="0" i="0"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m:rPr/>
                        <a:rPr lang="en-GB" sz="1400" b="0" i="1">
                          <a:latin typeface="Cambria Math"/>
                        </a:rPr>
                        <m:t>=−1      →  </m:t>
                      </m:r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=−1     →  </m:t>
                      </m:r>
                      <m:r>
                        <m:rPr/>
                        <a:rPr lang="en-GB" sz="1400" b="0" i="1">
                          <a:latin typeface="Cambria Math"/>
                        </a:rPr>
                        <m:t>𝜃</m:t>
                      </m:r>
                      <m:r>
                        <m:rPr/>
                        <a:rPr lang="en-GB" sz="1400" b="0" i="1">
                          <a:latin typeface="Cambria Math"/>
                        </a:rPr>
                        <m:t>=</m:t>
                      </m:r>
                      <m:r>
                        <m:rPr/>
                        <a:rPr lang="en-GB" sz="1400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endParaRPr lang="en-GB" sz="1400"/>
          </a:p>
        </p:txBody>
      </p:sp>
      <p:sp>
        <p:nvSpPr>
          <p:cNvPr id="913259436" name="Rectangle 13"/>
          <p:cNvSpPr/>
          <p:nvPr/>
        </p:nvSpPr>
        <p:spPr bwMode="auto">
          <a:xfrm>
            <a:off x="1771269" y="2627627"/>
            <a:ext cx="5095934" cy="132021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709591349" name="TextBox 8"/>
          <p:cNvSpPr txBox="1"/>
          <p:nvPr/>
        </p:nvSpPr>
        <p:spPr bwMode="auto">
          <a:xfrm>
            <a:off x="539552" y="4049411"/>
            <a:ext cx="6523934" cy="2808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Solve, for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0≤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𝑥</m:t>
                      </m:r>
                      <m:r>
                        <m:rPr/>
                        <a:rPr lang="en-GB" b="0" i="1">
                          <a:latin typeface="Cambria Math"/>
                        </a:rPr>
                        <m:t>&lt;2</m:t>
                      </m:r>
                      <m:r>
                        <m:rPr/>
                        <a:rPr lang="en-GB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a:r>
              <a:rPr lang="en-GB"/>
              <a:t>, the equation</a:t>
            </a:r>
            <a:endParaRPr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0" i="1">
                          <a:latin typeface="Cambria Math"/>
                        </a:rPr>
                        <m:t>2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𝑐𝑜𝑠𝑒</m:t>
                      </m:r>
                      <m:sSup>
                        <m:sSup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m:rPr/>
                            <a:rPr lang="en-GB" b="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m:rPr/>
                        <a:rPr lang="en-GB" b="0" i="1">
                          <a:latin typeface="Cambria Math"/>
                        </a:rPr>
                        <m:t>𝑥</m:t>
                      </m:r>
                      <m:r>
                        <m:rPr/>
                        <a:rPr lang="en-GB" b="0" i="1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=5</m:t>
                      </m:r>
                    </m:oMath>
                  </m:oMathPara>
                </a14:m>
              </mc:Choice>
              <mc:Fallback/>
            </mc:AlternateContent>
            <a:endParaRPr lang="en-GB"/>
          </a:p>
          <a:p>
            <a:pPr>
              <a:defRPr/>
            </a:pPr>
            <a:r>
              <a:rPr lang="en-GB"/>
              <a:t>giving your solutions to 3sf.</a:t>
            </a:r>
            <a:endParaRPr/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400" b="0" i="1">
                          <a:latin typeface="Cambria Math"/>
                        </a:rPr>
                        <m:t>2</m:t>
                      </m:r>
                      <m:d>
                        <m:d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1+</m:t>
                          </m:r>
                          <m:func>
                            <m:func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14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 b="0" i="0">
                                      <a:latin typeface="Cambria Math"/>
                                    </a:rPr>
                                    <m:t>cot</m:t>
                                  </m:r>
                                </m:e>
                                <m:sup>
                                  <m:r>
                                    <m:rPr/>
                                    <a:rPr lang="en-GB" sz="1400" b="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m:rPr/>
                        <a:rPr lang="en-GB" sz="1400" b="0" i="1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−5=0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400" b="0" i="1">
                          <a:latin typeface="Cambria Math"/>
                        </a:rPr>
                        <m:t>2+2</m:t>
                      </m:r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>
                                  <a:latin typeface="Cambria Math"/>
                                </a:rPr>
                                <m:t>cot</m:t>
                              </m:r>
                            </m:e>
                            <m:sup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−5=0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400" b="0" i="1">
                          <a:latin typeface="Cambria Math"/>
                        </a:rPr>
                        <m:t>2</m:t>
                      </m:r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>
                                  <a:latin typeface="Cambria Math"/>
                                </a:rPr>
                                <m:t>cot</m:t>
                              </m:r>
                            </m:e>
                            <m:sup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−3=0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d>
                        <m:d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2</m:t>
                          </m:r>
                          <m:func>
                            <m:func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 b="0" i="0">
                                  <a:latin typeface="Cambria Math"/>
                                </a:rPr>
                                <m:t>cot</m:t>
                              </m:r>
                            </m:fName>
                            <m:e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r>
                            <m:rPr/>
                            <a:rPr lang="en-GB" sz="1400" b="0" i="1">
                              <a:latin typeface="Cambria Math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 b="0" i="0">
                                  <a:latin typeface="Cambria Math"/>
                                </a:rPr>
                                <m:t>cot</m:t>
                              </m:r>
                            </m:fName>
                            <m:e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r>
                            <m:rPr/>
                            <a:rPr lang="en-GB" sz="1400" b="0" i="1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m:rPr/>
                        <a:rPr lang="en-GB" sz="1400" b="0" i="1">
                          <a:latin typeface="Cambria Math"/>
                        </a:rPr>
                        <m:t>=0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400" b="0" i="1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m:rPr/>
                            <a:rPr lang="en-GB" sz="1400" b="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m:rPr/>
                        <a:rPr lang="en-GB" sz="1400" b="0" i="1">
                          <a:latin typeface="Cambria Math"/>
                        </a:rPr>
                        <m:t>  </m:t>
                      </m:r>
                      <m:r>
                        <m:rPr/>
                        <a:rPr lang="en-GB" sz="1400" b="0" i="1">
                          <a:latin typeface="Cambria Math"/>
                        </a:rPr>
                        <m:t>𝑜𝑟</m:t>
                      </m:r>
                      <m:r>
                        <m:rPr/>
                        <a:rPr lang="en-GB" sz="1400" b="0" i="1">
                          <a:latin typeface="Cambria Math"/>
                        </a:rPr>
                        <m:t>  </m:t>
                      </m:r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cot</m:t>
                          </m:r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=1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400" b="0" i="1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m:rPr/>
                            <a:rPr lang="en-GB" sz="1400" b="0" i="1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m:rPr/>
                        <a:rPr lang="en-GB" sz="1400" b="0" i="1">
                          <a:latin typeface="Cambria Math"/>
                        </a:rPr>
                        <m:t>   </m:t>
                      </m:r>
                      <m:r>
                        <m:rPr/>
                        <a:rPr lang="en-GB" sz="1400" b="0" i="1">
                          <a:latin typeface="Cambria Math"/>
                        </a:rPr>
                        <m:t>𝑜𝑟</m:t>
                      </m:r>
                      <m:r>
                        <m:rPr/>
                        <a:rPr lang="en-GB" sz="1400" b="0" i="1">
                          <a:latin typeface="Cambria Math"/>
                        </a:rPr>
                        <m:t> </m:t>
                      </m:r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sz="1400" b="0" i="1">
                          <a:latin typeface="Cambria Math"/>
                        </a:rPr>
                        <m:t>=1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1400" b="1" i="1">
                          <a:latin typeface="Cambria Math"/>
                        </a:rPr>
                        <m:t>𝒙</m:t>
                      </m:r>
                      <m:r>
                        <m:rPr/>
                        <a:rPr lang="en-GB" sz="1400" b="1" i="1">
                          <a:latin typeface="Cambria Math"/>
                        </a:rPr>
                        <m:t>=</m:t>
                      </m:r>
                      <m:r>
                        <m:rPr/>
                        <a:rPr lang="en-GB" sz="1400" b="1" i="1">
                          <a:latin typeface="Cambria Math"/>
                        </a:rPr>
                        <m:t>𝟐</m:t>
                      </m:r>
                      <m:r>
                        <m:rPr/>
                        <a:rPr lang="en-GB" sz="1400" b="1" i="1">
                          <a:latin typeface="Cambria Math"/>
                        </a:rPr>
                        <m:t>.</m:t>
                      </m:r>
                      <m:r>
                        <m:rPr/>
                        <a:rPr lang="en-GB" sz="1400" b="1" i="1">
                          <a:latin typeface="Cambria Math"/>
                        </a:rPr>
                        <m:t>𝟓𝟓</m:t>
                      </m:r>
                      <m:r>
                        <m:rPr/>
                        <a:rPr lang="en-GB" sz="1400" b="1" i="1">
                          <a:latin typeface="Cambria Math"/>
                        </a:rPr>
                        <m:t>,  </m:t>
                      </m:r>
                      <m:r>
                        <m:rPr/>
                        <a:rPr lang="en-GB" sz="1400" b="1" i="1">
                          <a:latin typeface="Cambria Math"/>
                        </a:rPr>
                        <m:t>𝟓</m:t>
                      </m:r>
                      <m:r>
                        <m:rPr/>
                        <a:rPr lang="en-GB" sz="1400" b="1" i="1">
                          <a:latin typeface="Cambria Math"/>
                        </a:rPr>
                        <m:t>.</m:t>
                      </m:r>
                      <m:r>
                        <m:rPr/>
                        <a:rPr lang="en-GB" sz="1400" b="1" i="1">
                          <a:latin typeface="Cambria Math"/>
                        </a:rPr>
                        <m:t>𝟕𝟎</m:t>
                      </m:r>
                      <m:r>
                        <m:rPr/>
                        <a:rPr lang="en-GB" sz="1400" b="1" i="1">
                          <a:latin typeface="Cambria Math"/>
                        </a:rPr>
                        <m:t>,  </m:t>
                      </m:r>
                      <m:r>
                        <m:rPr/>
                        <a:rPr lang="en-GB" sz="1400" b="1" i="1">
                          <a:latin typeface="Cambria Math"/>
                        </a:rPr>
                        <m:t>𝟎</m:t>
                      </m:r>
                      <m:r>
                        <m:rPr/>
                        <a:rPr lang="en-GB" sz="1400" b="1" i="1">
                          <a:latin typeface="Cambria Math"/>
                        </a:rPr>
                        <m:t>.</m:t>
                      </m:r>
                      <m:r>
                        <m:rPr/>
                        <a:rPr lang="en-GB" sz="1400" b="1" i="1">
                          <a:latin typeface="Cambria Math"/>
                        </a:rPr>
                        <m:t>𝟕𝟖𝟓</m:t>
                      </m:r>
                      <m:r>
                        <m:rPr/>
                        <a:rPr lang="en-GB" sz="1400" b="1" i="1">
                          <a:latin typeface="Cambria Math"/>
                        </a:rPr>
                        <m:t>,  </m:t>
                      </m:r>
                      <m:r>
                        <m:rPr/>
                        <a:rPr lang="en-GB" sz="1400" b="1" i="1">
                          <a:latin typeface="Cambria Math"/>
                        </a:rPr>
                        <m:t>𝟑</m:t>
                      </m:r>
                      <m:r>
                        <m:rPr/>
                        <a:rPr lang="en-GB" sz="1400" b="1" i="1">
                          <a:latin typeface="Cambria Math"/>
                        </a:rPr>
                        <m:t>.</m:t>
                      </m:r>
                      <m:r>
                        <m:rPr/>
                        <a:rPr lang="en-GB" sz="1400" b="1" i="1">
                          <a:latin typeface="Cambria Math"/>
                        </a:rPr>
                        <m:t>𝟗𝟑</m:t>
                      </m:r>
                      <m:r>
                        <m:rPr/>
                        <a:rPr lang="en-GB" sz="1400" b="1" i="1">
                          <a:latin typeface="Cambria Math"/>
                        </a:rPr>
                        <m:t> </m:t>
                      </m:r>
                    </m:oMath>
                  </m:oMathPara>
                </a14:m>
              </mc:Choice>
              <mc:Fallback/>
            </mc:AlternateContent>
            <a:endParaRPr lang="en-GB" sz="1400" b="1"/>
          </a:p>
        </p:txBody>
      </p:sp>
      <p:sp>
        <p:nvSpPr>
          <p:cNvPr id="383237322" name="TextBox 10"/>
          <p:cNvSpPr txBox="1"/>
          <p:nvPr/>
        </p:nvSpPr>
        <p:spPr bwMode="auto">
          <a:xfrm>
            <a:off x="143508" y="4149079"/>
            <a:ext cx="36004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Q</a:t>
            </a:r>
            <a:endParaRPr/>
          </a:p>
        </p:txBody>
      </p:sp>
      <p:sp>
        <p:nvSpPr>
          <p:cNvPr id="701551392" name="Rectangle 11"/>
          <p:cNvSpPr/>
          <p:nvPr/>
        </p:nvSpPr>
        <p:spPr bwMode="auto">
          <a:xfrm>
            <a:off x="2051720" y="4936182"/>
            <a:ext cx="3672408" cy="19168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13259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13259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325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325943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01551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01551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55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1551392"/>
                  </p:tgtEl>
                </p:cond>
              </p:nextCondLst>
            </p:seq>
          </p:childTnLst>
        </p:cTn>
      </p:par>
    </p:tnLst>
    <p:bldLst>
      <p:bldP spid="913259436" grpId="0" animBg="1"/>
      <p:bldP spid="70155139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34748652" name="Group 1"/>
          <p:cNvGrpSpPr/>
          <p:nvPr/>
        </p:nvGrpSpPr>
        <p:grpSpPr bwMode="auto"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>
                  <a:latin typeface="+mj-lt"/>
                </a:rPr>
                <a:t>Exercises 6D</a:t>
              </a:r>
              <a:endParaRPr lang="en-GB" sz="3200"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950840205" name="TextBox 4"/>
          <p:cNvSpPr txBox="1"/>
          <p:nvPr/>
        </p:nvSpPr>
        <p:spPr bwMode="auto">
          <a:xfrm>
            <a:off x="236048" y="662045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400"/>
              <a:t>Pearson Pure Mathematics Year 2/AS</a:t>
            </a:r>
            <a:endParaRPr/>
          </a:p>
          <a:p>
            <a:pPr>
              <a:defRPr/>
            </a:pPr>
            <a:r>
              <a:rPr lang="en-GB" sz="2400"/>
              <a:t>Pages 156-157</a:t>
            </a:r>
            <a:endParaRPr/>
          </a:p>
        </p:txBody>
      </p:sp>
      <p:cxnSp>
        <p:nvCxnSpPr>
          <p:cNvPr id="1330418186" name="Straight Connector 5"/>
          <p:cNvCxnSpPr/>
          <p:nvPr/>
        </p:nvCxnSpPr>
        <p:spPr bwMode="auto">
          <a:xfrm>
            <a:off x="0" y="1594754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35827733" name="Group 1"/>
          <p:cNvGrpSpPr/>
          <p:nvPr/>
        </p:nvGrpSpPr>
        <p:grpSpPr bwMode="auto"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/>
                <a:t>Inverse Trig Functions</a:t>
              </a:r>
              <a:endParaRPr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70172090" name="TextBox 4"/>
          <p:cNvSpPr txBox="1"/>
          <p:nvPr/>
        </p:nvSpPr>
        <p:spPr bwMode="auto">
          <a:xfrm>
            <a:off x="395536" y="836712"/>
            <a:ext cx="80648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You need to know how to sketch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𝑦</m:t>
                      </m:r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arcsin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, 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𝑦</m:t>
                      </m:r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arccos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𝑦</m:t>
                      </m:r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arctan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/>
              <a:t>. </a:t>
            </a:r>
            <a:endParaRPr/>
          </a:p>
          <a:p>
            <a:pPr>
              <a:defRPr/>
            </a:pPr>
            <a:r>
              <a:rPr lang="en-GB" sz="1400"/>
              <a:t>(Yes, you could be asked in an exam!)</a:t>
            </a:r>
            <a:endParaRPr/>
          </a:p>
        </p:txBody>
      </p:sp>
      <p:cxnSp>
        <p:nvCxnSpPr>
          <p:cNvPr id="1404509967" name="Straight Arrow Connector 5"/>
          <p:cNvCxnSpPr/>
          <p:nvPr/>
        </p:nvCxnSpPr>
        <p:spPr bwMode="auto">
          <a:xfrm>
            <a:off x="2267744" y="3994767"/>
            <a:ext cx="5304612" cy="118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2973255" name="Straight Arrow Connector 6"/>
          <p:cNvCxnSpPr/>
          <p:nvPr/>
        </p:nvCxnSpPr>
        <p:spPr bwMode="auto">
          <a:xfrm flipV="1">
            <a:off x="4763113" y="1652530"/>
            <a:ext cx="7191" cy="46123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01968647" name="TextBox 7"/>
          <p:cNvSpPr txBox="1"/>
          <p:nvPr/>
        </p:nvSpPr>
        <p:spPr bwMode="auto">
          <a:xfrm>
            <a:off x="4590785" y="1195890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𝑦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895803916" name="TextBox 9"/>
          <p:cNvSpPr txBox="1"/>
          <p:nvPr/>
        </p:nvSpPr>
        <p:spPr bwMode="auto">
          <a:xfrm>
            <a:off x="6637059" y="2484995"/>
            <a:ext cx="1146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0" i="1">
                          <a:latin typeface="Cambria Math"/>
                        </a:rPr>
                        <m:t>𝑦</m:t>
                      </m:r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sp>
        <p:nvSpPr>
          <p:cNvPr id="383988369" name="TextBox 10"/>
          <p:cNvSpPr txBox="1"/>
          <p:nvPr/>
        </p:nvSpPr>
        <p:spPr bwMode="auto">
          <a:xfrm>
            <a:off x="7542630" y="3794712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𝑥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559450974" name="TextBox 11"/>
          <p:cNvSpPr txBox="1"/>
          <p:nvPr/>
        </p:nvSpPr>
        <p:spPr bwMode="auto">
          <a:xfrm>
            <a:off x="4448980" y="2276872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1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909517448" name="TextBox 12"/>
          <p:cNvSpPr txBox="1"/>
          <p:nvPr/>
        </p:nvSpPr>
        <p:spPr bwMode="auto">
          <a:xfrm>
            <a:off x="4276652" y="5477162"/>
            <a:ext cx="344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−1</m:t>
                      </m:r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638483104" name="TextBox 14"/>
          <p:cNvSpPr txBox="1"/>
          <p:nvPr/>
        </p:nvSpPr>
        <p:spPr bwMode="auto">
          <a:xfrm>
            <a:off x="6891640" y="4018887"/>
            <a:ext cx="344656" cy="615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lang="en-GB" sz="20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2000" b="0" i="1">
                              <a:latin typeface="Cambria Math"/>
                            </a:rPr>
                            <m:t>𝜋</m:t>
                          </m:r>
                        </m:num>
                        <m:den>
                          <m:r>
                            <m:rPr/>
                            <a:rPr lang="en-GB" sz="2000" b="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629129963" name="TextBox 15"/>
          <p:cNvSpPr txBox="1"/>
          <p:nvPr/>
        </p:nvSpPr>
        <p:spPr bwMode="auto">
          <a:xfrm>
            <a:off x="2267744" y="4012536"/>
            <a:ext cx="344656" cy="615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000" b="0" i="1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GB" sz="20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2000" b="0" i="1">
                              <a:latin typeface="Cambria Math"/>
                            </a:rPr>
                            <m:t>𝜋</m:t>
                          </m:r>
                        </m:num>
                        <m:den>
                          <m:r>
                            <m:rPr/>
                            <a:rPr lang="en-GB" sz="2000" b="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lang="en-GB" sz="2000"/>
          </a:p>
        </p:txBody>
      </p:sp>
      <p:sp>
        <p:nvSpPr>
          <p:cNvPr id="1692552969" name="TextBox 38"/>
          <p:cNvSpPr txBox="1"/>
          <p:nvPr/>
        </p:nvSpPr>
        <p:spPr bwMode="auto">
          <a:xfrm>
            <a:off x="271961" y="1696078"/>
            <a:ext cx="2763894" cy="1896288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600"/>
              <a:t>We have to restrict the domain of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m:rPr/>
                            <a:rPr lang="en-GB" sz="1600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 sz="1600"/>
              <a:t> to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600" b="0" i="1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𝜋</m:t>
                          </m:r>
                        </m:num>
                        <m:den>
                          <m:r>
                            <m:rPr/>
                            <a:rPr lang="en-GB" sz="1600" b="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m:rPr/>
                        <a:rPr lang="en-GB" sz="1600" b="0" i="1">
                          <a:latin typeface="Cambria Math"/>
                        </a:rPr>
                        <m:t>≤</m:t>
                      </m:r>
                      <m:r>
                        <m:rPr/>
                        <a:rPr lang="en-GB" sz="1600" b="0" i="1">
                          <a:latin typeface="Cambria Math"/>
                        </a:rPr>
                        <m:t>𝑥</m:t>
                      </m:r>
                      <m:r>
                        <m:rPr/>
                        <a:rPr lang="en-GB" sz="1600" b="0" i="1">
                          <a:latin typeface="Cambria Math"/>
                        </a:rPr>
                        <m:t>&lt;</m:t>
                      </m:r>
                      <m:f>
                        <m:fPr>
                          <m:ctrlPr>
                            <a:rPr lang="en-GB" sz="16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sz="1600" b="0" i="1">
                              <a:latin typeface="Cambria Math"/>
                            </a:rPr>
                            <m:t>𝜋</m:t>
                          </m:r>
                        </m:num>
                        <m:den>
                          <m:r>
                            <m:rPr/>
                            <a:rPr lang="en-GB" sz="1600" b="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en-GB" sz="1600"/>
              <a:t> before we can find the inverse. Why?</a:t>
            </a:r>
            <a:endParaRPr/>
          </a:p>
          <a:p>
            <a:pPr>
              <a:defRPr/>
            </a:pPr>
            <a:r>
              <a:rPr lang="en-GB" sz="1600" b="1"/>
              <a:t>Because only one-to-one functions have an inverse. By restricting the domain it is now one-to-one.</a:t>
            </a:r>
            <a:endParaRPr/>
          </a:p>
        </p:txBody>
      </p:sp>
      <p:sp>
        <p:nvSpPr>
          <p:cNvPr id="638146121" name="Rectangle 39"/>
          <p:cNvSpPr/>
          <p:nvPr/>
        </p:nvSpPr>
        <p:spPr bwMode="auto">
          <a:xfrm>
            <a:off x="326918" y="2601283"/>
            <a:ext cx="2614586" cy="9020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472094681" name="Freeform: Shape 33"/>
          <p:cNvSpPr/>
          <p:nvPr/>
        </p:nvSpPr>
        <p:spPr bwMode="auto">
          <a:xfrm>
            <a:off x="2438664" y="2484995"/>
            <a:ext cx="4607511" cy="3053919"/>
          </a:xfrm>
          <a:custGeom>
            <a:avLst/>
            <a:gdLst>
              <a:gd name="connsiteX0" fmla="*/ 4607511 w 4607511"/>
              <a:gd name="connsiteY0" fmla="*/ 0 h 3053919"/>
              <a:gd name="connsiteX1" fmla="*/ 4332303 w 4607511"/>
              <a:gd name="connsiteY1" fmla="*/ 35511 h 3053919"/>
              <a:gd name="connsiteX2" fmla="*/ 3923930 w 4607511"/>
              <a:gd name="connsiteY2" fmla="*/ 177554 h 3053919"/>
              <a:gd name="connsiteX3" fmla="*/ 3524435 w 4607511"/>
              <a:gd name="connsiteY3" fmla="*/ 426128 h 3053919"/>
              <a:gd name="connsiteX4" fmla="*/ 3240349 w 4607511"/>
              <a:gd name="connsiteY4" fmla="*/ 656948 h 3053919"/>
              <a:gd name="connsiteX5" fmla="*/ 2876365 w 4607511"/>
              <a:gd name="connsiteY5" fmla="*/ 949911 h 3053919"/>
              <a:gd name="connsiteX6" fmla="*/ 2618912 w 4607511"/>
              <a:gd name="connsiteY6" fmla="*/ 1233996 h 3053919"/>
              <a:gd name="connsiteX7" fmla="*/ 2405848 w 4607511"/>
              <a:gd name="connsiteY7" fmla="*/ 1447060 h 3053919"/>
              <a:gd name="connsiteX8" fmla="*/ 2228295 w 4607511"/>
              <a:gd name="connsiteY8" fmla="*/ 1606858 h 3053919"/>
              <a:gd name="connsiteX9" fmla="*/ 1935332 w 4607511"/>
              <a:gd name="connsiteY9" fmla="*/ 1917577 h 3053919"/>
              <a:gd name="connsiteX10" fmla="*/ 1384916 w 4607511"/>
              <a:gd name="connsiteY10" fmla="*/ 2405849 h 3053919"/>
              <a:gd name="connsiteX11" fmla="*/ 958788 w 4607511"/>
              <a:gd name="connsiteY11" fmla="*/ 2716567 h 3053919"/>
              <a:gd name="connsiteX12" fmla="*/ 630314 w 4607511"/>
              <a:gd name="connsiteY12" fmla="*/ 2885243 h 3053919"/>
              <a:gd name="connsiteX13" fmla="*/ 284085 w 4607511"/>
              <a:gd name="connsiteY13" fmla="*/ 3009530 h 3053919"/>
              <a:gd name="connsiteX14" fmla="*/ 0 w 4607511"/>
              <a:gd name="connsiteY14" fmla="*/ 3053919 h 3053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07511" h="3053919" fill="norm" stroke="1" extrusionOk="0">
                <a:moveTo>
                  <a:pt x="4607511" y="0"/>
                </a:moveTo>
                <a:cubicBezTo>
                  <a:pt x="4526872" y="2959"/>
                  <a:pt x="4446233" y="5919"/>
                  <a:pt x="4332303" y="35511"/>
                </a:cubicBezTo>
                <a:cubicBezTo>
                  <a:pt x="4218373" y="65103"/>
                  <a:pt x="4058575" y="112451"/>
                  <a:pt x="3923930" y="177554"/>
                </a:cubicBezTo>
                <a:cubicBezTo>
                  <a:pt x="3789285" y="242657"/>
                  <a:pt x="3638365" y="346229"/>
                  <a:pt x="3524435" y="426128"/>
                </a:cubicBezTo>
                <a:cubicBezTo>
                  <a:pt x="3410505" y="506027"/>
                  <a:pt x="3240349" y="656948"/>
                  <a:pt x="3240349" y="656948"/>
                </a:cubicBezTo>
                <a:cubicBezTo>
                  <a:pt x="3132337" y="744245"/>
                  <a:pt x="2979938" y="853736"/>
                  <a:pt x="2876365" y="949911"/>
                </a:cubicBezTo>
                <a:cubicBezTo>
                  <a:pt x="2772792" y="1046086"/>
                  <a:pt x="2697331" y="1151138"/>
                  <a:pt x="2618912" y="1233996"/>
                </a:cubicBezTo>
                <a:cubicBezTo>
                  <a:pt x="2540493" y="1316854"/>
                  <a:pt x="2470951" y="1384916"/>
                  <a:pt x="2405848" y="1447060"/>
                </a:cubicBezTo>
                <a:cubicBezTo>
                  <a:pt x="2340745" y="1509204"/>
                  <a:pt x="2306714" y="1528439"/>
                  <a:pt x="2228295" y="1606858"/>
                </a:cubicBezTo>
                <a:cubicBezTo>
                  <a:pt x="2149876" y="1685277"/>
                  <a:pt x="2075895" y="1784412"/>
                  <a:pt x="1935332" y="1917577"/>
                </a:cubicBezTo>
                <a:cubicBezTo>
                  <a:pt x="1794769" y="2050742"/>
                  <a:pt x="1547673" y="2272684"/>
                  <a:pt x="1384916" y="2405849"/>
                </a:cubicBezTo>
                <a:cubicBezTo>
                  <a:pt x="1222159" y="2539014"/>
                  <a:pt x="1084555" y="2636668"/>
                  <a:pt x="958788" y="2716567"/>
                </a:cubicBezTo>
                <a:cubicBezTo>
                  <a:pt x="833021" y="2796466"/>
                  <a:pt x="742764" y="2836416"/>
                  <a:pt x="630314" y="2885243"/>
                </a:cubicBezTo>
                <a:cubicBezTo>
                  <a:pt x="517864" y="2934070"/>
                  <a:pt x="389137" y="2981417"/>
                  <a:pt x="284085" y="3009530"/>
                </a:cubicBezTo>
                <a:cubicBezTo>
                  <a:pt x="179033" y="3037643"/>
                  <a:pt x="89516" y="3045781"/>
                  <a:pt x="0" y="305391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2084459903" name="Group 34"/>
          <p:cNvGrpSpPr/>
          <p:nvPr/>
        </p:nvGrpSpPr>
        <p:grpSpPr bwMode="auto">
          <a:xfrm>
            <a:off x="3003208" y="1484784"/>
            <a:ext cx="4922817" cy="5112568"/>
            <a:chOff x="3003208" y="1484784"/>
            <a:chExt cx="4922817" cy="5112568"/>
          </a:xfrm>
        </p:grpSpPr>
        <p:grpSp>
          <p:nvGrpSpPr>
            <p:cNvPr id="46" name="Group 45"/>
            <p:cNvGrpSpPr/>
            <p:nvPr/>
          </p:nvGrpSpPr>
          <p:grpSpPr bwMode="auto">
            <a:xfrm>
              <a:off x="3003208" y="1484784"/>
              <a:ext cx="4922817" cy="5112568"/>
              <a:chOff x="3003208" y="1484784"/>
              <a:chExt cx="4922817" cy="5112568"/>
            </a:xfrm>
          </p:grpSpPr>
          <p:sp>
            <p:nvSpPr>
              <p:cNvPr id="42" name="TextBox 41"/>
              <p:cNvSpPr txBox="1"/>
              <p:nvPr/>
            </p:nvSpPr>
            <p:spPr bwMode="auto">
              <a:xfrm>
                <a:off x="4448980" y="1484784"/>
                <a:ext cx="344656" cy="6152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>
                          <m:jc m:val="centerGroup"/>
                        </m:oMathParaPr>
                        <m:oMath>
                          <m:f>
                            <m:fPr>
                              <m:ctrlPr>
                                <a:rPr lang="en-GB" sz="2000" b="1" i="1">
                                  <a:solidFill>
                                    <a:schemeClr val="accent2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sz="2000" b="1" i="1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𝝅</m:t>
                              </m:r>
                            </m:num>
                            <m:den>
                              <m:r>
                                <m:rPr/>
                                <a:rPr lang="en-GB" sz="2000" b="1" i="1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</m:oMath>
                      </m:oMathPara>
                    </a14:m>
                  </mc:Choice>
                  <mc:Fallback/>
                </mc:AlternateContent>
                <a:endParaRPr lang="en-GB" sz="2000" b="1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 bwMode="auto">
              <a:xfrm>
                <a:off x="4211960" y="5977502"/>
                <a:ext cx="558344" cy="619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>
                          <m:jc m:val="centerGroup"/>
                        </m:oMathParaPr>
                        <m:oMath>
                          <m:r>
                            <m:rPr/>
                            <a:rPr lang="en-GB" sz="2000" b="1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2000" b="1" i="1">
                                  <a:solidFill>
                                    <a:schemeClr val="accent2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sz="2000" b="1" i="1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𝝅</m:t>
                              </m:r>
                            </m:num>
                            <m:den>
                              <m:r>
                                <m:rPr/>
                                <a:rPr lang="en-GB" sz="2000" b="1" i="1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den>
                          </m:f>
                        </m:oMath>
                      </m:oMathPara>
                    </a14:m>
                  </mc:Choice>
                  <mc:Fallback/>
                </mc:AlternateContent>
                <a:endParaRPr lang="en-GB" sz="2000" b="1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4" name="TextBox 43"/>
              <p:cNvSpPr txBox="1"/>
              <p:nvPr/>
            </p:nvSpPr>
            <p:spPr bwMode="auto">
              <a:xfrm>
                <a:off x="3003208" y="4049748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>
                          <m:jc m:val="centerGroup"/>
                        </m:oMathParaPr>
                        <m:oMath>
                          <m:r>
                            <m:rPr/>
                            <a:rPr lang="en-GB" sz="2000" b="1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m:rPr/>
                            <a:rPr lang="en-GB" sz="2000" b="1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𝟏</m:t>
                          </m:r>
                        </m:oMath>
                      </m:oMathPara>
                    </a14:m>
                  </mc:Choice>
                  <mc:Fallback/>
                </mc:AlternateContent>
                <a:endParaRPr lang="en-GB" sz="2000" b="1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5" name="TextBox 44"/>
              <p:cNvSpPr txBox="1"/>
              <p:nvPr/>
            </p:nvSpPr>
            <p:spPr bwMode="auto">
              <a:xfrm>
                <a:off x="6156176" y="4079353"/>
                <a:ext cx="3446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>
                          <m:jc m:val="centerGroup"/>
                        </m:oMathParaPr>
                        <m:oMath>
                          <m:r>
                            <m:rPr/>
                            <a:rPr lang="en-GB" sz="2000" b="1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𝟏</m:t>
                          </m:r>
                        </m:oMath>
                      </m:oMathPara>
                    </a14:m>
                  </mc:Choice>
                  <mc:Fallback/>
                </mc:AlternateContent>
                <a:endParaRPr lang="en-GB" sz="2000" b="1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" name="TextBox 46"/>
              <p:cNvSpPr txBox="1"/>
              <p:nvPr/>
            </p:nvSpPr>
            <p:spPr bwMode="auto">
              <a:xfrm>
                <a:off x="6142894" y="1517938"/>
                <a:ext cx="178313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>
                          <m:jc m:val="centerGroup"/>
                        </m:oMathParaPr>
                        <m:oMath>
                          <m:r>
                            <m:rPr/>
                            <a:rPr lang="en-GB" sz="1600" b="1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𝒚</m:t>
                          </m:r>
                          <m:r>
                            <m:rPr/>
                            <a:rPr lang="en-GB" sz="1600" b="1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m:rPr/>
                            <a:rPr lang="en-GB" sz="1600" b="1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𝒂𝒓𝒄𝒔𝒊𝒏</m:t>
                          </m:r>
                          <m:r>
                            <m:rPr/>
                            <a:rPr lang="en-GB" sz="1600" b="1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m:rPr/>
                            <a:rPr lang="en-GB" sz="1600" b="1" i="1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</mc:Choice>
                  <mc:Fallback/>
                </mc:AlternateContent>
                <a:endParaRPr lang="en-GB" sz="1600" b="1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32" name="Freeform: Shape 31"/>
            <p:cNvSpPr/>
            <p:nvPr/>
          </p:nvSpPr>
          <p:spPr bwMode="auto">
            <a:xfrm>
              <a:off x="3228776" y="1614984"/>
              <a:ext cx="3045041" cy="4793941"/>
            </a:xfrm>
            <a:custGeom>
              <a:avLst/>
              <a:gdLst>
                <a:gd name="connsiteX0" fmla="*/ 0 w 3045041"/>
                <a:gd name="connsiteY0" fmla="*/ 4793941 h 4793941"/>
                <a:gd name="connsiteX1" fmla="*/ 53266 w 3045041"/>
                <a:gd name="connsiteY1" fmla="*/ 4341180 h 4793941"/>
                <a:gd name="connsiteX2" fmla="*/ 310719 w 3045041"/>
                <a:gd name="connsiteY2" fmla="*/ 3790765 h 4793941"/>
                <a:gd name="connsiteX3" fmla="*/ 630315 w 3045041"/>
                <a:gd name="connsiteY3" fmla="*/ 3355759 h 4793941"/>
                <a:gd name="connsiteX4" fmla="*/ 994299 w 3045041"/>
                <a:gd name="connsiteY4" fmla="*/ 2947386 h 4793941"/>
                <a:gd name="connsiteX5" fmla="*/ 1491449 w 3045041"/>
                <a:gd name="connsiteY5" fmla="*/ 2414726 h 4793941"/>
                <a:gd name="connsiteX6" fmla="*/ 2006354 w 3045041"/>
                <a:gd name="connsiteY6" fmla="*/ 1926454 h 4793941"/>
                <a:gd name="connsiteX7" fmla="*/ 2334828 w 3045041"/>
                <a:gd name="connsiteY7" fmla="*/ 1535836 h 4793941"/>
                <a:gd name="connsiteX8" fmla="*/ 2716567 w 3045041"/>
                <a:gd name="connsiteY8" fmla="*/ 1038687 h 4793941"/>
                <a:gd name="connsiteX9" fmla="*/ 2965142 w 3045041"/>
                <a:gd name="connsiteY9" fmla="*/ 559293 h 4793941"/>
                <a:gd name="connsiteX10" fmla="*/ 3045041 w 3045041"/>
                <a:gd name="connsiteY10" fmla="*/ 0 h 479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45041" h="4793941" fill="norm" stroke="1" extrusionOk="0">
                  <a:moveTo>
                    <a:pt x="0" y="4793941"/>
                  </a:moveTo>
                  <a:cubicBezTo>
                    <a:pt x="739" y="4651158"/>
                    <a:pt x="1479" y="4508376"/>
                    <a:pt x="53266" y="4341180"/>
                  </a:cubicBezTo>
                  <a:cubicBezTo>
                    <a:pt x="105053" y="4173984"/>
                    <a:pt x="214544" y="3955002"/>
                    <a:pt x="310719" y="3790765"/>
                  </a:cubicBezTo>
                  <a:cubicBezTo>
                    <a:pt x="406894" y="3626528"/>
                    <a:pt x="516385" y="3496322"/>
                    <a:pt x="630315" y="3355759"/>
                  </a:cubicBezTo>
                  <a:cubicBezTo>
                    <a:pt x="744245" y="3215196"/>
                    <a:pt x="850777" y="3104225"/>
                    <a:pt x="994299" y="2947386"/>
                  </a:cubicBezTo>
                  <a:cubicBezTo>
                    <a:pt x="1137821" y="2790547"/>
                    <a:pt x="1322773" y="2584881"/>
                    <a:pt x="1491449" y="2414726"/>
                  </a:cubicBezTo>
                  <a:cubicBezTo>
                    <a:pt x="1660125" y="2244571"/>
                    <a:pt x="1865791" y="2072936"/>
                    <a:pt x="2006354" y="1926454"/>
                  </a:cubicBezTo>
                  <a:cubicBezTo>
                    <a:pt x="2146917" y="1779972"/>
                    <a:pt x="2216459" y="1683797"/>
                    <a:pt x="2334828" y="1535836"/>
                  </a:cubicBezTo>
                  <a:cubicBezTo>
                    <a:pt x="2453197" y="1387875"/>
                    <a:pt x="2611515" y="1201444"/>
                    <a:pt x="2716567" y="1038687"/>
                  </a:cubicBezTo>
                  <a:cubicBezTo>
                    <a:pt x="2821619" y="875930"/>
                    <a:pt x="2910396" y="732407"/>
                    <a:pt x="2965142" y="559293"/>
                  </a:cubicBezTo>
                  <a:cubicBezTo>
                    <a:pt x="3019888" y="386178"/>
                    <a:pt x="3032464" y="193089"/>
                    <a:pt x="3045041" y="0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GB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38146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38146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1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45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84459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8146121"/>
                  </p:tgtEl>
                </p:cond>
              </p:nextCondLst>
            </p:seq>
          </p:childTnLst>
        </p:cTn>
      </p:par>
    </p:tnLst>
    <p:bldLst>
      <p:bldP spid="6381461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3383190" name="Group 1"/>
          <p:cNvGrpSpPr/>
          <p:nvPr/>
        </p:nvGrpSpPr>
        <p:grpSpPr bwMode="auto"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/>
                <a:t>Inverse Trig Functions</a:t>
              </a:r>
              <a:endParaRPr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732772560" name="TextBox 4"/>
          <p:cNvSpPr txBox="1"/>
          <p:nvPr/>
        </p:nvSpPr>
        <p:spPr bwMode="auto">
          <a:xfrm>
            <a:off x="611560" y="1052736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800" b="0" i="1">
                          <a:latin typeface="Cambria Math"/>
                        </a:rPr>
                        <m:t>𝑦</m:t>
                      </m:r>
                      <m:r>
                        <m:rPr/>
                        <a:rPr lang="en-GB" sz="2800" b="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28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b="0" i="0">
                              <a:latin typeface="Cambria Math"/>
                            </a:rPr>
                            <m:t>arccos</m:t>
                          </m:r>
                        </m:fName>
                        <m:e>
                          <m:r>
                            <m:rPr/>
                            <a:rPr lang="en-GB" sz="2800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 sz="2800"/>
          </a:p>
        </p:txBody>
      </p:sp>
      <p:sp>
        <p:nvSpPr>
          <p:cNvPr id="1748770486" name="TextBox 5"/>
          <p:cNvSpPr txBox="1"/>
          <p:nvPr/>
        </p:nvSpPr>
        <p:spPr bwMode="auto">
          <a:xfrm>
            <a:off x="5580112" y="1052736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sz="2800" b="0" i="1">
                          <a:latin typeface="Cambria Math"/>
                        </a:rPr>
                        <m:t>𝑦</m:t>
                      </m:r>
                      <m:r>
                        <m:rPr/>
                        <a:rPr lang="en-GB" sz="2800" b="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28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b="0" i="0">
                              <a:latin typeface="Cambria Math"/>
                            </a:rPr>
                            <m:t>arc</m:t>
                          </m:r>
                          <m:r>
                            <m:rPr>
                              <m:sty m:val="p"/>
                            </m:rPr>
                            <a:rPr lang="en-GB" sz="2800" b="0" i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m:rPr/>
                            <a:rPr lang="en-GB" sz="2800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 sz="2800"/>
          </a:p>
        </p:txBody>
      </p:sp>
      <p:pic>
        <p:nvPicPr>
          <p:cNvPr id="1095595968" name="Picture 4" descr="http://pascal.net.ru/ArcCos/ArcCos.png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899592" y="1844824"/>
            <a:ext cx="2808312" cy="4135879"/>
          </a:xfrm>
          <a:prstGeom prst="rect">
            <a:avLst/>
          </a:prstGeom>
          <a:noFill/>
        </p:spPr>
      </p:pic>
      <p:pic>
        <p:nvPicPr>
          <p:cNvPr id="738550827" name="Picture 6" descr="http://www.math24.net/images/graph-of-inverse-tangent-function.jpg"/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>
            <a:off x="4716016" y="1844824"/>
            <a:ext cx="4102596" cy="3378608"/>
          </a:xfrm>
          <a:prstGeom prst="rect">
            <a:avLst/>
          </a:prstGeom>
          <a:noFill/>
        </p:spPr>
      </p:pic>
      <p:sp>
        <p:nvSpPr>
          <p:cNvPr id="570756223" name="TextBox 7"/>
          <p:cNvSpPr txBox="1"/>
          <p:nvPr/>
        </p:nvSpPr>
        <p:spPr bwMode="auto">
          <a:xfrm>
            <a:off x="4859101" y="5307634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Note that this graph has asymptotes.</a:t>
            </a:r>
            <a:endParaRPr/>
          </a:p>
        </p:txBody>
      </p:sp>
      <p:sp>
        <p:nvSpPr>
          <p:cNvPr id="487805335" name="Rectangle 10"/>
          <p:cNvSpPr/>
          <p:nvPr/>
        </p:nvSpPr>
        <p:spPr bwMode="auto">
          <a:xfrm>
            <a:off x="395536" y="1757176"/>
            <a:ext cx="3456384" cy="422352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232892460" name="Rectangle 11"/>
          <p:cNvSpPr/>
          <p:nvPr/>
        </p:nvSpPr>
        <p:spPr bwMode="auto">
          <a:xfrm>
            <a:off x="4571890" y="1757174"/>
            <a:ext cx="4320589" cy="422352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878053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878053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780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780533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2892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289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89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892460"/>
                  </p:tgtEl>
                </p:cond>
              </p:nextCondLst>
            </p:seq>
          </p:childTnLst>
        </p:cTn>
      </p:par>
    </p:tnLst>
    <p:bldLst>
      <p:bldP spid="487805335" grpId="0" animBg="1"/>
      <p:bldP spid="23289246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45657959" name="Group 1"/>
          <p:cNvGrpSpPr/>
          <p:nvPr/>
        </p:nvGrpSpPr>
        <p:grpSpPr bwMode="auto"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/>
                <a:t>Evaluating inverse trig functions</a:t>
              </a:r>
              <a:endParaRPr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347588238" name="TextBox 4"/>
          <p:cNvSpPr txBox="1"/>
          <p:nvPr/>
        </p:nvSpPr>
        <p:spPr bwMode="auto">
          <a:xfrm>
            <a:off x="337479" y="846091"/>
            <a:ext cx="4969116" cy="1421287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[Textbook] Work out, in radians, the values of:</a:t>
            </a:r>
            <a:endParaRPr/>
          </a:p>
          <a:p>
            <a:pPr marL="342900" indent="-342900">
              <a:buAutoNum type="alphaLcParenR"/>
              <a:defRPr/>
            </a:pPr>
            <a:r>
              <a:rPr lang="en-GB" b="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arcsin</m:t>
                          </m:r>
                        </m:fName>
                        <m:e>
                          <m:d>
                            <m:d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GB" b="0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radPr>
                                    <m:deg>
                                      <m:r>
                                        <m:rPr/>
                                        <a:rPr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/>
                                      </m:r>
                                    </m:deg>
                                    <m:e>
                                      <m:r>
                                        <m:rPr/>
                                        <a:rPr lang="en-GB" b="0" i="1">
                                          <a:latin typeface="Cambria Math"/>
                                        </a:rPr>
                                        <m:t>2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m:rPr/>
                                    <a:rPr lang="en-GB" b="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 b="0"/>
          </a:p>
          <a:p>
            <a:pPr marL="342900" indent="-342900">
              <a:buAutoNum type="alphaLcParenR"/>
              <a:defRPr/>
            </a:pPr>
            <a:r>
              <a:rPr lang="en-GB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arccos</m:t>
                          </m:r>
                        </m:fName>
                        <m:e>
                          <m:d>
                            <m:d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/>
          </a:p>
          <a:p>
            <a:pPr marL="342900" indent="-342900">
              <a:buAutoNum type="alphaLcParenR"/>
              <a:defRPr/>
            </a:pPr>
            <a:r>
              <a:rPr lang="en-GB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arctan</m:t>
                          </m:r>
                        </m:fName>
                        <m:e>
                          <m:d>
                            <m:d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GB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>
                                  <m:r>
                                    <m:rPr/>
                                    <a:rPr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/>
                                  </m:r>
                                </m:deg>
                                <m:e>
                                  <m:r>
                                    <m:rPr/>
                                    <a:rPr lang="en-GB" b="0" i="1">
                                      <a:latin typeface="Cambria Math"/>
                                    </a:rPr>
                                    <m:t>3</m:t>
                                  </m:r>
                                </m:e>
                              </m:rad>
                            </m:e>
                          </m:d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sp>
        <p:nvSpPr>
          <p:cNvPr id="3717853" name="TextBox 5"/>
          <p:cNvSpPr txBox="1"/>
          <p:nvPr/>
        </p:nvSpPr>
        <p:spPr bwMode="auto">
          <a:xfrm>
            <a:off x="5695099" y="936622"/>
            <a:ext cx="2952328" cy="11695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/>
              <a:t>You can simply use the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>
                                  <a:latin typeface="Cambria Math"/>
                                </a:rPr>
                                <m:t>sin</m:t>
                              </m:r>
                            </m:e>
                            <m:sup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 sz="1400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>
                                  <a:latin typeface="Cambria Math"/>
                                </a:rPr>
                                <m:t>cos</m:t>
                              </m:r>
                            </m:e>
                            <m:sup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 sz="1400"/>
              <a:t> and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sz="1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>
                                  <a:latin typeface="Cambria Math"/>
                                </a:rPr>
                                <m:t>tan</m:t>
                              </m:r>
                            </m:e>
                            <m:sup>
                              <m:r>
                                <m:rPr/>
                                <a:rPr lang="en-GB" sz="1400" b="0" i="1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m:rPr/>
                            <a:rPr lang="en-GB" sz="1400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-GB" sz="1400"/>
              <a:t> buttons on your calculator.</a:t>
            </a:r>
            <a:endParaRPr/>
          </a:p>
          <a:p>
            <a:pPr>
              <a:defRPr/>
            </a:pPr>
            <a:r>
              <a:rPr lang="en-GB" sz="1400"/>
              <a:t>If you don’t have a calculator, just use the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sz="1400" b="0" i="1">
                          <a:latin typeface="Cambria Math"/>
                        </a:rPr>
                        <m:t>𝑠𝑖𝑛</m:t>
                      </m:r>
                      <m:r>
                        <m:rPr/>
                        <a:rPr lang="en-GB" sz="1400" b="0" i="1">
                          <a:latin typeface="Cambria Math"/>
                        </a:rPr>
                        <m:t>,</m:t>
                      </m:r>
                      <m:r>
                        <m:rPr/>
                        <a:rPr lang="en-GB" sz="1400" b="0" i="1">
                          <a:latin typeface="Cambria Math"/>
                        </a:rPr>
                        <m:t>𝑐𝑜𝑠</m:t>
                      </m:r>
                      <m:r>
                        <m:rPr/>
                        <a:rPr lang="en-GB" sz="1400" b="0" i="1">
                          <a:latin typeface="Cambria Math"/>
                        </a:rPr>
                        <m:t>,</m:t>
                      </m:r>
                      <m:r>
                        <m:rPr/>
                        <a:rPr lang="en-GB" sz="1400" b="0" i="1">
                          <a:latin typeface="Cambria Math"/>
                        </a:rPr>
                        <m:t>𝑡𝑎𝑛</m:t>
                      </m:r>
                    </m:oMath>
                  </m:oMathPara>
                </a14:m>
              </mc:Choice>
              <mc:Fallback/>
            </mc:AlternateContent>
            <a:r>
              <a:rPr lang="en-GB" sz="1400"/>
              <a:t> graphs backwards.</a:t>
            </a:r>
            <a:endParaRPr/>
          </a:p>
        </p:txBody>
      </p:sp>
      <p:sp>
        <p:nvSpPr>
          <p:cNvPr id="516080114" name="TextBox 6"/>
          <p:cNvSpPr txBox="1"/>
          <p:nvPr/>
        </p:nvSpPr>
        <p:spPr bwMode="auto">
          <a:xfrm>
            <a:off x="1187624" y="2708920"/>
            <a:ext cx="3600400" cy="1497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unc>
                        <m:funcPr>
                          <m:ctrlPr>
                            <a:rPr lang="en-GB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/>
                            </a:rPr>
                            <m:t>arcsin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i="1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GB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radPr>
                                    <m:deg>
                                      <m:r>
                                        <m:rPr/>
                                        <a:rPr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/>
                                      </m:r>
                                    </m:deg>
                                    <m:e>
                                      <m:r>
                                        <m:rPr/>
                                        <a:rPr lang="en-GB" i="1">
                                          <a:latin typeface="Cambria Math"/>
                                        </a:rPr>
                                        <m:t>2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m:rPr/>
                                    <a:rPr lang="en-GB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0" i="1">
                              <a:latin typeface="Cambria Math"/>
                            </a:rPr>
                            <m:t>𝜋</m:t>
                          </m:r>
                        </m:num>
                        <m:den>
                          <m:r>
                            <m:rPr/>
                            <a:rPr lang="en-GB" b="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unc>
                        <m:funcPr>
                          <m:ctrlPr>
                            <a:rPr lang="en-GB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/>
                            </a:rPr>
                            <m:t>arccos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GB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r>
                        <m:rPr/>
                        <a:rPr lang="en-GB" b="0" i="1">
                          <a:latin typeface="Cambria Math"/>
                        </a:rPr>
                        <m:t>𝜋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unc>
                        <m:funcPr>
                          <m:ctrlPr>
                            <a:rPr lang="en-GB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/>
                            </a:rPr>
                            <m:t>arctan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GB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>
                                  <m:r>
                                    <m:rPr/>
                                    <a:rPr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/>
                                  </m:r>
                                </m:deg>
                                <m:e>
                                  <m:r>
                                    <m:rPr/>
                                    <a:rPr lang="en-GB" i="1">
                                      <a:latin typeface="Cambria Math"/>
                                    </a:rPr>
                                    <m:t>3</m:t>
                                  </m:r>
                                </m:e>
                              </m:rad>
                            </m:e>
                          </m:d>
                        </m:e>
                      </m:func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0" i="1">
                              <a:latin typeface="Cambria Math"/>
                            </a:rPr>
                            <m:t>𝜋</m:t>
                          </m:r>
                        </m:num>
                        <m:den>
                          <m:r>
                            <m:rPr/>
                            <a:rPr lang="en-GB" b="0" i="1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sp>
        <p:nvSpPr>
          <p:cNvPr id="596631170" name="Rectangle 7"/>
          <p:cNvSpPr/>
          <p:nvPr/>
        </p:nvSpPr>
        <p:spPr bwMode="auto">
          <a:xfrm>
            <a:off x="1798149" y="2616200"/>
            <a:ext cx="3896950" cy="74079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1838623200" name="Rectangle 8"/>
          <p:cNvSpPr/>
          <p:nvPr/>
        </p:nvSpPr>
        <p:spPr bwMode="auto">
          <a:xfrm>
            <a:off x="1798149" y="3335418"/>
            <a:ext cx="3896950" cy="3657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748935570" name="Rectangle 9"/>
          <p:cNvSpPr/>
          <p:nvPr/>
        </p:nvSpPr>
        <p:spPr bwMode="auto">
          <a:xfrm>
            <a:off x="1798149" y="3684156"/>
            <a:ext cx="3896950" cy="7362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966311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96631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663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663117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386232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38623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862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3862320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7489355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7489355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893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8935570"/>
                  </p:tgtEl>
                </p:cond>
              </p:nextCondLst>
            </p:seq>
          </p:childTnLst>
        </p:cTn>
      </p:par>
    </p:tnLst>
    <p:bldLst>
      <p:bldP spid="596631170" grpId="0" animBg="1"/>
      <p:bldP spid="1838623200" grpId="0" animBg="1"/>
      <p:bldP spid="74893557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5930175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3528" y="1207497"/>
            <a:ext cx="6953250" cy="2009775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291013745" name="TextBox 2"/>
          <p:cNvSpPr txBox="1"/>
          <p:nvPr/>
        </p:nvSpPr>
        <p:spPr bwMode="auto">
          <a:xfrm>
            <a:off x="323528" y="833488"/>
            <a:ext cx="2664295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Edexcel C3 Jan 2007</a:t>
            </a:r>
            <a:endParaRPr/>
          </a:p>
        </p:txBody>
      </p:sp>
      <p:grpSp>
        <p:nvGrpSpPr>
          <p:cNvPr id="440672440" name="Group 3"/>
          <p:cNvGrpSpPr/>
          <p:nvPr/>
        </p:nvGrpSpPr>
        <p:grpSpPr bwMode="auto"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5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/>
                <a:t>One Final Problem…</a:t>
              </a:r>
              <a:endParaRPr/>
            </a:p>
          </p:txBody>
        </p:sp>
        <p:cxnSp>
          <p:nvCxnSpPr>
            <p:cNvPr id="6" name="Straight Connector 5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0997924" name="TextBox 6"/>
          <p:cNvSpPr txBox="1"/>
          <p:nvPr/>
        </p:nvSpPr>
        <p:spPr bwMode="auto">
          <a:xfrm>
            <a:off x="1331640" y="3501007"/>
            <a:ext cx="5623463" cy="2084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r>
                        <m:rPr/>
                        <a:rPr lang="en-GB" b="0" i="1">
                          <a:latin typeface="Cambria Math"/>
                        </a:rPr>
                        <m:t>𝑦</m:t>
                      </m:r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arccos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r>
              <a:rPr lang="en"/>
              <a:t> </a:t>
            </a:r>
            <a:endParaRPr lang="en"/>
          </a:p>
          <a:p>
            <a:pPr algn="l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GB" b="0" i="1">
                          <a:latin typeface="Cambria Math"/>
                        </a:rPr>
                        <m:t>𝑥</m:t>
                      </m:r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𝑦</m:t>
                          </m:r>
                        </m:e>
                      </m:func>
                      <m:r>
                        <m:rPr/>
                        <a:rPr lang="en-GB" b="0" i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b="0" i="0">
                          <a:latin typeface="Cambria Math"/>
                        </a:rPr>
                        <m:t>sin</m:t>
                      </m:r>
                      <m:d>
                        <m:d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𝜋</m:t>
                              </m:r>
                            </m:num>
                            <m:den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m:rPr/>
                            <a:rPr lang="en-GB" b="0" i="1">
                              <a:latin typeface="Cambria Math"/>
                            </a:rPr>
                            <m:t>−</m:t>
                          </m:r>
                          <m:r>
                            <m:rPr/>
                            <a:rPr lang="en-GB" b="0" i="1">
                              <a:latin typeface="Cambria Math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"/>
              <a:t>   </a:t>
            </a:r>
            <a:endParaRPr lang="en"/>
          </a:p>
          <a:p>
            <a:pPr algn="l">
              <a:defRPr/>
            </a:pPr>
            <a:r>
              <a:rPr lang="en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arcsin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  <m:r>
                            <m:rPr/>
                            <a:rPr lang="en-GB" b="0" i="1">
                              <a:latin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𝜋</m:t>
                              </m:r>
                            </m:num>
                            <m:den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m:rPr/>
                            <a:rPr lang="en-GB" b="0" i="1">
                              <a:latin typeface="Cambria Math"/>
                            </a:rPr>
                            <m:t>−</m:t>
                          </m:r>
                          <m:r>
                            <m:rPr/>
                            <a:rPr lang="en-GB" b="0" i="1">
                              <a:latin typeface="Cambria Math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</mc:Choice>
              <mc:Fallback/>
            </mc:AlternateContent>
            <a:endParaRPr lang="en-GB" b="0"/>
          </a:p>
          <a:p>
            <a:pPr algn="l">
              <a:defRPr/>
            </a:pPr>
            <a:endParaRPr/>
          </a:p>
          <a:p>
            <a:pPr algn="l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>
                              <a:latin typeface="Cambria Math"/>
                            </a:rPr>
                            <m:t>arccos</m:t>
                          </m:r>
                        </m:fName>
                        <m:e>
                          <m:r>
                            <m:rPr/>
                            <a:rPr lang="en-GB" b="0" i="1">
                              <a:latin typeface="Cambria Math"/>
                            </a:rPr>
                            <m:t>𝑥</m:t>
                          </m:r>
                          <m:r>
                            <m:rPr/>
                            <a:rPr lang="en-GB" b="0" i="1">
                              <a:latin typeface="Cambria Math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/>
                                </a:rPr>
                                <m:t>arcsin</m:t>
                              </m:r>
                            </m:fName>
                            <m:e>
                              <m:r>
                                <m:rPr/>
                                <a:rPr lang="en-GB" b="0" i="1"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</mc:Choice>
              <mc:Fallback/>
            </mc:AlternateContent>
            <a:endParaRPr/>
          </a:p>
          <a:p>
            <a:pPr algn="l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𝑦</m:t>
                      </m:r>
                      <m:r>
                        <m:rPr/>
                        <a:rPr lang="en-GB" b="0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0" i="1">
                              <a:latin typeface="Cambria Math"/>
                            </a:rPr>
                            <m:t>𝜋</m:t>
                          </m:r>
                        </m:num>
                        <m:den>
                          <m:r>
                            <m:rPr/>
                            <a:rPr lang="en-GB" b="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m:rPr/>
                        <a:rPr lang="en-GB" b="0" i="1">
                          <a:latin typeface="Cambria Math"/>
                        </a:rPr>
                        <m:t>−</m:t>
                      </m:r>
                      <m:r>
                        <m:rPr/>
                        <a:rPr lang="en-GB" b="0" i="1">
                          <a:latin typeface="Cambria Math"/>
                        </a:rPr>
                        <m:t>𝑦</m:t>
                      </m:r>
                      <m:r>
                        <m:rPr/>
                        <a:rPr lang="en-GB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GB" b="0" i="1">
                              <a:latin typeface="Cambria Math"/>
                            </a:rPr>
                            <m:t>𝜋</m:t>
                          </m:r>
                        </m:num>
                        <m:den>
                          <m:r>
                            <m:rPr/>
                            <a:rPr lang="en-GB" b="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lang="en-GB"/>
          </a:p>
        </p:txBody>
      </p:sp>
      <p:sp>
        <p:nvSpPr>
          <p:cNvPr id="1607147232" name="TextBox 9"/>
          <p:cNvSpPr txBox="1"/>
          <p:nvPr/>
        </p:nvSpPr>
        <p:spPr bwMode="auto">
          <a:xfrm>
            <a:off x="7544528" y="3424546"/>
            <a:ext cx="1512168" cy="7386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GB" sz="1400"/>
              <a:t>Fewer than 10% of candidates got this part right.</a:t>
            </a:r>
            <a:endParaRPr/>
          </a:p>
        </p:txBody>
      </p:sp>
      <p:cxnSp>
        <p:nvCxnSpPr>
          <p:cNvPr id="250666054" name="Straight Arrow Connector 11"/>
          <p:cNvCxnSpPr>
            <a:stCxn id="1607147232" idx="1"/>
          </p:cNvCxnSpPr>
          <p:nvPr/>
        </p:nvCxnSpPr>
        <p:spPr bwMode="auto">
          <a:xfrm flipH="1" flipV="1">
            <a:off x="7189692" y="3246300"/>
            <a:ext cx="354836" cy="54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4185595" name="Group 1"/>
          <p:cNvGrpSpPr/>
          <p:nvPr/>
        </p:nvGrpSpPr>
        <p:grpSpPr bwMode="auto"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 bwMode="auto"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GB" sz="3200">
                  <a:latin typeface="+mj-lt"/>
                </a:rPr>
                <a:t>Exercises 6E</a:t>
              </a:r>
              <a:endParaRPr lang="en-GB" sz="3200"/>
            </a:p>
          </p:txBody>
        </p:sp>
        <p:cxnSp>
          <p:nvCxnSpPr>
            <p:cNvPr id="4" name="Straight Connector 3"/>
            <p:cNvCxnSpPr/>
            <p:nvPr/>
          </p:nvCxnSpPr>
          <p:spPr bwMode="auto"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864180840" name="TextBox 4"/>
          <p:cNvSpPr txBox="1"/>
          <p:nvPr/>
        </p:nvSpPr>
        <p:spPr bwMode="auto">
          <a:xfrm>
            <a:off x="236048" y="662045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400"/>
              <a:t>Pearson Pure Mathematics Year 2/AS</a:t>
            </a:r>
            <a:endParaRPr/>
          </a:p>
          <a:p>
            <a:pPr>
              <a:defRPr/>
            </a:pPr>
            <a:r>
              <a:rPr lang="en-GB" sz="2400"/>
              <a:t>Pages 160-161</a:t>
            </a:r>
            <a:endParaRPr/>
          </a:p>
        </p:txBody>
      </p:sp>
      <p:cxnSp>
        <p:nvCxnSpPr>
          <p:cNvPr id="1987504815" name="Straight Connector 5"/>
          <p:cNvCxnSpPr/>
          <p:nvPr/>
        </p:nvCxnSpPr>
        <p:spPr bwMode="auto">
          <a:xfrm>
            <a:off x="0" y="1594754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29</Slides>
  <Notes>29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RM plc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/>
  <cp:revision>999</cp:revision>
  <dcterms:created xsi:type="dcterms:W3CDTF">2013-02-28T07:36:55Z</dcterms:created>
  <dcterms:modified xsi:type="dcterms:W3CDTF">2026-10-10T23:28:28Z</dcterms:modified>
</cp:coreProperties>
</file>